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 Let this breathe. Don't rush to advance.
Opening: "Before I show you the demo, I want to ask you one question."
Pause. Make eye contact.
"How many parcels does your team evaluate in a typical month before committing to one deal? And what does that process actually look like day-to-day?"
Let them answer. They'll describe the friction — county GIS portal in one tab, tax assessor in another, SOS lookup for the LLC, maybe a call to the utility. A half-day per parcel that doesn't make the cut.
Then: "Everything you just described — we've built it as a single interface. Let me show you."
Advance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SLIDE — Let them feel this before you reveal the solution.
Key talking point: "This isn't a problem unique to DeThomas — every CRE developer working this way is losing 20-30% of their evaluation capacity to friction that doesn't actually require human judgment. You're doing data retrieval, not analysis."
If they push back that it "doesn't take that long": "How many sites did you evaluate last year that didn't make the cut? Even at 2 hours each, that's where the time goes. And the cost isn't just time — it's the sites you didn't get to because the team was buried in lookups."
The LLC Opacity point usually lands hardest with developers who've been burned by competitive situations where they couldn't figure out who actually owned a parcel.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SLIDE — Keep energy high. This is the pivot from problem to demo.
"Everything on the right side of this slide is live in the product today. Not a roadmap — you can open a browser right now and use it."
Pause on "Under 90 seconds." The contrast with 4-8 hours is the entire commercial argument in one line.
If the audience is developers (non-technical): focus on the outcome — "You click a parcel, you know everything about it in 90 seconds."
If there's a technical stakeholder: "It's a Next.js app, Mapbox GL maps, Claude API for the AI features, live data from Gwinnett County ArcGIS and HIFLD federal datasets. No scraping, no stale data."
Transition: "Let me walk you through each layer."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BUILT SLIDE — This answers the "is this real?" question before they ask it.
Key point: All three columns have check marks. This is not vaporware. The features listed are live in the browser.
If they ask about data: "Phase 1-3 use live Gwinnett County data from their public ArcGIS services — the same data the county uses internally. Infrastructure data comes from HIFLD federal datasets. No licensed data, no subscription fees for the underlying sources."
If they ask about adding more counties: "That's literally the next deployment step. The architecture is built for it — Hall, Cherokee, Forsyth, Fulton are all on the same pattern. 4-6 weeks of work."
Don't linger — move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SLIDE — Demo cue: have the app open. Navigate to a parcel DeThomas already knows.
Demo script:
1. "This is a live Gwinnett County parcel map. All 307,000 boundaries from the county's own ArcGIS service."
2. Navigate to a known DeThomas site. "Let me pull up the parcel on Buford Highway you closed in 2022."
3. Click it — preview card appears. "That's an instant response — no API call, the data is already in the map."
4. Click View Details — panel opens. "Owner, assessed value, deed reference, legal description. Everything the county tax assessor has."
5. If owner is an LLC — click Entity Lookup. "This resolves the beneficial ownership. Watch it cross-reference Georgia SOS."
The LLC lookup is usually the moment that gets a reaction. Most developers have spent real time trying to figure out who owns an adjacent parcel. The fact that it resolves in seconds in-product is memorable.
Key stat to mention: "You're looking at 307,000 real parcels. Every boundary on this screen came from the county 10 minutes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SLIDE — This is where you separate from LandGlide and CoStar.
Demo cue for AI score: "Select a parcel. Watch the score compute on the right panel. It's scoring five dimensions in parallel — zoning fit, access, market activity, demographics, infrastructure. Each one pulls from a different data source."
Demo cue for Zoning Chat: "Now ask it a question. Type: 'Can we get a drive-through approved on this C-2 site?' — watch it answer. It's not a general answer, it's pulling from Gwinnett County's actual zoning ordinance."
This is usually the strongest demo moment for non-technical audiences. Developers are used to calling a planner and waiting. Getting an answer in 3 seconds in the field is visceral.
Investment Brief: "I'm going to click 'Generate Brief' — watch this compile in real time. This is a document you could hand to your investment committee today."
Key line: "The brief streams in real time because it's not pre-written. It's synthesizing the score, the zoning analysis, the comps, all live for this specific parcel."
AI model used: Claude claude-sonnet-4-5. Cost per brief: approximately $0.015.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 SCORING SLIDE — Set context first: "Phase 3 is a completely separate scoring layer built for data center site selection. The variables that matter — megawatts, kilovolts, fiber carriers, cooling water — have nothing to do with retail zoning analysis."
Demo: Switch the mode toggle in the TopBar to "Data Center." Select a parcel. Watch the five-dimension score load in the right panel.
Power is the most important: "Nearest substation is 2.1 miles, 230kV rated, dual-feed capable. That satisfies the minimum for a 100MW facility. If that substation was 15 miles away and 69kV, we'd flag the site immediately."
Hard disqualifiers: "FEMA Zone AE — flood zone — is an automatic disqualifier. We don't score it, we flag it. A developer building a $400M data center doesn't need a 74 score on a site that floods."
Data source credibility: "HIFLD is federal government data — the same datasets used by DHS, utilities, and state emergency planners. Not a third-party database, not scraped. It's authoritative and free."
Cost per DC score computation: approximately $0.004 in API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SCOUT SLIDE — This is the money slide for anyone evaluating data center sites.
Setup: "Everything so far assumes you know which parcel you're evaluating. Site Scout inverts that. You tell it what you need, it finds where to look."
Demo script:
1. Click "Site Scout" button at bottom of map.
2. Type: "100MW hyperscale near I-85 in Georgia, 230kV minimum"
3. Watch the status stream: "Parsing intent… reasoning about Georgia power corridors… validating with HIFLD…"
4. Sub-market rectangles appear on the map — dashed boxes over the Braselton corridor, the Gainesville area, possibly Coweta.
5. Each box has a score chip. "These aren't random suggestions. Each one was validated against real HIFLD substation data at those coordinates."
6. Click Explore on the top result. Map flies to the corridor.
7. "Now it's scoring every viable parcel in that bounding box. Top 5 get full DC analysis."
8. Numbered pins appear. "Green means 70+. Amber means marginal. Click any pin."
Handling skepticism: "The geographic reasoning step uses Claude's knowledge of power infrastructure, utility territories, and data center markets. The HIFLD validation step confirms actual substations exist. The combination is what makes this useful — pure AI hallucination without validation would be useless."
This feature is genuinely novel. No competitor has a natural-language DC site discovery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SLIDE — This is the output that leaves the platform and goes into a board meeting or investment committee.
Demo flow:
1. "I've been scoring sites one by one. Now let me add three of them to the comparison tray." Add Site A, B, C using the orange tray at the bottom.
2. Click Compare. Full-screen table opens.
3. "Best score cells are green, worst are red. In 10 seconds you can see that Site A wins on power and composite, Site B wins on water, Site C is weakest overall."
4. "Now watch — the AI narrative is streaming below the table right now."
5. Read the narrative out loud as it streams. "Winner… key differentiators… risk flags. This is a consultant deliverable, generated from the scores automatically."
Key line: "This comparison, with the narrative, is something you'd pay $5,000-10,000 for from a site selection consultant. We generate it in 30 seconds."
The streaming effect is important to let run in real time — it's visually impressive and demonstrates that the AI is doing real synthesis, not just returning a pre-written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FLOW SLIDE — Use this as your backstage reference. Keep this slide up on your laptop while the demo runs on screen.
Pre-demo checklist:
- App running at localhost:3000 or on deployed Vercel URL
- Mapbox token active
- Anthropic API key loaded
- Start on the Phase 3 page (/phase-3) in Dev mode
- Know one specific parcel from a DeThomas deal to navigate to first
Timing: The full 7-step demo runs 12-15 minutes if you let reactions breathe. Do not rush steps 3, 5, and 7 — those are the moments that land.
If something breaks: "The map and property data work without the API key — I can show you everything in Phase 1 offline. The AI features need connectivity." Phase 1 alone (live parcel map + LLC lookup) is enough to be compelling.
Most important rule: Let them interact. Hand over the laptop during Phase 1. Let them click parcels near their own projects. The demo goes from product demo to "this is mine" the moment they're clicking things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vs AFTER SLIDE — This is the commercial argument in one visual. Let them read it.
Key line: "Every row on the left is something your team is doing manually today. Every row on the right is what happens when you open the app."
Time savings: "If your team evaluates 200 sites per year before committing to one deal, and each evaluation currently takes 4 hours — that's 800 person-hours. At 90 seconds each, that's 5 hours. That's not an improvement in productivity, that's a different capability entirely."
Don't oversell: "The AI isn't replacing your judgment. It's doing the retrieval and formatting so that your judgment is applied to the right questions. You still decide whether a site works. You just get there in 90 seconds instead of half a day."
The DC row usually prompts a question about data center interest. "You mentioned data centers as a long-term direction. Phase 3 was built specifically for that. The Site Scout feature is something no other CRE tool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SLIDE — Plant the long-term vision. Don't oversell this as imminent — it requires 6-12 months of active usage first.
Key setup: "Everything you've seen in Phases 1-3 is immediately usable and already gives you an advantage. But let me show you where this goes in a year."
Read the RAG quote out loud — slowly. "In 2019, DeThomas evaluated a 2.3-acre C-2 site on Buford Highway with similar conditions. The deal passed due to traffic count issues — ADT under 28K. This site shows 41K ADT, which addresses that concern."
Then: "That response came from your own deal history. Your 20 years of proformas, site memos, due diligence reports — ingested, vectorized, and queryable. When you open any parcel, the system asks: 'Have we been here before? What did we learn?'"
The switching cost argument: "At that point, the platform has your institutional knowledge. Moving to a competitor means losing 20 years of context. That's the moat."
Timing: This slide should take 2-3 minutes max. Plant the vision and move to next steps. Don't let it become a 15-minute technical discussion about ML — that's a separate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 Anchor the commercial conversation.
Key message: "The first column — today — requires nothing from you except a browser. The second column is 2-3 weeks of deployment work. The third is geographic expansion. Phase 4 is a year out and requires this to be in active use first."
Investment framing: "The first three phases are built. The investment question isn't about building — it's about deploying and expanding. What does it cost you to have your team still doing parcel research manually for another 6 months while this sits ready?"
Don't oversell Phase 4 timeline — be honest that it requires accumulated usage data. "We can't skip to Phase 4. The ML model needs your deal outcomes as training data. That means using the platform actively for 6-12 months first."
If they ask about cost: "Phases 1-3 are complete. Ongoing operational costs are API usage — approximately $15-40 per month at 100 active site searches, plus Vercel and Supabase hosting which is under $50/month combined. The investment conversation is about development time for expansion and Phase 4, not recurring SaaS fees for something you don't control."
The "you own this" framing matters: this is not a subscription to someone else's tool — it's a proprietary platform DeThomas owns and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CREDIBILITY SLIDE — Skip or skim for non-technical audiences. Use this if there's a technical stakeholder in the room or if you get "how does this actually work?" questions.
Key credibility points:
- "All data sources in the middle column are free and public. No licensed database fees for the underlying parcel and infrastructure data."
- "Supabase gives us a production PostgreSQL database with PostGIS for spatial queries. The schema is already built — deployment is a configuration step, not a rebuild."
- "All AI responses use Anthropic's Claude API. Streaming is real — you're seeing the model generate in real time, not a cached response."
- "The AI costs are worth benchmarking against what you pay for CoStar or a consultant. $0.015 to generate an investment brief versus $5,000 for a consultant to write one manually."
For a technical audience: "The architecture is stateless API routes on Vercel with Zustand client state. No custom server to maintain. Infrastructure costs are essentially zero until you hit meaningful usage volume."
If they ask about security: "Supabase has Row Level Security policies built into the schema. Every database query is scoped to the authenticated user's organization. We haven't connected auth yet because this is dev — production deployment wires that in as step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SLIDE — Land the ask directly. Don't trail off.
Two-decision close structure:
1. "Decision 1 requires nothing — just 20 minutes with your team in a room. We navigate to your parcels, you interact with the AI features. No commitment."
2. "Decision 2 is the deployment sprint — 2-3 weeks to get your team on the platform with real accounts. This is the step that turns the demo into your tool."
If they hesitate on Decision 2: "What would it take for you to feel confident greenlighting deployment? Is it about the data coverage, the feature set, the cost, or something else?" Listen to the answer — it will be specific and addressable.
If they ask "what does it cost?": The answer is: development time is already invested. Ongoing operational costs are under $100/month (API usage at light usage volume + Vercel + Supabase). The investment question is really about prioritizing the deployment sprint and subsequent feature expansions — not SaaS licensing fees for a tool you don't control.
Final line: "The platform is ready. The only question is when your team starts using it."
Do not apologize, over-explain, or leave the room without a concrete next step scheduled. Book the demo date before you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p:spPr>
      </p:sp>
      <p:sp>
        <p:nvSpPr>
          <p:cNvPr id="3" name="Text 1"/>
          <p:cNvSpPr/>
          <p:nvPr/>
        </p:nvSpPr>
        <p:spPr>
          <a:xfrm>
            <a:off x="384048" y="914400"/>
            <a:ext cx="5486400" cy="960120"/>
          </a:xfrm>
          <a:prstGeom prst="rect">
            <a:avLst/>
          </a:prstGeom>
          <a:noFill/>
          <a:ln/>
        </p:spPr>
        <p:txBody>
          <a:bodyPr wrap="square" lIns="0" tIns="0" rIns="0" bIns="0" rtlCol="0" anchor="ctr"/>
          <a:lstStyle/>
          <a:p>
            <a:pPr indent="0" marL="0">
              <a:buNone/>
            </a:pPr>
            <a:r>
              <a:rPr lang="en-US" sz="7200" b="1" dirty="0">
                <a:solidFill>
                  <a:srgbClr val="F1F5F9"/>
                </a:solidFill>
                <a:latin typeface="Georgia" pitchFamily="34" charset="0"/>
                <a:ea typeface="Georgia" pitchFamily="34" charset="-122"/>
                <a:cs typeface="Georgia" pitchFamily="34" charset="-120"/>
              </a:rPr>
              <a:t>POCKET</a:t>
            </a:r>
            <a:endParaRPr lang="en-US" sz="7200" dirty="0"/>
          </a:p>
        </p:txBody>
      </p:sp>
      <p:sp>
        <p:nvSpPr>
          <p:cNvPr id="4" name="Text 2"/>
          <p:cNvSpPr/>
          <p:nvPr/>
        </p:nvSpPr>
        <p:spPr>
          <a:xfrm>
            <a:off x="384048" y="1719072"/>
            <a:ext cx="6400800" cy="960120"/>
          </a:xfrm>
          <a:prstGeom prst="rect">
            <a:avLst/>
          </a:prstGeom>
          <a:noFill/>
          <a:ln/>
        </p:spPr>
        <p:txBody>
          <a:bodyPr wrap="square" lIns="0" tIns="0" rIns="0" bIns="0" rtlCol="0" anchor="ctr"/>
          <a:lstStyle/>
          <a:p>
            <a:pPr indent="0" marL="0">
              <a:buNone/>
            </a:pPr>
            <a:r>
              <a:rPr lang="en-US" sz="7200" b="1" dirty="0">
                <a:solidFill>
                  <a:srgbClr val="0D9488"/>
                </a:solidFill>
                <a:latin typeface="Georgia" pitchFamily="34" charset="0"/>
                <a:ea typeface="Georgia" pitchFamily="34" charset="-122"/>
                <a:cs typeface="Georgia" pitchFamily="34" charset="-120"/>
              </a:rPr>
              <a:t>DEVELOPER</a:t>
            </a:r>
            <a:endParaRPr lang="en-US" sz="7200" dirty="0"/>
          </a:p>
        </p:txBody>
      </p:sp>
      <p:sp>
        <p:nvSpPr>
          <p:cNvPr id="5" name="Text 3"/>
          <p:cNvSpPr/>
          <p:nvPr/>
        </p:nvSpPr>
        <p:spPr>
          <a:xfrm>
            <a:off x="384048" y="2761488"/>
            <a:ext cx="6400800" cy="329184"/>
          </a:xfrm>
          <a:prstGeom prst="rect">
            <a:avLst/>
          </a:prstGeom>
          <a:noFill/>
          <a:ln/>
        </p:spPr>
        <p:txBody>
          <a:bodyPr wrap="square" lIns="0" tIns="0" rIns="0" bIns="0" rtlCol="0" anchor="ctr"/>
          <a:lstStyle/>
          <a:p>
            <a:pPr indent="0" marL="0">
              <a:buNone/>
            </a:pPr>
            <a:r>
              <a:rPr lang="en-US" sz="1800" i="1" dirty="0">
                <a:solidFill>
                  <a:srgbClr val="94A3B8"/>
                </a:solidFill>
                <a:latin typeface="Calibri" pitchFamily="34" charset="0"/>
                <a:ea typeface="Calibri" pitchFamily="34" charset="-122"/>
                <a:cs typeface="Calibri" pitchFamily="34" charset="-120"/>
              </a:rPr>
              <a:t>Parcel Intelligence Platform</a:t>
            </a:r>
            <a:endParaRPr lang="en-US" sz="1800" dirty="0"/>
          </a:p>
        </p:txBody>
      </p:sp>
      <p:sp>
        <p:nvSpPr>
          <p:cNvPr id="6" name="Shape 4"/>
          <p:cNvSpPr/>
          <p:nvPr/>
        </p:nvSpPr>
        <p:spPr>
          <a:xfrm>
            <a:off x="384048" y="3200400"/>
            <a:ext cx="5029200" cy="22860"/>
          </a:xfrm>
          <a:prstGeom prst="rect">
            <a:avLst/>
          </a:prstGeom>
          <a:solidFill>
            <a:srgbClr val="0D9488">
              <a:alpha val="50000"/>
            </a:srgbClr>
          </a:solidFill>
          <a:ln/>
        </p:spPr>
      </p:sp>
      <p:sp>
        <p:nvSpPr>
          <p:cNvPr id="7" name="Text 5"/>
          <p:cNvSpPr/>
          <p:nvPr/>
        </p:nvSpPr>
        <p:spPr>
          <a:xfrm>
            <a:off x="384048" y="3346704"/>
            <a:ext cx="6400800" cy="256032"/>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Prepared for  DeThomas Development Group</a:t>
            </a:r>
            <a:endParaRPr lang="en-US" sz="1400" dirty="0"/>
          </a:p>
        </p:txBody>
      </p:sp>
      <p:sp>
        <p:nvSpPr>
          <p:cNvPr id="8" name="Text 6"/>
          <p:cNvSpPr/>
          <p:nvPr/>
        </p:nvSpPr>
        <p:spPr>
          <a:xfrm>
            <a:off x="384048" y="3639312"/>
            <a:ext cx="6400800" cy="219456"/>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Product Demo  ·  Investment Brief  ·  February 2026</a:t>
            </a:r>
            <a:endParaRPr lang="en-US" sz="1200" dirty="0"/>
          </a:p>
        </p:txBody>
      </p:sp>
      <p:sp>
        <p:nvSpPr>
          <p:cNvPr id="9" name="Shape 7"/>
          <p:cNvSpPr/>
          <p:nvPr/>
        </p:nvSpPr>
        <p:spPr>
          <a:xfrm>
            <a:off x="7406640" y="1188720"/>
            <a:ext cx="1508760" cy="822960"/>
          </a:xfrm>
          <a:prstGeom prst="rect">
            <a:avLst/>
          </a:prstGeom>
          <a:solidFill>
            <a:srgbClr val="1E293B"/>
          </a:solidFill>
          <a:ln/>
          <a:effectLst>
            <a:outerShdw sx="100000" sy="100000" kx="0" ky="0" algn="bl" rotWithShape="0" blurRad="101600" dist="25400" dir="8100000">
              <a:srgbClr val="000000">
                <a:alpha val="12000"/>
              </a:srgbClr>
            </a:outerShdw>
          </a:effectLst>
        </p:spPr>
      </p:sp>
      <p:sp>
        <p:nvSpPr>
          <p:cNvPr id="10" name="Shape 8"/>
          <p:cNvSpPr/>
          <p:nvPr/>
        </p:nvSpPr>
        <p:spPr>
          <a:xfrm>
            <a:off x="7406640" y="1188720"/>
            <a:ext cx="1508760" cy="54864"/>
          </a:xfrm>
          <a:prstGeom prst="rect">
            <a:avLst/>
          </a:prstGeom>
          <a:solidFill>
            <a:srgbClr val="0D9488"/>
          </a:solidFill>
          <a:ln/>
        </p:spPr>
      </p:sp>
      <p:sp>
        <p:nvSpPr>
          <p:cNvPr id="11" name="Text 9"/>
          <p:cNvSpPr/>
          <p:nvPr/>
        </p:nvSpPr>
        <p:spPr>
          <a:xfrm>
            <a:off x="7406640" y="1280160"/>
            <a:ext cx="1508760" cy="402336"/>
          </a:xfrm>
          <a:prstGeom prst="rect">
            <a:avLst/>
          </a:prstGeom>
          <a:noFill/>
          <a:ln/>
        </p:spPr>
        <p:txBody>
          <a:bodyPr wrap="square" lIns="0" tIns="0" rIns="0" bIns="0" rtlCol="0" anchor="ctr"/>
          <a:lstStyle/>
          <a:p>
            <a:pPr algn="ctr" indent="0" marL="0">
              <a:buNone/>
            </a:pPr>
            <a:r>
              <a:rPr lang="en-US" sz="2800" b="1" dirty="0">
                <a:solidFill>
                  <a:srgbClr val="0D9488"/>
                </a:solidFill>
                <a:latin typeface="Georgia" pitchFamily="34" charset="0"/>
                <a:ea typeface="Georgia" pitchFamily="34" charset="-122"/>
                <a:cs typeface="Georgia" pitchFamily="34" charset="-120"/>
              </a:rPr>
              <a:t>307K+</a:t>
            </a:r>
            <a:endParaRPr lang="en-US" sz="2800" dirty="0"/>
          </a:p>
        </p:txBody>
      </p:sp>
      <p:sp>
        <p:nvSpPr>
          <p:cNvPr id="12" name="Text 10"/>
          <p:cNvSpPr/>
          <p:nvPr/>
        </p:nvSpPr>
        <p:spPr>
          <a:xfrm>
            <a:off x="7406640" y="1682496"/>
            <a:ext cx="150876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Live Gwinnett parcels</a:t>
            </a:r>
            <a:endParaRPr lang="en-US" sz="900" dirty="0"/>
          </a:p>
        </p:txBody>
      </p:sp>
      <p:sp>
        <p:nvSpPr>
          <p:cNvPr id="13" name="Shape 11"/>
          <p:cNvSpPr/>
          <p:nvPr/>
        </p:nvSpPr>
        <p:spPr>
          <a:xfrm>
            <a:off x="7406640" y="2286000"/>
            <a:ext cx="1508760" cy="822960"/>
          </a:xfrm>
          <a:prstGeom prst="rect">
            <a:avLst/>
          </a:prstGeom>
          <a:solidFill>
            <a:srgbClr val="1E293B"/>
          </a:solidFill>
          <a:ln/>
          <a:effectLst>
            <a:outerShdw sx="100000" sy="100000" kx="0" ky="0" algn="bl" rotWithShape="0" blurRad="101600" dist="25400" dir="8100000">
              <a:srgbClr val="000000">
                <a:alpha val="12000"/>
              </a:srgbClr>
            </a:outerShdw>
          </a:effectLst>
        </p:spPr>
      </p:sp>
      <p:sp>
        <p:nvSpPr>
          <p:cNvPr id="14" name="Shape 12"/>
          <p:cNvSpPr/>
          <p:nvPr/>
        </p:nvSpPr>
        <p:spPr>
          <a:xfrm>
            <a:off x="7406640" y="2286000"/>
            <a:ext cx="1508760" cy="54864"/>
          </a:xfrm>
          <a:prstGeom prst="rect">
            <a:avLst/>
          </a:prstGeom>
          <a:solidFill>
            <a:srgbClr val="0D9488"/>
          </a:solidFill>
          <a:ln/>
        </p:spPr>
      </p:sp>
      <p:sp>
        <p:nvSpPr>
          <p:cNvPr id="15" name="Text 13"/>
          <p:cNvSpPr/>
          <p:nvPr/>
        </p:nvSpPr>
        <p:spPr>
          <a:xfrm>
            <a:off x="7406640" y="2377440"/>
            <a:ext cx="1508760" cy="402336"/>
          </a:xfrm>
          <a:prstGeom prst="rect">
            <a:avLst/>
          </a:prstGeom>
          <a:noFill/>
          <a:ln/>
        </p:spPr>
        <p:txBody>
          <a:bodyPr wrap="square" lIns="0" tIns="0" rIns="0" bIns="0" rtlCol="0" anchor="ctr"/>
          <a:lstStyle/>
          <a:p>
            <a:pPr algn="ctr" indent="0" marL="0">
              <a:buNone/>
            </a:pPr>
            <a:r>
              <a:rPr lang="en-US" sz="2800" b="1" dirty="0">
                <a:solidFill>
                  <a:srgbClr val="0D9488"/>
                </a:solidFill>
                <a:latin typeface="Georgia" pitchFamily="34" charset="0"/>
                <a:ea typeface="Georgia" pitchFamily="34" charset="-122"/>
                <a:cs typeface="Georgia" pitchFamily="34" charset="-120"/>
              </a:rPr>
              <a:t>&lt; 90s</a:t>
            </a:r>
            <a:endParaRPr lang="en-US" sz="2800" dirty="0"/>
          </a:p>
        </p:txBody>
      </p:sp>
      <p:sp>
        <p:nvSpPr>
          <p:cNvPr id="16" name="Text 14"/>
          <p:cNvSpPr/>
          <p:nvPr/>
        </p:nvSpPr>
        <p:spPr>
          <a:xfrm>
            <a:off x="7406640" y="2779776"/>
            <a:ext cx="150876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Full analysis time</a:t>
            </a:r>
            <a:endParaRPr lang="en-US" sz="900" dirty="0"/>
          </a:p>
        </p:txBody>
      </p:sp>
      <p:sp>
        <p:nvSpPr>
          <p:cNvPr id="17" name="Shape 15"/>
          <p:cNvSpPr/>
          <p:nvPr/>
        </p:nvSpPr>
        <p:spPr>
          <a:xfrm>
            <a:off x="7406640" y="3383280"/>
            <a:ext cx="1508760" cy="822960"/>
          </a:xfrm>
          <a:prstGeom prst="rect">
            <a:avLst/>
          </a:prstGeom>
          <a:solidFill>
            <a:srgbClr val="1E293B"/>
          </a:solidFill>
          <a:ln/>
          <a:effectLst>
            <a:outerShdw sx="100000" sy="100000" kx="0" ky="0" algn="bl" rotWithShape="0" blurRad="101600" dist="25400" dir="8100000">
              <a:srgbClr val="000000">
                <a:alpha val="12000"/>
              </a:srgbClr>
            </a:outerShdw>
          </a:effectLst>
        </p:spPr>
      </p:sp>
      <p:sp>
        <p:nvSpPr>
          <p:cNvPr id="18" name="Shape 16"/>
          <p:cNvSpPr/>
          <p:nvPr/>
        </p:nvSpPr>
        <p:spPr>
          <a:xfrm>
            <a:off x="7406640" y="3383280"/>
            <a:ext cx="1508760" cy="54864"/>
          </a:xfrm>
          <a:prstGeom prst="rect">
            <a:avLst/>
          </a:prstGeom>
          <a:solidFill>
            <a:srgbClr val="0D9488"/>
          </a:solidFill>
          <a:ln/>
        </p:spPr>
      </p:sp>
      <p:sp>
        <p:nvSpPr>
          <p:cNvPr id="19" name="Text 17"/>
          <p:cNvSpPr/>
          <p:nvPr/>
        </p:nvSpPr>
        <p:spPr>
          <a:xfrm>
            <a:off x="7406640" y="3474720"/>
            <a:ext cx="1508760" cy="402336"/>
          </a:xfrm>
          <a:prstGeom prst="rect">
            <a:avLst/>
          </a:prstGeom>
          <a:noFill/>
          <a:ln/>
        </p:spPr>
        <p:txBody>
          <a:bodyPr wrap="square" lIns="0" tIns="0" rIns="0" bIns="0" rtlCol="0" anchor="ctr"/>
          <a:lstStyle/>
          <a:p>
            <a:pPr algn="ctr" indent="0" marL="0">
              <a:buNone/>
            </a:pPr>
            <a:r>
              <a:rPr lang="en-US" sz="2800" b="1" dirty="0">
                <a:solidFill>
                  <a:srgbClr val="0D9488"/>
                </a:solidFill>
                <a:latin typeface="Georgia" pitchFamily="34" charset="0"/>
                <a:ea typeface="Georgia" pitchFamily="34" charset="-122"/>
                <a:cs typeface="Georgia" pitchFamily="34" charset="-120"/>
              </a:rPr>
              <a:t>3</a:t>
            </a:r>
            <a:endParaRPr lang="en-US" sz="2800" dirty="0"/>
          </a:p>
        </p:txBody>
      </p:sp>
      <p:sp>
        <p:nvSpPr>
          <p:cNvPr id="20" name="Text 18"/>
          <p:cNvSpPr/>
          <p:nvPr/>
        </p:nvSpPr>
        <p:spPr>
          <a:xfrm>
            <a:off x="7406640" y="3877056"/>
            <a:ext cx="150876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Phases built &amp; live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164592"/>
            <a:ext cx="365760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457200" y="384048"/>
            <a:ext cx="8229600"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Manual Due Diligence Is Killing Your Pipeline</a:t>
            </a:r>
            <a:endParaRPr lang="en-US" sz="2800" dirty="0"/>
          </a:p>
        </p:txBody>
      </p:sp>
      <p:sp>
        <p:nvSpPr>
          <p:cNvPr id="5" name="Shape 3"/>
          <p:cNvSpPr/>
          <p:nvPr/>
        </p:nvSpPr>
        <p:spPr>
          <a:xfrm>
            <a:off x="457200" y="1261872"/>
            <a:ext cx="4114800" cy="153619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6" name="Shape 4"/>
          <p:cNvSpPr/>
          <p:nvPr/>
        </p:nvSpPr>
        <p:spPr>
          <a:xfrm>
            <a:off x="457200" y="1261872"/>
            <a:ext cx="64008" cy="1536192"/>
          </a:xfrm>
          <a:prstGeom prst="rect">
            <a:avLst/>
          </a:prstGeom>
          <a:solidFill>
            <a:srgbClr val="DC2626"/>
          </a:solidFill>
          <a:ln/>
        </p:spPr>
      </p:sp>
      <p:sp>
        <p:nvSpPr>
          <p:cNvPr id="7" name="Text 5"/>
          <p:cNvSpPr/>
          <p:nvPr/>
        </p:nvSpPr>
        <p:spPr>
          <a:xfrm>
            <a:off x="640080" y="1426464"/>
            <a:ext cx="45720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8" name="Text 6"/>
          <p:cNvSpPr/>
          <p:nvPr/>
        </p:nvSpPr>
        <p:spPr>
          <a:xfrm>
            <a:off x="1170432" y="1389888"/>
            <a:ext cx="324612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4–8 Hours Per Parcel</a:t>
            </a:r>
            <a:endParaRPr lang="en-US" sz="1300" dirty="0"/>
          </a:p>
        </p:txBody>
      </p:sp>
      <p:sp>
        <p:nvSpPr>
          <p:cNvPr id="9" name="Text 7"/>
          <p:cNvSpPr/>
          <p:nvPr/>
        </p:nvSpPr>
        <p:spPr>
          <a:xfrm>
            <a:off x="1170432" y="1700784"/>
            <a:ext cx="3246120" cy="969264"/>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County GIS portal, tax assessor, SOS lookup, utility call — all separate tools, manual cross-referencing, zero integration.</a:t>
            </a:r>
            <a:endParaRPr lang="en-US" sz="1100" dirty="0"/>
          </a:p>
        </p:txBody>
      </p:sp>
      <p:sp>
        <p:nvSpPr>
          <p:cNvPr id="10" name="Shape 8"/>
          <p:cNvSpPr/>
          <p:nvPr/>
        </p:nvSpPr>
        <p:spPr>
          <a:xfrm>
            <a:off x="4800600" y="1261872"/>
            <a:ext cx="4114800" cy="153619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1" name="Shape 9"/>
          <p:cNvSpPr/>
          <p:nvPr/>
        </p:nvSpPr>
        <p:spPr>
          <a:xfrm>
            <a:off x="4800600" y="1261872"/>
            <a:ext cx="64008" cy="1536192"/>
          </a:xfrm>
          <a:prstGeom prst="rect">
            <a:avLst/>
          </a:prstGeom>
          <a:solidFill>
            <a:srgbClr val="DC2626"/>
          </a:solidFill>
          <a:ln/>
        </p:spPr>
      </p:sp>
      <p:sp>
        <p:nvSpPr>
          <p:cNvPr id="12" name="Text 10"/>
          <p:cNvSpPr/>
          <p:nvPr/>
        </p:nvSpPr>
        <p:spPr>
          <a:xfrm>
            <a:off x="4983480" y="1426464"/>
            <a:ext cx="45720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3" name="Text 11"/>
          <p:cNvSpPr/>
          <p:nvPr/>
        </p:nvSpPr>
        <p:spPr>
          <a:xfrm>
            <a:off x="5513832" y="1389888"/>
            <a:ext cx="324612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LLC Ownership Opacity</a:t>
            </a:r>
            <a:endParaRPr lang="en-US" sz="1300" dirty="0"/>
          </a:p>
        </p:txBody>
      </p:sp>
      <p:sp>
        <p:nvSpPr>
          <p:cNvPr id="14" name="Text 12"/>
          <p:cNvSpPr/>
          <p:nvPr/>
        </p:nvSpPr>
        <p:spPr>
          <a:xfrm>
            <a:off x="5513832" y="1700784"/>
            <a:ext cx="3246120" cy="969264"/>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Most commercial parcels are held in single-purpose LLCs. Beneficial ownership is buried. Every lookup is a separate workflow with no guarantee of an answer.</a:t>
            </a:r>
            <a:endParaRPr lang="en-US" sz="1100" dirty="0"/>
          </a:p>
        </p:txBody>
      </p:sp>
      <p:sp>
        <p:nvSpPr>
          <p:cNvPr id="15" name="Shape 13"/>
          <p:cNvSpPr/>
          <p:nvPr/>
        </p:nvSpPr>
        <p:spPr>
          <a:xfrm>
            <a:off x="457200" y="2980944"/>
            <a:ext cx="4114800" cy="153619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6" name="Shape 14"/>
          <p:cNvSpPr/>
          <p:nvPr/>
        </p:nvSpPr>
        <p:spPr>
          <a:xfrm>
            <a:off x="457200" y="2980944"/>
            <a:ext cx="64008" cy="1536192"/>
          </a:xfrm>
          <a:prstGeom prst="rect">
            <a:avLst/>
          </a:prstGeom>
          <a:solidFill>
            <a:srgbClr val="DC2626"/>
          </a:solidFill>
          <a:ln/>
        </p:spPr>
      </p:sp>
      <p:sp>
        <p:nvSpPr>
          <p:cNvPr id="17" name="Text 15"/>
          <p:cNvSpPr/>
          <p:nvPr/>
        </p:nvSpPr>
        <p:spPr>
          <a:xfrm>
            <a:off x="640080" y="3145536"/>
            <a:ext cx="45720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8" name="Text 16"/>
          <p:cNvSpPr/>
          <p:nvPr/>
        </p:nvSpPr>
        <p:spPr>
          <a:xfrm>
            <a:off x="1170432" y="3108960"/>
            <a:ext cx="324612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Zoning Requires a Call</a:t>
            </a:r>
            <a:endParaRPr lang="en-US" sz="1300" dirty="0"/>
          </a:p>
        </p:txBody>
      </p:sp>
      <p:sp>
        <p:nvSpPr>
          <p:cNvPr id="19" name="Text 17"/>
          <p:cNvSpPr/>
          <p:nvPr/>
        </p:nvSpPr>
        <p:spPr>
          <a:xfrm>
            <a:off x="1170432" y="3419856"/>
            <a:ext cx="3246120" cy="969264"/>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Understanding what can actually be built on a parcel means calling a planner or attorney. There's no instant, reliable answer in the field.</a:t>
            </a:r>
            <a:endParaRPr lang="en-US" sz="1100" dirty="0"/>
          </a:p>
        </p:txBody>
      </p:sp>
      <p:sp>
        <p:nvSpPr>
          <p:cNvPr id="20" name="Shape 18"/>
          <p:cNvSpPr/>
          <p:nvPr/>
        </p:nvSpPr>
        <p:spPr>
          <a:xfrm>
            <a:off x="4800600" y="2980944"/>
            <a:ext cx="4114800" cy="153619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21" name="Shape 19"/>
          <p:cNvSpPr/>
          <p:nvPr/>
        </p:nvSpPr>
        <p:spPr>
          <a:xfrm>
            <a:off x="4800600" y="2980944"/>
            <a:ext cx="64008" cy="1536192"/>
          </a:xfrm>
          <a:prstGeom prst="rect">
            <a:avLst/>
          </a:prstGeom>
          <a:solidFill>
            <a:srgbClr val="DC2626"/>
          </a:solidFill>
          <a:ln/>
        </p:spPr>
      </p:sp>
      <p:sp>
        <p:nvSpPr>
          <p:cNvPr id="22" name="Text 20"/>
          <p:cNvSpPr/>
          <p:nvPr/>
        </p:nvSpPr>
        <p:spPr>
          <a:xfrm>
            <a:off x="4983480" y="3145536"/>
            <a:ext cx="45720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3" name="Text 21"/>
          <p:cNvSpPr/>
          <p:nvPr/>
        </p:nvSpPr>
        <p:spPr>
          <a:xfrm>
            <a:off x="5513832" y="3108960"/>
            <a:ext cx="324612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DC Sites Need Specialists</a:t>
            </a:r>
            <a:endParaRPr lang="en-US" sz="1300" dirty="0"/>
          </a:p>
        </p:txBody>
      </p:sp>
      <p:sp>
        <p:nvSpPr>
          <p:cNvPr id="24" name="Text 22"/>
          <p:cNvSpPr/>
          <p:nvPr/>
        </p:nvSpPr>
        <p:spPr>
          <a:xfrm>
            <a:off x="5513832" y="3419856"/>
            <a:ext cx="3246120" cy="969264"/>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Data center site selection — power, fiber, water, flood risk — requires infrastructure consultants and federal dataset research. No dev tool supports 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914400"/>
            <a:ext cx="4206240" cy="822960"/>
          </a:xfrm>
          <a:prstGeom prst="rect">
            <a:avLst/>
          </a:prstGeom>
          <a:noFill/>
          <a:ln/>
        </p:spPr>
        <p:txBody>
          <a:bodyPr wrap="square" lIns="0" tIns="0" rIns="0" bIns="0" rtlCol="0" anchor="ctr"/>
          <a:lstStyle/>
          <a:p>
            <a:pPr indent="0" marL="0">
              <a:buNone/>
            </a:pPr>
            <a:r>
              <a:rPr lang="en-US" sz="4200" b="1" dirty="0">
                <a:solidFill>
                  <a:srgbClr val="0D9488"/>
                </a:solidFill>
                <a:latin typeface="Georgia" pitchFamily="34" charset="0"/>
                <a:ea typeface="Georgia" pitchFamily="34" charset="-122"/>
                <a:cs typeface="Georgia" pitchFamily="34" charset="-120"/>
              </a:rPr>
              <a:t>Under 90 seconds.</a:t>
            </a:r>
            <a:endParaRPr lang="en-US" sz="4200" dirty="0"/>
          </a:p>
        </p:txBody>
      </p:sp>
      <p:sp>
        <p:nvSpPr>
          <p:cNvPr id="4" name="Text 2"/>
          <p:cNvSpPr/>
          <p:nvPr/>
        </p:nvSpPr>
        <p:spPr>
          <a:xfrm>
            <a:off x="457200" y="1874520"/>
            <a:ext cx="4206240" cy="822960"/>
          </a:xfrm>
          <a:prstGeom prst="rect">
            <a:avLst/>
          </a:prstGeom>
          <a:noFill/>
          <a:ln/>
        </p:spPr>
        <p:txBody>
          <a:bodyPr wrap="square" lIns="0" tIns="0" rIns="0" bIns="0" rtlCol="0" anchor="ctr"/>
          <a:lstStyle/>
          <a:p>
            <a:pPr indent="0" marL="0">
              <a:buNone/>
            </a:pPr>
            <a:r>
              <a:rPr lang="en-US" sz="4200" b="1" dirty="0">
                <a:solidFill>
                  <a:srgbClr val="F1F5F9"/>
                </a:solidFill>
                <a:latin typeface="Georgia" pitchFamily="34" charset="0"/>
                <a:ea typeface="Georgia" pitchFamily="34" charset="-122"/>
                <a:cs typeface="Georgia" pitchFamily="34" charset="-120"/>
              </a:rPr>
              <a:t>Every parcel.</a:t>
            </a:r>
            <a:endParaRPr lang="en-US" sz="4200" dirty="0"/>
          </a:p>
        </p:txBody>
      </p:sp>
      <p:sp>
        <p:nvSpPr>
          <p:cNvPr id="5" name="Text 3"/>
          <p:cNvSpPr/>
          <p:nvPr/>
        </p:nvSpPr>
        <p:spPr>
          <a:xfrm>
            <a:off x="457200" y="2816352"/>
            <a:ext cx="4023360" cy="8229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Pocket Developer unifies every data source your team touches into one interface — then adds AI analysis your competitors don't have.</a:t>
            </a:r>
            <a:endParaRPr lang="en-US" sz="1300" dirty="0"/>
          </a:p>
        </p:txBody>
      </p:sp>
      <p:sp>
        <p:nvSpPr>
          <p:cNvPr id="6" name="Shape 4"/>
          <p:cNvSpPr/>
          <p:nvPr/>
        </p:nvSpPr>
        <p:spPr>
          <a:xfrm>
            <a:off x="4846320" y="548640"/>
            <a:ext cx="18288" cy="4023360"/>
          </a:xfrm>
          <a:prstGeom prst="rect">
            <a:avLst/>
          </a:prstGeom>
          <a:solidFill>
            <a:srgbClr val="0D9488">
              <a:alpha val="30000"/>
            </a:srgbClr>
          </a:solidFill>
          <a:ln/>
        </p:spPr>
      </p:sp>
      <p:sp>
        <p:nvSpPr>
          <p:cNvPr id="7" name="Shape 5"/>
          <p:cNvSpPr/>
          <p:nvPr/>
        </p:nvSpPr>
        <p:spPr>
          <a:xfrm>
            <a:off x="5074920" y="658368"/>
            <a:ext cx="3840480" cy="841248"/>
          </a:xfrm>
          <a:prstGeom prst="rect">
            <a:avLst/>
          </a:prstGeom>
          <a:solidFill>
            <a:srgbClr val="1E293B"/>
          </a:solidFill>
          <a:ln/>
        </p:spPr>
      </p:sp>
      <p:sp>
        <p:nvSpPr>
          <p:cNvPr id="8" name="Shape 6"/>
          <p:cNvSpPr/>
          <p:nvPr/>
        </p:nvSpPr>
        <p:spPr>
          <a:xfrm>
            <a:off x="5074920" y="658368"/>
            <a:ext cx="54864" cy="841248"/>
          </a:xfrm>
          <a:prstGeom prst="rect">
            <a:avLst/>
          </a:prstGeom>
          <a:solidFill>
            <a:srgbClr val="0D9488"/>
          </a:solidFill>
          <a:ln/>
        </p:spPr>
      </p:sp>
      <p:sp>
        <p:nvSpPr>
          <p:cNvPr id="9" name="Text 7"/>
          <p:cNvSpPr/>
          <p:nvPr/>
        </p:nvSpPr>
        <p:spPr>
          <a:xfrm>
            <a:off x="5257800" y="749808"/>
            <a:ext cx="3520440" cy="237744"/>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One interface</a:t>
            </a:r>
            <a:endParaRPr lang="en-US" sz="1300" dirty="0"/>
          </a:p>
        </p:txBody>
      </p:sp>
      <p:sp>
        <p:nvSpPr>
          <p:cNvPr id="10" name="Text 8"/>
          <p:cNvSpPr/>
          <p:nvPr/>
        </p:nvSpPr>
        <p:spPr>
          <a:xfrm>
            <a:off x="5257800" y="1005840"/>
            <a:ext cx="3520440" cy="402336"/>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Map, ownership, zoning, comps, LLC, DC infrastructure — all in one click.</a:t>
            </a:r>
            <a:endParaRPr lang="en-US" sz="1100" dirty="0"/>
          </a:p>
        </p:txBody>
      </p:sp>
      <p:sp>
        <p:nvSpPr>
          <p:cNvPr id="11" name="Shape 9"/>
          <p:cNvSpPr/>
          <p:nvPr/>
        </p:nvSpPr>
        <p:spPr>
          <a:xfrm>
            <a:off x="5074920" y="1682496"/>
            <a:ext cx="3840480" cy="841248"/>
          </a:xfrm>
          <a:prstGeom prst="rect">
            <a:avLst/>
          </a:prstGeom>
          <a:solidFill>
            <a:srgbClr val="1E293B"/>
          </a:solidFill>
          <a:ln/>
        </p:spPr>
      </p:sp>
      <p:sp>
        <p:nvSpPr>
          <p:cNvPr id="12" name="Shape 10"/>
          <p:cNvSpPr/>
          <p:nvPr/>
        </p:nvSpPr>
        <p:spPr>
          <a:xfrm>
            <a:off x="5074920" y="1682496"/>
            <a:ext cx="54864" cy="841248"/>
          </a:xfrm>
          <a:prstGeom prst="rect">
            <a:avLst/>
          </a:prstGeom>
          <a:solidFill>
            <a:srgbClr val="0D9488"/>
          </a:solidFill>
          <a:ln/>
        </p:spPr>
      </p:sp>
      <p:sp>
        <p:nvSpPr>
          <p:cNvPr id="13" name="Text 11"/>
          <p:cNvSpPr/>
          <p:nvPr/>
        </p:nvSpPr>
        <p:spPr>
          <a:xfrm>
            <a:off x="5257800" y="1773936"/>
            <a:ext cx="3520440" cy="237744"/>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AI that explains</a:t>
            </a:r>
            <a:endParaRPr lang="en-US" sz="1300" dirty="0"/>
          </a:p>
        </p:txBody>
      </p:sp>
      <p:sp>
        <p:nvSpPr>
          <p:cNvPr id="14" name="Text 12"/>
          <p:cNvSpPr/>
          <p:nvPr/>
        </p:nvSpPr>
        <p:spPr>
          <a:xfrm>
            <a:off x="5257800" y="2029968"/>
            <a:ext cx="3520440" cy="402336"/>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Not just what a parcel is — what you can build, what it scores, what the risks are.</a:t>
            </a:r>
            <a:endParaRPr lang="en-US" sz="1100" dirty="0"/>
          </a:p>
        </p:txBody>
      </p:sp>
      <p:sp>
        <p:nvSpPr>
          <p:cNvPr id="15" name="Shape 13"/>
          <p:cNvSpPr/>
          <p:nvPr/>
        </p:nvSpPr>
        <p:spPr>
          <a:xfrm>
            <a:off x="5074920" y="2706624"/>
            <a:ext cx="3840480" cy="841248"/>
          </a:xfrm>
          <a:prstGeom prst="rect">
            <a:avLst/>
          </a:prstGeom>
          <a:solidFill>
            <a:srgbClr val="1E293B"/>
          </a:solidFill>
          <a:ln/>
        </p:spPr>
      </p:sp>
      <p:sp>
        <p:nvSpPr>
          <p:cNvPr id="16" name="Shape 14"/>
          <p:cNvSpPr/>
          <p:nvPr/>
        </p:nvSpPr>
        <p:spPr>
          <a:xfrm>
            <a:off x="5074920" y="2706624"/>
            <a:ext cx="54864" cy="841248"/>
          </a:xfrm>
          <a:prstGeom prst="rect">
            <a:avLst/>
          </a:prstGeom>
          <a:solidFill>
            <a:srgbClr val="EA580C"/>
          </a:solidFill>
          <a:ln/>
        </p:spPr>
      </p:sp>
      <p:sp>
        <p:nvSpPr>
          <p:cNvPr id="17" name="Text 15"/>
          <p:cNvSpPr/>
          <p:nvPr/>
        </p:nvSpPr>
        <p:spPr>
          <a:xfrm>
            <a:off x="5257800" y="2798064"/>
            <a:ext cx="3520440" cy="237744"/>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DC mode built in</a:t>
            </a:r>
            <a:endParaRPr lang="en-US" sz="1300" dirty="0"/>
          </a:p>
        </p:txBody>
      </p:sp>
      <p:sp>
        <p:nvSpPr>
          <p:cNvPr id="18" name="Text 16"/>
          <p:cNvSpPr/>
          <p:nvPr/>
        </p:nvSpPr>
        <p:spPr>
          <a:xfrm>
            <a:off x="5257800" y="3054096"/>
            <a:ext cx="3520440" cy="402336"/>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Power, fiber, water, flood — scored against live federal infrastructure data.</a:t>
            </a:r>
            <a:endParaRPr lang="en-US" sz="1100" dirty="0"/>
          </a:p>
        </p:txBody>
      </p:sp>
      <p:sp>
        <p:nvSpPr>
          <p:cNvPr id="19" name="Shape 17"/>
          <p:cNvSpPr/>
          <p:nvPr/>
        </p:nvSpPr>
        <p:spPr>
          <a:xfrm>
            <a:off x="5074920" y="3730752"/>
            <a:ext cx="3840480" cy="841248"/>
          </a:xfrm>
          <a:prstGeom prst="rect">
            <a:avLst/>
          </a:prstGeom>
          <a:solidFill>
            <a:srgbClr val="1E293B"/>
          </a:solidFill>
          <a:ln/>
        </p:spPr>
      </p:sp>
      <p:sp>
        <p:nvSpPr>
          <p:cNvPr id="20" name="Shape 18"/>
          <p:cNvSpPr/>
          <p:nvPr/>
        </p:nvSpPr>
        <p:spPr>
          <a:xfrm>
            <a:off x="5074920" y="3730752"/>
            <a:ext cx="54864" cy="841248"/>
          </a:xfrm>
          <a:prstGeom prst="rect">
            <a:avLst/>
          </a:prstGeom>
          <a:solidFill>
            <a:srgbClr val="EA580C"/>
          </a:solidFill>
          <a:ln/>
        </p:spPr>
      </p:sp>
      <p:sp>
        <p:nvSpPr>
          <p:cNvPr id="21" name="Text 19"/>
          <p:cNvSpPr/>
          <p:nvPr/>
        </p:nvSpPr>
        <p:spPr>
          <a:xfrm>
            <a:off x="5257800" y="3822192"/>
            <a:ext cx="3520440" cy="237744"/>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Site Scout</a:t>
            </a:r>
            <a:endParaRPr lang="en-US" sz="1300" dirty="0"/>
          </a:p>
        </p:txBody>
      </p:sp>
      <p:sp>
        <p:nvSpPr>
          <p:cNvPr id="22" name="Text 20"/>
          <p:cNvSpPr/>
          <p:nvPr/>
        </p:nvSpPr>
        <p:spPr>
          <a:xfrm>
            <a:off x="5257800" y="4078224"/>
            <a:ext cx="3520440" cy="402336"/>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Describe your project in plain English. The AI finds candidate markets and validates them.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164592"/>
            <a:ext cx="365760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PLATFORM STATUS</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Three Complete Phases. Live Today.</a:t>
            </a:r>
            <a:endParaRPr lang="en-US" sz="2800" dirty="0"/>
          </a:p>
        </p:txBody>
      </p:sp>
      <p:sp>
        <p:nvSpPr>
          <p:cNvPr id="5" name="Shape 3"/>
          <p:cNvSpPr/>
          <p:nvPr/>
        </p:nvSpPr>
        <p:spPr>
          <a:xfrm>
            <a:off x="365760" y="1097280"/>
            <a:ext cx="2743200" cy="363931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6" name="Shape 4"/>
          <p:cNvSpPr/>
          <p:nvPr/>
        </p:nvSpPr>
        <p:spPr>
          <a:xfrm>
            <a:off x="365760" y="1097280"/>
            <a:ext cx="2743200" cy="73152"/>
          </a:xfrm>
          <a:prstGeom prst="rect">
            <a:avLst/>
          </a:prstGeom>
          <a:solidFill>
            <a:srgbClr val="0D9488"/>
          </a:solidFill>
          <a:ln/>
        </p:spPr>
      </p:sp>
      <p:sp>
        <p:nvSpPr>
          <p:cNvPr id="7" name="Text 5"/>
          <p:cNvSpPr/>
          <p:nvPr/>
        </p:nvSpPr>
        <p:spPr>
          <a:xfrm>
            <a:off x="493776" y="1207008"/>
            <a:ext cx="2487168" cy="201168"/>
          </a:xfrm>
          <a:prstGeom prst="rect">
            <a:avLst/>
          </a:prstGeom>
          <a:noFill/>
          <a:ln/>
        </p:spPr>
        <p:txBody>
          <a:bodyPr wrap="square" lIns="0" tIns="0" rIns="0" bIns="0" rtlCol="0" anchor="ctr"/>
          <a:lstStyle/>
          <a:p>
            <a:pPr indent="0" marL="0">
              <a:buNone/>
            </a:pPr>
            <a:r>
              <a:rPr lang="en-US" sz="1000" b="1" spc="200" kern="0" dirty="0">
                <a:solidFill>
                  <a:srgbClr val="0D9488"/>
                </a:solidFill>
                <a:latin typeface="Calibri" pitchFamily="34" charset="0"/>
                <a:ea typeface="Calibri" pitchFamily="34" charset="-122"/>
                <a:cs typeface="Calibri" pitchFamily="34" charset="-120"/>
              </a:rPr>
              <a:t>PHASE 1</a:t>
            </a:r>
            <a:endParaRPr lang="en-US" sz="1000" dirty="0"/>
          </a:p>
        </p:txBody>
      </p:sp>
      <p:sp>
        <p:nvSpPr>
          <p:cNvPr id="8" name="Text 6"/>
          <p:cNvSpPr/>
          <p:nvPr/>
        </p:nvSpPr>
        <p:spPr>
          <a:xfrm>
            <a:off x="493776" y="1426464"/>
            <a:ext cx="2487168" cy="384048"/>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CRE Parcel Research</a:t>
            </a:r>
            <a:endParaRPr lang="en-US" sz="1500" dirty="0"/>
          </a:p>
        </p:txBody>
      </p:sp>
      <p:sp>
        <p:nvSpPr>
          <p:cNvPr id="9" name="Text 7"/>
          <p:cNvSpPr/>
          <p:nvPr/>
        </p:nvSpPr>
        <p:spPr>
          <a:xfrm>
            <a:off x="493776" y="1828800"/>
            <a:ext cx="2487168" cy="201168"/>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 LIVE</a:t>
            </a:r>
            <a:endParaRPr lang="en-US" sz="1000" dirty="0"/>
          </a:p>
        </p:txBody>
      </p:sp>
      <p:sp>
        <p:nvSpPr>
          <p:cNvPr id="10" name="Shape 8"/>
          <p:cNvSpPr/>
          <p:nvPr/>
        </p:nvSpPr>
        <p:spPr>
          <a:xfrm>
            <a:off x="493776" y="2066544"/>
            <a:ext cx="2487168" cy="18288"/>
          </a:xfrm>
          <a:prstGeom prst="rect">
            <a:avLst/>
          </a:prstGeom>
          <a:solidFill>
            <a:srgbClr val="E2E8F0"/>
          </a:solidFill>
          <a:ln/>
        </p:spPr>
      </p:sp>
      <p:sp>
        <p:nvSpPr>
          <p:cNvPr id="11" name="Text 9"/>
          <p:cNvSpPr/>
          <p:nvPr/>
        </p:nvSpPr>
        <p:spPr>
          <a:xfrm>
            <a:off x="493776" y="2139696"/>
            <a:ext cx="2487168" cy="34747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307K+ live parcel boundaries</a:t>
            </a:r>
            <a:endParaRPr lang="en-US" sz="1100" dirty="0"/>
          </a:p>
        </p:txBody>
      </p:sp>
      <p:sp>
        <p:nvSpPr>
          <p:cNvPr id="12" name="Text 10"/>
          <p:cNvSpPr/>
          <p:nvPr/>
        </p:nvSpPr>
        <p:spPr>
          <a:xfrm>
            <a:off x="493776" y="2542032"/>
            <a:ext cx="2487168" cy="34747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One-click ownership + deed history</a:t>
            </a:r>
            <a:endParaRPr lang="en-US" sz="1100" dirty="0"/>
          </a:p>
        </p:txBody>
      </p:sp>
      <p:sp>
        <p:nvSpPr>
          <p:cNvPr id="13" name="Text 11"/>
          <p:cNvSpPr/>
          <p:nvPr/>
        </p:nvSpPr>
        <p:spPr>
          <a:xfrm>
            <a:off x="493776" y="2944368"/>
            <a:ext cx="2487168" cy="34747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Zoning overlay + layer controls</a:t>
            </a:r>
            <a:endParaRPr lang="en-US" sz="1100" dirty="0"/>
          </a:p>
        </p:txBody>
      </p:sp>
      <p:sp>
        <p:nvSpPr>
          <p:cNvPr id="14" name="Text 12"/>
          <p:cNvSpPr/>
          <p:nvPr/>
        </p:nvSpPr>
        <p:spPr>
          <a:xfrm>
            <a:off x="493776" y="3346704"/>
            <a:ext cx="2487168" cy="34747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LLC entity lookup</a:t>
            </a:r>
            <a:endParaRPr lang="en-US" sz="1100" dirty="0"/>
          </a:p>
        </p:txBody>
      </p:sp>
      <p:sp>
        <p:nvSpPr>
          <p:cNvPr id="15" name="Text 13"/>
          <p:cNvSpPr/>
          <p:nvPr/>
        </p:nvSpPr>
        <p:spPr>
          <a:xfrm>
            <a:off x="493776" y="3749040"/>
            <a:ext cx="2487168" cy="34747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Saved parcels &amp; collections</a:t>
            </a:r>
            <a:endParaRPr lang="en-US" sz="1100" dirty="0"/>
          </a:p>
        </p:txBody>
      </p:sp>
      <p:sp>
        <p:nvSpPr>
          <p:cNvPr id="16" name="Text 14"/>
          <p:cNvSpPr/>
          <p:nvPr/>
        </p:nvSpPr>
        <p:spPr>
          <a:xfrm>
            <a:off x="493776" y="4151376"/>
            <a:ext cx="2487168" cy="34747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Address + PIN search</a:t>
            </a:r>
            <a:endParaRPr lang="en-US" sz="1100" dirty="0"/>
          </a:p>
        </p:txBody>
      </p:sp>
      <p:sp>
        <p:nvSpPr>
          <p:cNvPr id="17" name="Shape 15"/>
          <p:cNvSpPr/>
          <p:nvPr/>
        </p:nvSpPr>
        <p:spPr>
          <a:xfrm>
            <a:off x="3273552" y="1097280"/>
            <a:ext cx="2743200" cy="363931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8" name="Shape 16"/>
          <p:cNvSpPr/>
          <p:nvPr/>
        </p:nvSpPr>
        <p:spPr>
          <a:xfrm>
            <a:off x="3273552" y="1097280"/>
            <a:ext cx="2743200" cy="73152"/>
          </a:xfrm>
          <a:prstGeom prst="rect">
            <a:avLst/>
          </a:prstGeom>
          <a:solidFill>
            <a:srgbClr val="7C3AED"/>
          </a:solidFill>
          <a:ln/>
        </p:spPr>
      </p:sp>
      <p:sp>
        <p:nvSpPr>
          <p:cNvPr id="19" name="Text 17"/>
          <p:cNvSpPr/>
          <p:nvPr/>
        </p:nvSpPr>
        <p:spPr>
          <a:xfrm>
            <a:off x="3401568" y="1207008"/>
            <a:ext cx="2487168" cy="201168"/>
          </a:xfrm>
          <a:prstGeom prst="rect">
            <a:avLst/>
          </a:prstGeom>
          <a:noFill/>
          <a:ln/>
        </p:spPr>
        <p:txBody>
          <a:bodyPr wrap="square" lIns="0" tIns="0" rIns="0" bIns="0" rtlCol="0" anchor="ctr"/>
          <a:lstStyle/>
          <a:p>
            <a:pPr indent="0" marL="0">
              <a:buNone/>
            </a:pPr>
            <a:r>
              <a:rPr lang="en-US" sz="1000" b="1" spc="200" kern="0" dirty="0">
                <a:solidFill>
                  <a:srgbClr val="7C3AED"/>
                </a:solidFill>
                <a:latin typeface="Calibri" pitchFamily="34" charset="0"/>
                <a:ea typeface="Calibri" pitchFamily="34" charset="-122"/>
                <a:cs typeface="Calibri" pitchFamily="34" charset="-120"/>
              </a:rPr>
              <a:t>PHASE 2</a:t>
            </a:r>
            <a:endParaRPr lang="en-US" sz="1000" dirty="0"/>
          </a:p>
        </p:txBody>
      </p:sp>
      <p:sp>
        <p:nvSpPr>
          <p:cNvPr id="20" name="Text 18"/>
          <p:cNvSpPr/>
          <p:nvPr/>
        </p:nvSpPr>
        <p:spPr>
          <a:xfrm>
            <a:off x="3401568" y="1426464"/>
            <a:ext cx="2487168" cy="384048"/>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AI Site Intelligence</a:t>
            </a:r>
            <a:endParaRPr lang="en-US" sz="1500" dirty="0"/>
          </a:p>
        </p:txBody>
      </p:sp>
      <p:sp>
        <p:nvSpPr>
          <p:cNvPr id="21" name="Text 19"/>
          <p:cNvSpPr/>
          <p:nvPr/>
        </p:nvSpPr>
        <p:spPr>
          <a:xfrm>
            <a:off x="3401568" y="1828800"/>
            <a:ext cx="2487168" cy="201168"/>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 LIVE</a:t>
            </a:r>
            <a:endParaRPr lang="en-US" sz="1000" dirty="0"/>
          </a:p>
        </p:txBody>
      </p:sp>
      <p:sp>
        <p:nvSpPr>
          <p:cNvPr id="22" name="Shape 20"/>
          <p:cNvSpPr/>
          <p:nvPr/>
        </p:nvSpPr>
        <p:spPr>
          <a:xfrm>
            <a:off x="3401568" y="2066544"/>
            <a:ext cx="2487168" cy="18288"/>
          </a:xfrm>
          <a:prstGeom prst="rect">
            <a:avLst/>
          </a:prstGeom>
          <a:solidFill>
            <a:srgbClr val="E2E8F0"/>
          </a:solidFill>
          <a:ln/>
        </p:spPr>
      </p:sp>
      <p:sp>
        <p:nvSpPr>
          <p:cNvPr id="23" name="Text 21"/>
          <p:cNvSpPr/>
          <p:nvPr/>
        </p:nvSpPr>
        <p:spPr>
          <a:xfrm>
            <a:off x="3401568" y="2139696"/>
            <a:ext cx="2487168"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AI site score (0–100)</a:t>
            </a:r>
            <a:endParaRPr lang="en-US" sz="1100" dirty="0"/>
          </a:p>
        </p:txBody>
      </p:sp>
      <p:sp>
        <p:nvSpPr>
          <p:cNvPr id="24" name="Text 22"/>
          <p:cNvSpPr/>
          <p:nvPr/>
        </p:nvSpPr>
        <p:spPr>
          <a:xfrm>
            <a:off x="3401568" y="2542032"/>
            <a:ext cx="2487168"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Zoning AI chat</a:t>
            </a:r>
            <a:endParaRPr lang="en-US" sz="1100" dirty="0"/>
          </a:p>
        </p:txBody>
      </p:sp>
      <p:sp>
        <p:nvSpPr>
          <p:cNvPr id="25" name="Text 23"/>
          <p:cNvSpPr/>
          <p:nvPr/>
        </p:nvSpPr>
        <p:spPr>
          <a:xfrm>
            <a:off x="3401568" y="2944368"/>
            <a:ext cx="2487168"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Comparable sales engine</a:t>
            </a:r>
            <a:endParaRPr lang="en-US" sz="1100" dirty="0"/>
          </a:p>
        </p:txBody>
      </p:sp>
      <p:sp>
        <p:nvSpPr>
          <p:cNvPr id="26" name="Text 24"/>
          <p:cNvSpPr/>
          <p:nvPr/>
        </p:nvSpPr>
        <p:spPr>
          <a:xfrm>
            <a:off x="3401568" y="3346704"/>
            <a:ext cx="2487168"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Investment brief generation</a:t>
            </a:r>
            <a:endParaRPr lang="en-US" sz="1100" dirty="0"/>
          </a:p>
        </p:txBody>
      </p:sp>
      <p:sp>
        <p:nvSpPr>
          <p:cNvPr id="27" name="Text 25"/>
          <p:cNvSpPr/>
          <p:nvPr/>
        </p:nvSpPr>
        <p:spPr>
          <a:xfrm>
            <a:off x="3401568" y="3749040"/>
            <a:ext cx="2487168"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Firm activity history</a:t>
            </a:r>
            <a:endParaRPr lang="en-US" sz="1100" dirty="0"/>
          </a:p>
        </p:txBody>
      </p:sp>
      <p:sp>
        <p:nvSpPr>
          <p:cNvPr id="28" name="Text 26"/>
          <p:cNvSpPr/>
          <p:nvPr/>
        </p:nvSpPr>
        <p:spPr>
          <a:xfrm>
            <a:off x="3401568" y="4151376"/>
            <a:ext cx="2487168"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Streaming AI responses</a:t>
            </a:r>
            <a:endParaRPr lang="en-US" sz="1100" dirty="0"/>
          </a:p>
        </p:txBody>
      </p:sp>
      <p:sp>
        <p:nvSpPr>
          <p:cNvPr id="29" name="Shape 27"/>
          <p:cNvSpPr/>
          <p:nvPr/>
        </p:nvSpPr>
        <p:spPr>
          <a:xfrm>
            <a:off x="6181344" y="1097280"/>
            <a:ext cx="2743200" cy="363931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30" name="Shape 28"/>
          <p:cNvSpPr/>
          <p:nvPr/>
        </p:nvSpPr>
        <p:spPr>
          <a:xfrm>
            <a:off x="6181344" y="1097280"/>
            <a:ext cx="2743200" cy="73152"/>
          </a:xfrm>
          <a:prstGeom prst="rect">
            <a:avLst/>
          </a:prstGeom>
          <a:solidFill>
            <a:srgbClr val="EA580C"/>
          </a:solidFill>
          <a:ln/>
        </p:spPr>
      </p:sp>
      <p:sp>
        <p:nvSpPr>
          <p:cNvPr id="31" name="Text 29"/>
          <p:cNvSpPr/>
          <p:nvPr/>
        </p:nvSpPr>
        <p:spPr>
          <a:xfrm>
            <a:off x="6309360" y="1207008"/>
            <a:ext cx="2487168" cy="201168"/>
          </a:xfrm>
          <a:prstGeom prst="rect">
            <a:avLst/>
          </a:prstGeom>
          <a:noFill/>
          <a:ln/>
        </p:spPr>
        <p:txBody>
          <a:bodyPr wrap="square" lIns="0" tIns="0" rIns="0" bIns="0" rtlCol="0" anchor="ctr"/>
          <a:lstStyle/>
          <a:p>
            <a:pPr indent="0" marL="0">
              <a:buNone/>
            </a:pPr>
            <a:r>
              <a:rPr lang="en-US" sz="1000" b="1" spc="200" kern="0" dirty="0">
                <a:solidFill>
                  <a:srgbClr val="EA580C"/>
                </a:solidFill>
                <a:latin typeface="Calibri" pitchFamily="34" charset="0"/>
                <a:ea typeface="Calibri" pitchFamily="34" charset="-122"/>
                <a:cs typeface="Calibri" pitchFamily="34" charset="-120"/>
              </a:rPr>
              <a:t>PHASE 3</a:t>
            </a:r>
            <a:endParaRPr lang="en-US" sz="1000" dirty="0"/>
          </a:p>
        </p:txBody>
      </p:sp>
      <p:sp>
        <p:nvSpPr>
          <p:cNvPr id="32" name="Text 30"/>
          <p:cNvSpPr/>
          <p:nvPr/>
        </p:nvSpPr>
        <p:spPr>
          <a:xfrm>
            <a:off x="6309360" y="1426464"/>
            <a:ext cx="2487168" cy="384048"/>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Data Center Mode</a:t>
            </a:r>
            <a:endParaRPr lang="en-US" sz="1500" dirty="0"/>
          </a:p>
        </p:txBody>
      </p:sp>
      <p:sp>
        <p:nvSpPr>
          <p:cNvPr id="33" name="Text 31"/>
          <p:cNvSpPr/>
          <p:nvPr/>
        </p:nvSpPr>
        <p:spPr>
          <a:xfrm>
            <a:off x="6309360" y="1828800"/>
            <a:ext cx="2487168" cy="201168"/>
          </a:xfrm>
          <a:prstGeom prst="rect">
            <a:avLst/>
          </a:prstGeom>
          <a:noFill/>
          <a:ln/>
        </p:spPr>
        <p:txBody>
          <a:bodyPr wrap="square" lIns="0" tIns="0" rIns="0" bIns="0" rtlCol="0" anchor="ctr"/>
          <a:lstStyle/>
          <a:p>
            <a:pPr indent="0" marL="0">
              <a:buNone/>
            </a:pPr>
            <a:r>
              <a:rPr lang="en-US" sz="1000" b="1" dirty="0">
                <a:solidFill>
                  <a:srgbClr val="EA580C"/>
                </a:solidFill>
                <a:latin typeface="Calibri" pitchFamily="34" charset="0"/>
                <a:ea typeface="Calibri" pitchFamily="34" charset="-122"/>
                <a:cs typeface="Calibri" pitchFamily="34" charset="-120"/>
              </a:rPr>
              <a:t>✓ LIVE</a:t>
            </a:r>
            <a:endParaRPr lang="en-US" sz="1000" dirty="0"/>
          </a:p>
        </p:txBody>
      </p:sp>
      <p:sp>
        <p:nvSpPr>
          <p:cNvPr id="34" name="Shape 32"/>
          <p:cNvSpPr/>
          <p:nvPr/>
        </p:nvSpPr>
        <p:spPr>
          <a:xfrm>
            <a:off x="6309360" y="2066544"/>
            <a:ext cx="2487168" cy="18288"/>
          </a:xfrm>
          <a:prstGeom prst="rect">
            <a:avLst/>
          </a:prstGeom>
          <a:solidFill>
            <a:srgbClr val="E2E8F0"/>
          </a:solidFill>
          <a:ln/>
        </p:spPr>
      </p:sp>
      <p:sp>
        <p:nvSpPr>
          <p:cNvPr id="35" name="Text 33"/>
          <p:cNvSpPr/>
          <p:nvPr/>
        </p:nvSpPr>
        <p:spPr>
          <a:xfrm>
            <a:off x="6309360" y="2139696"/>
            <a:ext cx="2487168" cy="347472"/>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DC infrastructure scoring</a:t>
            </a:r>
            <a:endParaRPr lang="en-US" sz="1100" dirty="0"/>
          </a:p>
        </p:txBody>
      </p:sp>
      <p:sp>
        <p:nvSpPr>
          <p:cNvPr id="36" name="Text 34"/>
          <p:cNvSpPr/>
          <p:nvPr/>
        </p:nvSpPr>
        <p:spPr>
          <a:xfrm>
            <a:off x="6309360" y="2542032"/>
            <a:ext cx="2487168" cy="347472"/>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Power / Fiber / Water / Environ</a:t>
            </a:r>
            <a:endParaRPr lang="en-US" sz="1100" dirty="0"/>
          </a:p>
        </p:txBody>
      </p:sp>
      <p:sp>
        <p:nvSpPr>
          <p:cNvPr id="37" name="Text 35"/>
          <p:cNvSpPr/>
          <p:nvPr/>
        </p:nvSpPr>
        <p:spPr>
          <a:xfrm>
            <a:off x="6309360" y="2944368"/>
            <a:ext cx="2487168" cy="347472"/>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HIFLD-validated data</a:t>
            </a:r>
            <a:endParaRPr lang="en-US" sz="1100" dirty="0"/>
          </a:p>
        </p:txBody>
      </p:sp>
      <p:sp>
        <p:nvSpPr>
          <p:cNvPr id="38" name="Text 36"/>
          <p:cNvSpPr/>
          <p:nvPr/>
        </p:nvSpPr>
        <p:spPr>
          <a:xfrm>
            <a:off x="6309360" y="3346704"/>
            <a:ext cx="2487168" cy="347472"/>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Multi-site comparison</a:t>
            </a:r>
            <a:endParaRPr lang="en-US" sz="1100" dirty="0"/>
          </a:p>
        </p:txBody>
      </p:sp>
      <p:sp>
        <p:nvSpPr>
          <p:cNvPr id="39" name="Text 37"/>
          <p:cNvSpPr/>
          <p:nvPr/>
        </p:nvSpPr>
        <p:spPr>
          <a:xfrm>
            <a:off x="6309360" y="3749040"/>
            <a:ext cx="2487168" cy="347472"/>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AI consultant narrative</a:t>
            </a:r>
            <a:endParaRPr lang="en-US" sz="1100" dirty="0"/>
          </a:p>
        </p:txBody>
      </p:sp>
      <p:sp>
        <p:nvSpPr>
          <p:cNvPr id="40" name="Text 38"/>
          <p:cNvSpPr/>
          <p:nvPr/>
        </p:nvSpPr>
        <p:spPr>
          <a:xfrm>
            <a:off x="6309360" y="4151376"/>
            <a:ext cx="2487168" cy="347472"/>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  </a:t>
            </a:r>
            <a:pPr indent="0" marL="0">
              <a:buNone/>
            </a:pPr>
            <a:r>
              <a:rPr lang="en-US" sz="1100" dirty="0">
                <a:solidFill>
                  <a:srgbClr val="475569"/>
                </a:solidFill>
                <a:latin typeface="Calibri" pitchFamily="34" charset="0"/>
                <a:ea typeface="Calibri" pitchFamily="34" charset="-122"/>
                <a:cs typeface="Calibri" pitchFamily="34" charset="-120"/>
              </a:rPr>
              <a:t>Site Scout AI discovery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164592"/>
            <a:ext cx="274320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PHASE 1</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CRE Parcel Intelligence</a:t>
            </a:r>
            <a:endParaRPr lang="en-US" sz="2800" dirty="0"/>
          </a:p>
        </p:txBody>
      </p:sp>
      <p:sp>
        <p:nvSpPr>
          <p:cNvPr id="5" name="Shape 3"/>
          <p:cNvSpPr/>
          <p:nvPr/>
        </p:nvSpPr>
        <p:spPr>
          <a:xfrm>
            <a:off x="457200" y="1097280"/>
            <a:ext cx="3931920" cy="3639312"/>
          </a:xfrm>
          <a:prstGeom prst="rect">
            <a:avLst/>
          </a:prstGeom>
          <a:solidFill>
            <a:srgbClr val="0A0F1E"/>
          </a:solidFill>
          <a:ln/>
          <a:effectLst>
            <a:outerShdw sx="100000" sy="100000" kx="0" ky="0" algn="bl" rotWithShape="0" blurRad="101600" dist="25400" dir="8100000">
              <a:srgbClr val="000000">
                <a:alpha val="12000"/>
              </a:srgbClr>
            </a:outerShdw>
          </a:effectLst>
        </p:spPr>
      </p:sp>
      <p:sp>
        <p:nvSpPr>
          <p:cNvPr id="6" name="Text 4"/>
          <p:cNvSpPr/>
          <p:nvPr/>
        </p:nvSpPr>
        <p:spPr>
          <a:xfrm>
            <a:off x="585216" y="1225296"/>
            <a:ext cx="3675888"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LIVE MAP</a:t>
            </a:r>
            <a:endParaRPr lang="en-US" sz="900" dirty="0"/>
          </a:p>
        </p:txBody>
      </p:sp>
      <p:sp>
        <p:nvSpPr>
          <p:cNvPr id="7" name="Text 5"/>
          <p:cNvSpPr/>
          <p:nvPr/>
        </p:nvSpPr>
        <p:spPr>
          <a:xfrm>
            <a:off x="585216" y="1444752"/>
            <a:ext cx="3675888" cy="594360"/>
          </a:xfrm>
          <a:prstGeom prst="rect">
            <a:avLst/>
          </a:prstGeom>
          <a:noFill/>
          <a:ln/>
        </p:spPr>
        <p:txBody>
          <a:bodyPr wrap="square" lIns="0" tIns="0" rIns="0" bIns="0" rtlCol="0" anchor="ctr"/>
          <a:lstStyle/>
          <a:p>
            <a:pPr indent="0" marL="0">
              <a:buNone/>
            </a:pPr>
            <a:r>
              <a:rPr lang="en-US" sz="2200" b="1" dirty="0">
                <a:solidFill>
                  <a:srgbClr val="F1F5F9"/>
                </a:solidFill>
                <a:latin typeface="Georgia" pitchFamily="34" charset="0"/>
                <a:ea typeface="Georgia" pitchFamily="34" charset="-122"/>
                <a:cs typeface="Georgia" pitchFamily="34" charset="-120"/>
              </a:rPr>
              <a:t>307,811 parcels</a:t>
            </a:r>
            <a:endParaRPr lang="en-US" sz="2200" dirty="0"/>
          </a:p>
          <a:p>
            <a:pPr indent="0" marL="0">
              <a:buNone/>
            </a:pPr>
            <a:r>
              <a:rPr lang="en-US" sz="2200" b="1" dirty="0">
                <a:solidFill>
                  <a:srgbClr val="F1F5F9"/>
                </a:solidFill>
                <a:latin typeface="Georgia" pitchFamily="34" charset="0"/>
                <a:ea typeface="Georgia" pitchFamily="34" charset="-122"/>
                <a:cs typeface="Georgia" pitchFamily="34" charset="-120"/>
              </a:rPr>
              <a:t>Gwinnett County</a:t>
            </a:r>
            <a:endParaRPr lang="en-US" sz="2200" dirty="0"/>
          </a:p>
        </p:txBody>
      </p:sp>
      <p:sp>
        <p:nvSpPr>
          <p:cNvPr id="8" name="Text 6"/>
          <p:cNvSpPr/>
          <p:nvPr/>
        </p:nvSpPr>
        <p:spPr>
          <a:xfrm>
            <a:off x="585216" y="2084832"/>
            <a:ext cx="3675888" cy="10972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Loads dynamically by viewport. Parcels appear as you pan — bounding-box queries fire on every map move, fetching only what's visible. Click any parcel for an instant preview card, then open the full property panel.</a:t>
            </a:r>
            <a:endParaRPr lang="en-US" sz="1100" dirty="0"/>
          </a:p>
        </p:txBody>
      </p:sp>
      <p:sp>
        <p:nvSpPr>
          <p:cNvPr id="9" name="Shape 7"/>
          <p:cNvSpPr/>
          <p:nvPr/>
        </p:nvSpPr>
        <p:spPr>
          <a:xfrm>
            <a:off x="585216" y="3218688"/>
            <a:ext cx="3675888" cy="1170432"/>
          </a:xfrm>
          <a:prstGeom prst="rect">
            <a:avLst/>
          </a:prstGeom>
          <a:solidFill>
            <a:srgbClr val="141A2E"/>
          </a:solidFill>
          <a:ln/>
        </p:spPr>
      </p:sp>
      <p:sp>
        <p:nvSpPr>
          <p:cNvPr id="10" name="Text 8"/>
          <p:cNvSpPr/>
          <p:nvPr/>
        </p:nvSpPr>
        <p:spPr>
          <a:xfrm>
            <a:off x="658368" y="3291840"/>
            <a:ext cx="3529584" cy="1024128"/>
          </a:xfrm>
          <a:prstGeom prst="rect">
            <a:avLst/>
          </a:prstGeom>
          <a:noFill/>
          <a:ln/>
        </p:spPr>
        <p:txBody>
          <a:bodyPr wrap="square" lIns="0" tIns="0" rIns="0" bIns="0" rtlCol="0" anchor="t"/>
          <a:lstStyle/>
          <a:p>
            <a:pPr indent="0" marL="0">
              <a:buNone/>
            </a:pPr>
            <a:r>
              <a:rPr lang="en-US" sz="950" dirty="0">
                <a:solidFill>
                  <a:srgbClr val="A8D8A8"/>
                </a:solidFill>
                <a:latin typeface="Courier New" pitchFamily="34" charset="0"/>
                <a:ea typeface="Courier New" pitchFamily="34" charset="-122"/>
                <a:cs typeface="Courier New" pitchFamily="34" charset="-120"/>
              </a:rPr>
              <a:t>GET /api/parcels/bbox</a:t>
            </a:r>
            <a:endParaRPr lang="en-US" sz="950" dirty="0"/>
          </a:p>
          <a:p>
            <a:pPr indent="0" marL="0">
              <a:buNone/>
            </a:pPr>
            <a:r>
              <a:rPr lang="en-US" sz="950" dirty="0">
                <a:solidFill>
                  <a:srgbClr val="A8D8A8"/>
                </a:solidFill>
                <a:latin typeface="Courier New" pitchFamily="34" charset="0"/>
                <a:ea typeface="Courier New" pitchFamily="34" charset="-122"/>
                <a:cs typeface="Courier New" pitchFamily="34" charset="-120"/>
              </a:rPr>
              <a:t>?west=-84.22&amp;south=33.89</a:t>
            </a:r>
            <a:endParaRPr lang="en-US" sz="950" dirty="0"/>
          </a:p>
          <a:p>
            <a:pPr indent="0" marL="0">
              <a:buNone/>
            </a:pPr>
            <a:r>
              <a:rPr lang="en-US" sz="950" dirty="0">
                <a:solidFill>
                  <a:srgbClr val="A8D8A8"/>
                </a:solidFill>
                <a:latin typeface="Courier New" pitchFamily="34" charset="0"/>
                <a:ea typeface="Courier New" pitchFamily="34" charset="-122"/>
                <a:cs typeface="Courier New" pitchFamily="34" charset="-120"/>
              </a:rPr>
              <a:t>&amp;east=-84.10&amp;north=33.98</a:t>
            </a:r>
            <a:endParaRPr lang="en-US" sz="950" dirty="0"/>
          </a:p>
          <a:p>
            <a:pPr indent="0" marL="0">
              <a:buNone/>
            </a:pPr>
            <a:r>
              <a:rPr lang="en-US" sz="950" dirty="0">
                <a:solidFill>
                  <a:srgbClr val="A8D8A8"/>
                </a:solidFill>
                <a:latin typeface="Courier New" pitchFamily="34" charset="0"/>
                <a:ea typeface="Courier New" pitchFamily="34" charset="-122"/>
                <a:cs typeface="Courier New" pitchFamily="34" charset="-120"/>
              </a:rPr>
              <a:t>→ GeoJSON FeatureCollection</a:t>
            </a:r>
            <a:endParaRPr lang="en-US" sz="950" dirty="0"/>
          </a:p>
          <a:p>
            <a:pPr indent="0" marL="0">
              <a:buNone/>
            </a:pPr>
            <a:r>
              <a:rPr lang="en-US" sz="950" dirty="0">
                <a:solidFill>
                  <a:srgbClr val="A8D8A8"/>
                </a:solidFill>
                <a:latin typeface="Courier New" pitchFamily="34" charset="0"/>
                <a:ea typeface="Courier New" pitchFamily="34" charset="-122"/>
                <a:cs typeface="Courier New" pitchFamily="34" charset="-120"/>
              </a:rPr>
              <a:t>   307K parcels, live county data</a:t>
            </a:r>
            <a:endParaRPr lang="en-US" sz="950" dirty="0"/>
          </a:p>
        </p:txBody>
      </p:sp>
      <p:sp>
        <p:nvSpPr>
          <p:cNvPr id="11" name="Shape 9"/>
          <p:cNvSpPr/>
          <p:nvPr/>
        </p:nvSpPr>
        <p:spPr>
          <a:xfrm>
            <a:off x="4663440" y="1097280"/>
            <a:ext cx="4251960" cy="80467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2" name="Shape 10"/>
          <p:cNvSpPr/>
          <p:nvPr/>
        </p:nvSpPr>
        <p:spPr>
          <a:xfrm>
            <a:off x="4663440" y="1097280"/>
            <a:ext cx="54864" cy="804672"/>
          </a:xfrm>
          <a:prstGeom prst="rect">
            <a:avLst/>
          </a:prstGeom>
          <a:solidFill>
            <a:srgbClr val="0D9488"/>
          </a:solidFill>
          <a:ln/>
        </p:spPr>
      </p:sp>
      <p:sp>
        <p:nvSpPr>
          <p:cNvPr id="13" name="Text 11"/>
          <p:cNvSpPr/>
          <p:nvPr/>
        </p:nvSpPr>
        <p:spPr>
          <a:xfrm>
            <a:off x="4754880" y="1225296"/>
            <a:ext cx="402336"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5212080" y="1170432"/>
            <a:ext cx="3584448" cy="237744"/>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One-Click Property Panel</a:t>
            </a:r>
            <a:endParaRPr lang="en-US" sz="1300" dirty="0"/>
          </a:p>
        </p:txBody>
      </p:sp>
      <p:sp>
        <p:nvSpPr>
          <p:cNvPr id="15" name="Text 13"/>
          <p:cNvSpPr/>
          <p:nvPr/>
        </p:nvSpPr>
        <p:spPr>
          <a:xfrm>
            <a:off x="5212080" y="1408176"/>
            <a:ext cx="3584448" cy="42062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Ownership, assessed values, deed history, legal description — fetched on demand from county tax table.</a:t>
            </a:r>
            <a:endParaRPr lang="en-US" sz="1050" dirty="0"/>
          </a:p>
        </p:txBody>
      </p:sp>
      <p:sp>
        <p:nvSpPr>
          <p:cNvPr id="16" name="Shape 14"/>
          <p:cNvSpPr/>
          <p:nvPr/>
        </p:nvSpPr>
        <p:spPr>
          <a:xfrm>
            <a:off x="4663440" y="2011680"/>
            <a:ext cx="4251960" cy="80467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7" name="Shape 15"/>
          <p:cNvSpPr/>
          <p:nvPr/>
        </p:nvSpPr>
        <p:spPr>
          <a:xfrm>
            <a:off x="4663440" y="2011680"/>
            <a:ext cx="54864" cy="804672"/>
          </a:xfrm>
          <a:prstGeom prst="rect">
            <a:avLst/>
          </a:prstGeom>
          <a:solidFill>
            <a:srgbClr val="0D9488"/>
          </a:solidFill>
          <a:ln/>
        </p:spPr>
      </p:sp>
      <p:sp>
        <p:nvSpPr>
          <p:cNvPr id="18" name="Text 16"/>
          <p:cNvSpPr/>
          <p:nvPr/>
        </p:nvSpPr>
        <p:spPr>
          <a:xfrm>
            <a:off x="4754880" y="2139696"/>
            <a:ext cx="402336"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5212080" y="2084832"/>
            <a:ext cx="3584448" cy="237744"/>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LLC Entity Lookup</a:t>
            </a:r>
            <a:endParaRPr lang="en-US" sz="1300" dirty="0"/>
          </a:p>
        </p:txBody>
      </p:sp>
      <p:sp>
        <p:nvSpPr>
          <p:cNvPr id="20" name="Text 18"/>
          <p:cNvSpPr/>
          <p:nvPr/>
        </p:nvSpPr>
        <p:spPr>
          <a:xfrm>
            <a:off x="5212080" y="2322576"/>
            <a:ext cx="3584448" cy="42062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Resolves beneficial ownership behind single-purpose LLCs. Cross-references GA Secretary of State records and surfaces related portfolio properties.</a:t>
            </a:r>
            <a:endParaRPr lang="en-US" sz="1050" dirty="0"/>
          </a:p>
        </p:txBody>
      </p:sp>
      <p:sp>
        <p:nvSpPr>
          <p:cNvPr id="21" name="Shape 19"/>
          <p:cNvSpPr/>
          <p:nvPr/>
        </p:nvSpPr>
        <p:spPr>
          <a:xfrm>
            <a:off x="4663440" y="2926080"/>
            <a:ext cx="4251960" cy="80467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22" name="Shape 20"/>
          <p:cNvSpPr/>
          <p:nvPr/>
        </p:nvSpPr>
        <p:spPr>
          <a:xfrm>
            <a:off x="4663440" y="2926080"/>
            <a:ext cx="54864" cy="804672"/>
          </a:xfrm>
          <a:prstGeom prst="rect">
            <a:avLst/>
          </a:prstGeom>
          <a:solidFill>
            <a:srgbClr val="0D9488"/>
          </a:solidFill>
          <a:ln/>
        </p:spPr>
      </p:sp>
      <p:sp>
        <p:nvSpPr>
          <p:cNvPr id="23" name="Text 21"/>
          <p:cNvSpPr/>
          <p:nvPr/>
        </p:nvSpPr>
        <p:spPr>
          <a:xfrm>
            <a:off x="4754880" y="3054096"/>
            <a:ext cx="402336"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ext 22"/>
          <p:cNvSpPr/>
          <p:nvPr/>
        </p:nvSpPr>
        <p:spPr>
          <a:xfrm>
            <a:off x="5212080" y="2999232"/>
            <a:ext cx="3584448" cy="237744"/>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Zoning Overlay</a:t>
            </a:r>
            <a:endParaRPr lang="en-US" sz="1300" dirty="0"/>
          </a:p>
        </p:txBody>
      </p:sp>
      <p:sp>
        <p:nvSpPr>
          <p:cNvPr id="25" name="Text 23"/>
          <p:cNvSpPr/>
          <p:nvPr/>
        </p:nvSpPr>
        <p:spPr>
          <a:xfrm>
            <a:off x="5212080" y="3236976"/>
            <a:ext cx="3584448" cy="42062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County zoning polygons with color-coded classification. Toggleable alongside parcel boundaries, saved pins, and road labels.</a:t>
            </a:r>
            <a:endParaRPr lang="en-US" sz="1050" dirty="0"/>
          </a:p>
        </p:txBody>
      </p:sp>
      <p:sp>
        <p:nvSpPr>
          <p:cNvPr id="26" name="Shape 24"/>
          <p:cNvSpPr/>
          <p:nvPr/>
        </p:nvSpPr>
        <p:spPr>
          <a:xfrm>
            <a:off x="4663440" y="3840480"/>
            <a:ext cx="4251960" cy="804672"/>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27" name="Shape 25"/>
          <p:cNvSpPr/>
          <p:nvPr/>
        </p:nvSpPr>
        <p:spPr>
          <a:xfrm>
            <a:off x="4663440" y="3840480"/>
            <a:ext cx="54864" cy="804672"/>
          </a:xfrm>
          <a:prstGeom prst="rect">
            <a:avLst/>
          </a:prstGeom>
          <a:solidFill>
            <a:srgbClr val="0D9488"/>
          </a:solidFill>
          <a:ln/>
        </p:spPr>
      </p:sp>
      <p:sp>
        <p:nvSpPr>
          <p:cNvPr id="28" name="Text 26"/>
          <p:cNvSpPr/>
          <p:nvPr/>
        </p:nvSpPr>
        <p:spPr>
          <a:xfrm>
            <a:off x="4754880" y="3968496"/>
            <a:ext cx="402336"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9" name="Text 27"/>
          <p:cNvSpPr/>
          <p:nvPr/>
        </p:nvSpPr>
        <p:spPr>
          <a:xfrm>
            <a:off x="5212080" y="3913632"/>
            <a:ext cx="3584448" cy="237744"/>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Saved Collections</a:t>
            </a:r>
            <a:endParaRPr lang="en-US" sz="1300" dirty="0"/>
          </a:p>
        </p:txBody>
      </p:sp>
      <p:sp>
        <p:nvSpPr>
          <p:cNvPr id="30" name="Text 28"/>
          <p:cNvSpPr/>
          <p:nvPr/>
        </p:nvSpPr>
        <p:spPr>
          <a:xfrm>
            <a:off x="5212080" y="4151376"/>
            <a:ext cx="3584448" cy="420624"/>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Bookmark parcels into named project folders. Team-shareable via Supabase — sync across sessions.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7C3AED"/>
          </a:solidFill>
          <a:ln/>
        </p:spPr>
      </p:sp>
      <p:sp>
        <p:nvSpPr>
          <p:cNvPr id="3" name="Text 1"/>
          <p:cNvSpPr/>
          <p:nvPr/>
        </p:nvSpPr>
        <p:spPr>
          <a:xfrm>
            <a:off x="457200" y="164592"/>
            <a:ext cx="2743200" cy="201168"/>
          </a:xfrm>
          <a:prstGeom prst="rect">
            <a:avLst/>
          </a:prstGeom>
          <a:noFill/>
          <a:ln/>
        </p:spPr>
        <p:txBody>
          <a:bodyPr wrap="square" lIns="0" tIns="0" rIns="0" bIns="0" rtlCol="0" anchor="ctr"/>
          <a:lstStyle/>
          <a:p>
            <a:pPr indent="0" marL="0">
              <a:buNone/>
            </a:pPr>
            <a:r>
              <a:rPr lang="en-US" sz="900" b="1" spc="300" kern="0" dirty="0">
                <a:solidFill>
                  <a:srgbClr val="7C3AED"/>
                </a:solidFill>
                <a:latin typeface="Calibri" pitchFamily="34" charset="0"/>
                <a:ea typeface="Calibri" pitchFamily="34" charset="-122"/>
                <a:cs typeface="Calibri" pitchFamily="34" charset="-120"/>
              </a:rPr>
              <a:t>PHASE 2</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AI Site Intelligence</a:t>
            </a:r>
            <a:endParaRPr lang="en-US" sz="2800" dirty="0"/>
          </a:p>
        </p:txBody>
      </p:sp>
      <p:sp>
        <p:nvSpPr>
          <p:cNvPr id="5" name="Shape 3"/>
          <p:cNvSpPr/>
          <p:nvPr/>
        </p:nvSpPr>
        <p:spPr>
          <a:xfrm>
            <a:off x="457200" y="1097280"/>
            <a:ext cx="3931920" cy="3657600"/>
          </a:xfrm>
          <a:prstGeom prst="rect">
            <a:avLst/>
          </a:prstGeom>
          <a:solidFill>
            <a:srgbClr val="0A0F1E"/>
          </a:solidFill>
          <a:ln/>
          <a:effectLst>
            <a:outerShdw sx="100000" sy="100000" kx="0" ky="0" algn="bl" rotWithShape="0" blurRad="101600" dist="25400" dir="8100000">
              <a:srgbClr val="000000">
                <a:alpha val="12000"/>
              </a:srgbClr>
            </a:outerShdw>
          </a:effectLst>
        </p:spPr>
      </p:sp>
      <p:sp>
        <p:nvSpPr>
          <p:cNvPr id="6" name="Text 4"/>
          <p:cNvSpPr/>
          <p:nvPr/>
        </p:nvSpPr>
        <p:spPr>
          <a:xfrm>
            <a:off x="585216" y="1225296"/>
            <a:ext cx="3675888" cy="201168"/>
          </a:xfrm>
          <a:prstGeom prst="rect">
            <a:avLst/>
          </a:prstGeom>
          <a:noFill/>
          <a:ln/>
        </p:spPr>
        <p:txBody>
          <a:bodyPr wrap="square" lIns="0" tIns="0" rIns="0" bIns="0" rtlCol="0" anchor="ctr"/>
          <a:lstStyle/>
          <a:p>
            <a:pPr indent="0" marL="0">
              <a:buNone/>
            </a:pPr>
            <a:r>
              <a:rPr lang="en-US" sz="900" b="1" spc="300" kern="0" dirty="0">
                <a:solidFill>
                  <a:srgbClr val="7C3AED"/>
                </a:solidFill>
                <a:latin typeface="Calibri" pitchFamily="34" charset="0"/>
                <a:ea typeface="Calibri" pitchFamily="34" charset="-122"/>
                <a:cs typeface="Calibri" pitchFamily="34" charset="-120"/>
              </a:rPr>
              <a:t>AI SITE SCORE</a:t>
            </a:r>
            <a:endParaRPr lang="en-US" sz="900" dirty="0"/>
          </a:p>
        </p:txBody>
      </p:sp>
      <p:sp>
        <p:nvSpPr>
          <p:cNvPr id="7" name="Text 5"/>
          <p:cNvSpPr/>
          <p:nvPr/>
        </p:nvSpPr>
        <p:spPr>
          <a:xfrm>
            <a:off x="585216" y="1426464"/>
            <a:ext cx="1828800" cy="749808"/>
          </a:xfrm>
          <a:prstGeom prst="rect">
            <a:avLst/>
          </a:prstGeom>
          <a:noFill/>
          <a:ln/>
        </p:spPr>
        <p:txBody>
          <a:bodyPr wrap="square" lIns="0" tIns="0" rIns="0" bIns="0" rtlCol="0" anchor="t"/>
          <a:lstStyle/>
          <a:p>
            <a:pPr indent="0" marL="0">
              <a:buNone/>
            </a:pPr>
            <a:r>
              <a:rPr lang="en-US" sz="6600" b="1" dirty="0">
                <a:solidFill>
                  <a:srgbClr val="7C3AED"/>
                </a:solidFill>
                <a:latin typeface="Georgia" pitchFamily="34" charset="0"/>
                <a:ea typeface="Georgia" pitchFamily="34" charset="-122"/>
                <a:cs typeface="Georgia" pitchFamily="34" charset="-120"/>
              </a:rPr>
              <a:t>74</a:t>
            </a:r>
            <a:endParaRPr lang="en-US" sz="6600" dirty="0"/>
          </a:p>
        </p:txBody>
      </p:sp>
      <p:sp>
        <p:nvSpPr>
          <p:cNvPr id="8" name="Text 6"/>
          <p:cNvSpPr/>
          <p:nvPr/>
        </p:nvSpPr>
        <p:spPr>
          <a:xfrm>
            <a:off x="585216" y="2176272"/>
            <a:ext cx="1828800" cy="329184"/>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 100</a:t>
            </a:r>
            <a:endParaRPr lang="en-US" sz="1800" dirty="0"/>
          </a:p>
        </p:txBody>
      </p:sp>
      <p:sp>
        <p:nvSpPr>
          <p:cNvPr id="9" name="Text 7"/>
          <p:cNvSpPr/>
          <p:nvPr/>
        </p:nvSpPr>
        <p:spPr>
          <a:xfrm>
            <a:off x="585216" y="2578608"/>
            <a:ext cx="1828800" cy="25603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Zoning Fit</a:t>
            </a:r>
            <a:endParaRPr lang="en-US" sz="1200" dirty="0"/>
          </a:p>
        </p:txBody>
      </p:sp>
      <p:sp>
        <p:nvSpPr>
          <p:cNvPr id="10" name="Shape 8"/>
          <p:cNvSpPr/>
          <p:nvPr/>
        </p:nvSpPr>
        <p:spPr>
          <a:xfrm>
            <a:off x="2505456" y="2633472"/>
            <a:ext cx="1188720" cy="146304"/>
          </a:xfrm>
          <a:prstGeom prst="rect">
            <a:avLst/>
          </a:prstGeom>
          <a:solidFill>
            <a:srgbClr val="E2E8F0"/>
          </a:solidFill>
          <a:ln/>
        </p:spPr>
      </p:sp>
      <p:sp>
        <p:nvSpPr>
          <p:cNvPr id="11" name="Shape 9"/>
          <p:cNvSpPr/>
          <p:nvPr/>
        </p:nvSpPr>
        <p:spPr>
          <a:xfrm>
            <a:off x="2505456" y="2633472"/>
            <a:ext cx="1069848" cy="146304"/>
          </a:xfrm>
          <a:prstGeom prst="rect">
            <a:avLst/>
          </a:prstGeom>
          <a:solidFill>
            <a:srgbClr val="7C3AED"/>
          </a:solidFill>
          <a:ln/>
        </p:spPr>
      </p:sp>
      <p:sp>
        <p:nvSpPr>
          <p:cNvPr id="12" name="Text 10"/>
          <p:cNvSpPr/>
          <p:nvPr/>
        </p:nvSpPr>
        <p:spPr>
          <a:xfrm>
            <a:off x="3803904" y="2578608"/>
            <a:ext cx="73152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90/100</a:t>
            </a:r>
            <a:endParaRPr lang="en-US" sz="1200" dirty="0"/>
          </a:p>
        </p:txBody>
      </p:sp>
      <p:sp>
        <p:nvSpPr>
          <p:cNvPr id="13" name="Text 11"/>
          <p:cNvSpPr/>
          <p:nvPr/>
        </p:nvSpPr>
        <p:spPr>
          <a:xfrm>
            <a:off x="585216" y="2889504"/>
            <a:ext cx="1828800" cy="25603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Access</a:t>
            </a:r>
            <a:endParaRPr lang="en-US" sz="1200" dirty="0"/>
          </a:p>
        </p:txBody>
      </p:sp>
      <p:sp>
        <p:nvSpPr>
          <p:cNvPr id="14" name="Shape 12"/>
          <p:cNvSpPr/>
          <p:nvPr/>
        </p:nvSpPr>
        <p:spPr>
          <a:xfrm>
            <a:off x="2505456" y="2944368"/>
            <a:ext cx="1188720" cy="146304"/>
          </a:xfrm>
          <a:prstGeom prst="rect">
            <a:avLst/>
          </a:prstGeom>
          <a:solidFill>
            <a:srgbClr val="E2E8F0"/>
          </a:solidFill>
          <a:ln/>
        </p:spPr>
      </p:sp>
      <p:sp>
        <p:nvSpPr>
          <p:cNvPr id="15" name="Shape 13"/>
          <p:cNvSpPr/>
          <p:nvPr/>
        </p:nvSpPr>
        <p:spPr>
          <a:xfrm>
            <a:off x="2505456" y="2944368"/>
            <a:ext cx="950976" cy="146304"/>
          </a:xfrm>
          <a:prstGeom prst="rect">
            <a:avLst/>
          </a:prstGeom>
          <a:solidFill>
            <a:srgbClr val="7C3AED"/>
          </a:solidFill>
          <a:ln/>
        </p:spPr>
      </p:sp>
      <p:sp>
        <p:nvSpPr>
          <p:cNvPr id="16" name="Text 14"/>
          <p:cNvSpPr/>
          <p:nvPr/>
        </p:nvSpPr>
        <p:spPr>
          <a:xfrm>
            <a:off x="3803904" y="2889504"/>
            <a:ext cx="73152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80/100</a:t>
            </a:r>
            <a:endParaRPr lang="en-US" sz="1200" dirty="0"/>
          </a:p>
        </p:txBody>
      </p:sp>
      <p:sp>
        <p:nvSpPr>
          <p:cNvPr id="17" name="Text 15"/>
          <p:cNvSpPr/>
          <p:nvPr/>
        </p:nvSpPr>
        <p:spPr>
          <a:xfrm>
            <a:off x="585216" y="3200400"/>
            <a:ext cx="1828800" cy="25603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Market Actv.</a:t>
            </a:r>
            <a:endParaRPr lang="en-US" sz="1200" dirty="0"/>
          </a:p>
        </p:txBody>
      </p:sp>
      <p:sp>
        <p:nvSpPr>
          <p:cNvPr id="18" name="Shape 16"/>
          <p:cNvSpPr/>
          <p:nvPr/>
        </p:nvSpPr>
        <p:spPr>
          <a:xfrm>
            <a:off x="2505456" y="3255264"/>
            <a:ext cx="1188720" cy="146304"/>
          </a:xfrm>
          <a:prstGeom prst="rect">
            <a:avLst/>
          </a:prstGeom>
          <a:solidFill>
            <a:srgbClr val="E2E8F0"/>
          </a:solidFill>
          <a:ln/>
        </p:spPr>
      </p:sp>
      <p:sp>
        <p:nvSpPr>
          <p:cNvPr id="19" name="Shape 17"/>
          <p:cNvSpPr/>
          <p:nvPr/>
        </p:nvSpPr>
        <p:spPr>
          <a:xfrm>
            <a:off x="2505456" y="3255264"/>
            <a:ext cx="832104" cy="146304"/>
          </a:xfrm>
          <a:prstGeom prst="rect">
            <a:avLst/>
          </a:prstGeom>
          <a:solidFill>
            <a:srgbClr val="7C3AED"/>
          </a:solidFill>
          <a:ln/>
        </p:spPr>
      </p:sp>
      <p:sp>
        <p:nvSpPr>
          <p:cNvPr id="20" name="Text 18"/>
          <p:cNvSpPr/>
          <p:nvPr/>
        </p:nvSpPr>
        <p:spPr>
          <a:xfrm>
            <a:off x="3803904" y="3200400"/>
            <a:ext cx="73152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70/100</a:t>
            </a:r>
            <a:endParaRPr lang="en-US" sz="1200" dirty="0"/>
          </a:p>
        </p:txBody>
      </p:sp>
      <p:sp>
        <p:nvSpPr>
          <p:cNvPr id="21" name="Text 19"/>
          <p:cNvSpPr/>
          <p:nvPr/>
        </p:nvSpPr>
        <p:spPr>
          <a:xfrm>
            <a:off x="585216" y="3511296"/>
            <a:ext cx="1828800" cy="25603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Demographics</a:t>
            </a:r>
            <a:endParaRPr lang="en-US" sz="1200" dirty="0"/>
          </a:p>
        </p:txBody>
      </p:sp>
      <p:sp>
        <p:nvSpPr>
          <p:cNvPr id="22" name="Shape 20"/>
          <p:cNvSpPr/>
          <p:nvPr/>
        </p:nvSpPr>
        <p:spPr>
          <a:xfrm>
            <a:off x="2505456" y="3566160"/>
            <a:ext cx="1188720" cy="146304"/>
          </a:xfrm>
          <a:prstGeom prst="rect">
            <a:avLst/>
          </a:prstGeom>
          <a:solidFill>
            <a:srgbClr val="E2E8F0"/>
          </a:solidFill>
          <a:ln/>
        </p:spPr>
      </p:sp>
      <p:sp>
        <p:nvSpPr>
          <p:cNvPr id="23" name="Shape 21"/>
          <p:cNvSpPr/>
          <p:nvPr/>
        </p:nvSpPr>
        <p:spPr>
          <a:xfrm>
            <a:off x="2505456" y="3566160"/>
            <a:ext cx="772668" cy="146304"/>
          </a:xfrm>
          <a:prstGeom prst="rect">
            <a:avLst/>
          </a:prstGeom>
          <a:solidFill>
            <a:srgbClr val="7C3AED"/>
          </a:solidFill>
          <a:ln/>
        </p:spPr>
      </p:sp>
      <p:sp>
        <p:nvSpPr>
          <p:cNvPr id="24" name="Text 22"/>
          <p:cNvSpPr/>
          <p:nvPr/>
        </p:nvSpPr>
        <p:spPr>
          <a:xfrm>
            <a:off x="3803904" y="3511296"/>
            <a:ext cx="73152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65/100</a:t>
            </a:r>
            <a:endParaRPr lang="en-US" sz="1200" dirty="0"/>
          </a:p>
        </p:txBody>
      </p:sp>
      <p:sp>
        <p:nvSpPr>
          <p:cNvPr id="25" name="Text 23"/>
          <p:cNvSpPr/>
          <p:nvPr/>
        </p:nvSpPr>
        <p:spPr>
          <a:xfrm>
            <a:off x="585216" y="3822192"/>
            <a:ext cx="1828800" cy="25603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Infrastructure</a:t>
            </a:r>
            <a:endParaRPr lang="en-US" sz="1200" dirty="0"/>
          </a:p>
        </p:txBody>
      </p:sp>
      <p:sp>
        <p:nvSpPr>
          <p:cNvPr id="26" name="Shape 24"/>
          <p:cNvSpPr/>
          <p:nvPr/>
        </p:nvSpPr>
        <p:spPr>
          <a:xfrm>
            <a:off x="2505456" y="3877056"/>
            <a:ext cx="1188720" cy="146304"/>
          </a:xfrm>
          <a:prstGeom prst="rect">
            <a:avLst/>
          </a:prstGeom>
          <a:solidFill>
            <a:srgbClr val="E2E8F0"/>
          </a:solidFill>
          <a:ln/>
        </p:spPr>
      </p:sp>
      <p:sp>
        <p:nvSpPr>
          <p:cNvPr id="27" name="Shape 25"/>
          <p:cNvSpPr/>
          <p:nvPr/>
        </p:nvSpPr>
        <p:spPr>
          <a:xfrm>
            <a:off x="2505456" y="3877056"/>
            <a:ext cx="713232" cy="146304"/>
          </a:xfrm>
          <a:prstGeom prst="rect">
            <a:avLst/>
          </a:prstGeom>
          <a:solidFill>
            <a:srgbClr val="7C3AED"/>
          </a:solidFill>
          <a:ln/>
        </p:spPr>
      </p:sp>
      <p:sp>
        <p:nvSpPr>
          <p:cNvPr id="28" name="Text 26"/>
          <p:cNvSpPr/>
          <p:nvPr/>
        </p:nvSpPr>
        <p:spPr>
          <a:xfrm>
            <a:off x="3803904" y="3822192"/>
            <a:ext cx="73152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60/100</a:t>
            </a:r>
            <a:endParaRPr lang="en-US" sz="1200" dirty="0"/>
          </a:p>
        </p:txBody>
      </p:sp>
      <p:sp>
        <p:nvSpPr>
          <p:cNvPr id="29" name="Shape 27"/>
          <p:cNvSpPr/>
          <p:nvPr/>
        </p:nvSpPr>
        <p:spPr>
          <a:xfrm>
            <a:off x="4663440" y="1097280"/>
            <a:ext cx="4251960" cy="1115568"/>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30" name="Shape 28"/>
          <p:cNvSpPr/>
          <p:nvPr/>
        </p:nvSpPr>
        <p:spPr>
          <a:xfrm>
            <a:off x="4663440" y="1097280"/>
            <a:ext cx="54864" cy="1115568"/>
          </a:xfrm>
          <a:prstGeom prst="rect">
            <a:avLst/>
          </a:prstGeom>
          <a:solidFill>
            <a:srgbClr val="7C3AED"/>
          </a:solidFill>
          <a:ln/>
        </p:spPr>
      </p:sp>
      <p:sp>
        <p:nvSpPr>
          <p:cNvPr id="31" name="Text 29"/>
          <p:cNvSpPr/>
          <p:nvPr/>
        </p:nvSpPr>
        <p:spPr>
          <a:xfrm>
            <a:off x="4754880" y="1280160"/>
            <a:ext cx="402336" cy="40233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Text 30"/>
          <p:cNvSpPr/>
          <p:nvPr/>
        </p:nvSpPr>
        <p:spPr>
          <a:xfrm>
            <a:off x="5230368" y="1188720"/>
            <a:ext cx="35661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Zoning AI Chat</a:t>
            </a:r>
            <a:endParaRPr lang="en-US" sz="1300" dirty="0"/>
          </a:p>
        </p:txBody>
      </p:sp>
      <p:sp>
        <p:nvSpPr>
          <p:cNvPr id="33" name="Text 31"/>
          <p:cNvSpPr/>
          <p:nvPr/>
        </p:nvSpPr>
        <p:spPr>
          <a:xfrm>
            <a:off x="5230368" y="1481328"/>
            <a:ext cx="3566160" cy="62179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Ask any question about what can be built — drive-through approval, variance requirements, height limits. Answers grounded in county ordinance rules, not hallucinated.</a:t>
            </a:r>
            <a:endParaRPr lang="en-US" sz="1050" dirty="0"/>
          </a:p>
        </p:txBody>
      </p:sp>
      <p:sp>
        <p:nvSpPr>
          <p:cNvPr id="34" name="Shape 32"/>
          <p:cNvSpPr/>
          <p:nvPr/>
        </p:nvSpPr>
        <p:spPr>
          <a:xfrm>
            <a:off x="4663440" y="2322576"/>
            <a:ext cx="4251960" cy="1115568"/>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35" name="Shape 33"/>
          <p:cNvSpPr/>
          <p:nvPr/>
        </p:nvSpPr>
        <p:spPr>
          <a:xfrm>
            <a:off x="4663440" y="2322576"/>
            <a:ext cx="54864" cy="1115568"/>
          </a:xfrm>
          <a:prstGeom prst="rect">
            <a:avLst/>
          </a:prstGeom>
          <a:solidFill>
            <a:srgbClr val="7C3AED"/>
          </a:solidFill>
          <a:ln/>
        </p:spPr>
      </p:sp>
      <p:sp>
        <p:nvSpPr>
          <p:cNvPr id="36" name="Text 34"/>
          <p:cNvSpPr/>
          <p:nvPr/>
        </p:nvSpPr>
        <p:spPr>
          <a:xfrm>
            <a:off x="4754880" y="2505456"/>
            <a:ext cx="402336" cy="40233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7" name="Text 35"/>
          <p:cNvSpPr/>
          <p:nvPr/>
        </p:nvSpPr>
        <p:spPr>
          <a:xfrm>
            <a:off x="5230368" y="2414016"/>
            <a:ext cx="35661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Comparable Sales</a:t>
            </a:r>
            <a:endParaRPr lang="en-US" sz="1300" dirty="0"/>
          </a:p>
        </p:txBody>
      </p:sp>
      <p:sp>
        <p:nvSpPr>
          <p:cNvPr id="38" name="Text 36"/>
          <p:cNvSpPr/>
          <p:nvPr/>
        </p:nvSpPr>
        <p:spPr>
          <a:xfrm>
            <a:off x="5230368" y="2706624"/>
            <a:ext cx="3566160" cy="62179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Auto-surfaces 5 comparable land sales within configurable radius and time window. Derives implied value range. Spatial query against live county data.</a:t>
            </a:r>
            <a:endParaRPr lang="en-US" sz="1050" dirty="0"/>
          </a:p>
        </p:txBody>
      </p:sp>
      <p:sp>
        <p:nvSpPr>
          <p:cNvPr id="39" name="Shape 37"/>
          <p:cNvSpPr/>
          <p:nvPr/>
        </p:nvSpPr>
        <p:spPr>
          <a:xfrm>
            <a:off x="4663440" y="3547872"/>
            <a:ext cx="4251960" cy="1115568"/>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40" name="Shape 38"/>
          <p:cNvSpPr/>
          <p:nvPr/>
        </p:nvSpPr>
        <p:spPr>
          <a:xfrm>
            <a:off x="4663440" y="3547872"/>
            <a:ext cx="54864" cy="1115568"/>
          </a:xfrm>
          <a:prstGeom prst="rect">
            <a:avLst/>
          </a:prstGeom>
          <a:solidFill>
            <a:srgbClr val="7C3AED"/>
          </a:solidFill>
          <a:ln/>
        </p:spPr>
      </p:sp>
      <p:sp>
        <p:nvSpPr>
          <p:cNvPr id="41" name="Text 39"/>
          <p:cNvSpPr/>
          <p:nvPr/>
        </p:nvSpPr>
        <p:spPr>
          <a:xfrm>
            <a:off x="4754880" y="3730752"/>
            <a:ext cx="402336" cy="40233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2" name="Text 40"/>
          <p:cNvSpPr/>
          <p:nvPr/>
        </p:nvSpPr>
        <p:spPr>
          <a:xfrm>
            <a:off x="5230368" y="3639312"/>
            <a:ext cx="356616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Investment Brief</a:t>
            </a:r>
            <a:endParaRPr lang="en-US" sz="1300" dirty="0"/>
          </a:p>
        </p:txBody>
      </p:sp>
      <p:sp>
        <p:nvSpPr>
          <p:cNvPr id="43" name="Text 41"/>
          <p:cNvSpPr/>
          <p:nvPr/>
        </p:nvSpPr>
        <p:spPr>
          <a:xfrm>
            <a:off x="5230368" y="3931920"/>
            <a:ext cx="3566160" cy="62179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One-click generation of a 1-2 page structured investment memo — site score, zoning summary, comps, risks, next steps. Streams in real time.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A580C"/>
          </a:solidFill>
          <a:ln/>
        </p:spPr>
      </p:sp>
      <p:sp>
        <p:nvSpPr>
          <p:cNvPr id="3" name="Text 1"/>
          <p:cNvSpPr/>
          <p:nvPr/>
        </p:nvSpPr>
        <p:spPr>
          <a:xfrm>
            <a:off x="457200" y="164592"/>
            <a:ext cx="4572000" cy="201168"/>
          </a:xfrm>
          <a:prstGeom prst="rect">
            <a:avLst/>
          </a:prstGeom>
          <a:noFill/>
          <a:ln/>
        </p:spPr>
        <p:txBody>
          <a:bodyPr wrap="square" lIns="0" tIns="0" rIns="0" bIns="0" rtlCol="0" anchor="ctr"/>
          <a:lstStyle/>
          <a:p>
            <a:pPr indent="0" marL="0">
              <a:buNone/>
            </a:pPr>
            <a:r>
              <a:rPr lang="en-US" sz="900" b="1" spc="300" kern="0" dirty="0">
                <a:solidFill>
                  <a:srgbClr val="EA580C"/>
                </a:solidFill>
                <a:latin typeface="Calibri" pitchFamily="34" charset="0"/>
                <a:ea typeface="Calibri" pitchFamily="34" charset="-122"/>
                <a:cs typeface="Calibri" pitchFamily="34" charset="-120"/>
              </a:rPr>
              <a:t>PHASE 3 — DATA CENTER MODE</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Infrastructure Scoring Against Live Federal Data</a:t>
            </a:r>
            <a:endParaRPr lang="en-US" sz="2600" dirty="0"/>
          </a:p>
        </p:txBody>
      </p:sp>
      <p:sp>
        <p:nvSpPr>
          <p:cNvPr id="5" name="Text 3"/>
          <p:cNvSpPr/>
          <p:nvPr/>
        </p:nvSpPr>
        <p:spPr>
          <a:xfrm>
            <a:off x="457200" y="1024128"/>
            <a:ext cx="8229600" cy="38404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Switch any parcel into DC Mode. Five dimensions score simultaneously against HIFLD federal infrastructure datasets — the same data used by utilities and government planners.</a:t>
            </a:r>
            <a:endParaRPr lang="en-US" sz="1250" dirty="0"/>
          </a:p>
        </p:txBody>
      </p:sp>
      <p:sp>
        <p:nvSpPr>
          <p:cNvPr id="6" name="Shape 4"/>
          <p:cNvSpPr/>
          <p:nvPr/>
        </p:nvSpPr>
        <p:spPr>
          <a:xfrm>
            <a:off x="457200" y="1554480"/>
            <a:ext cx="8458200" cy="621792"/>
          </a:xfrm>
          <a:prstGeom prst="rect">
            <a:avLst/>
          </a:prstGeom>
          <a:solidFill>
            <a:srgbClr val="FFFFFF"/>
          </a:solidFill>
          <a:ln/>
        </p:spPr>
      </p:sp>
      <p:sp>
        <p:nvSpPr>
          <p:cNvPr id="7" name="Shape 5"/>
          <p:cNvSpPr/>
          <p:nvPr/>
        </p:nvSpPr>
        <p:spPr>
          <a:xfrm>
            <a:off x="457200" y="1554480"/>
            <a:ext cx="45720" cy="621792"/>
          </a:xfrm>
          <a:prstGeom prst="rect">
            <a:avLst/>
          </a:prstGeom>
          <a:solidFill>
            <a:srgbClr val="EA580C"/>
          </a:solidFill>
          <a:ln/>
        </p:spPr>
      </p:sp>
      <p:sp>
        <p:nvSpPr>
          <p:cNvPr id="8" name="Text 6"/>
          <p:cNvSpPr/>
          <p:nvPr/>
        </p:nvSpPr>
        <p:spPr>
          <a:xfrm>
            <a:off x="566928" y="1645920"/>
            <a:ext cx="384048"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1005840" y="1627632"/>
            <a:ext cx="164592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Power</a:t>
            </a:r>
            <a:endParaRPr lang="en-US" sz="1400" dirty="0"/>
          </a:p>
        </p:txBody>
      </p:sp>
      <p:sp>
        <p:nvSpPr>
          <p:cNvPr id="10" name="Text 8"/>
          <p:cNvSpPr/>
          <p:nvPr/>
        </p:nvSpPr>
        <p:spPr>
          <a:xfrm>
            <a:off x="1005840" y="1901952"/>
            <a:ext cx="1645920" cy="201168"/>
          </a:xfrm>
          <a:prstGeom prst="rect">
            <a:avLst/>
          </a:prstGeom>
          <a:noFill/>
          <a:ln/>
        </p:spPr>
        <p:txBody>
          <a:bodyPr wrap="square" lIns="0" tIns="0" rIns="0" bIns="0" rtlCol="0" anchor="ctr"/>
          <a:lstStyle/>
          <a:p>
            <a:pPr indent="0" marL="0">
              <a:buNone/>
            </a:pPr>
            <a:r>
              <a:rPr lang="en-US" sz="1000" b="1" dirty="0">
                <a:solidFill>
                  <a:srgbClr val="EA580C"/>
                </a:solidFill>
                <a:latin typeface="Calibri" pitchFamily="34" charset="0"/>
                <a:ea typeface="Calibri" pitchFamily="34" charset="-122"/>
                <a:cs typeface="Calibri" pitchFamily="34" charset="-120"/>
              </a:rPr>
              <a:t>30%</a:t>
            </a:r>
            <a:endParaRPr lang="en-US" sz="1000" dirty="0"/>
          </a:p>
        </p:txBody>
      </p:sp>
      <p:sp>
        <p:nvSpPr>
          <p:cNvPr id="11" name="Text 9"/>
          <p:cNvSpPr/>
          <p:nvPr/>
        </p:nvSpPr>
        <p:spPr>
          <a:xfrm>
            <a:off x="2724912" y="1664208"/>
            <a:ext cx="6035040" cy="402336"/>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Nearest substation distance, kV rating, redundant feed potential, TX line access</a:t>
            </a:r>
            <a:endParaRPr lang="en-US" sz="1100" dirty="0"/>
          </a:p>
        </p:txBody>
      </p:sp>
      <p:sp>
        <p:nvSpPr>
          <p:cNvPr id="12" name="Shape 10"/>
          <p:cNvSpPr/>
          <p:nvPr/>
        </p:nvSpPr>
        <p:spPr>
          <a:xfrm>
            <a:off x="457200" y="2231136"/>
            <a:ext cx="8458200" cy="621792"/>
          </a:xfrm>
          <a:prstGeom prst="rect">
            <a:avLst/>
          </a:prstGeom>
          <a:solidFill>
            <a:srgbClr val="F8FAFC"/>
          </a:solidFill>
          <a:ln/>
        </p:spPr>
      </p:sp>
      <p:sp>
        <p:nvSpPr>
          <p:cNvPr id="13" name="Shape 11"/>
          <p:cNvSpPr/>
          <p:nvPr/>
        </p:nvSpPr>
        <p:spPr>
          <a:xfrm>
            <a:off x="457200" y="2231136"/>
            <a:ext cx="45720" cy="621792"/>
          </a:xfrm>
          <a:prstGeom prst="rect">
            <a:avLst/>
          </a:prstGeom>
          <a:solidFill>
            <a:srgbClr val="7C3AED"/>
          </a:solidFill>
          <a:ln/>
        </p:spPr>
      </p:sp>
      <p:sp>
        <p:nvSpPr>
          <p:cNvPr id="14" name="Text 12"/>
          <p:cNvSpPr/>
          <p:nvPr/>
        </p:nvSpPr>
        <p:spPr>
          <a:xfrm>
            <a:off x="566928" y="2322576"/>
            <a:ext cx="384048"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1005840" y="2304288"/>
            <a:ext cx="164592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Fiber</a:t>
            </a:r>
            <a:endParaRPr lang="en-US" sz="1400" dirty="0"/>
          </a:p>
        </p:txBody>
      </p:sp>
      <p:sp>
        <p:nvSpPr>
          <p:cNvPr id="16" name="Text 14"/>
          <p:cNvSpPr/>
          <p:nvPr/>
        </p:nvSpPr>
        <p:spPr>
          <a:xfrm>
            <a:off x="1005840" y="2578608"/>
            <a:ext cx="1645920" cy="201168"/>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25%</a:t>
            </a:r>
            <a:endParaRPr lang="en-US" sz="1000" dirty="0"/>
          </a:p>
        </p:txBody>
      </p:sp>
      <p:sp>
        <p:nvSpPr>
          <p:cNvPr id="17" name="Text 15"/>
          <p:cNvSpPr/>
          <p:nvPr/>
        </p:nvSpPr>
        <p:spPr>
          <a:xfrm>
            <a:off x="2724912" y="2340864"/>
            <a:ext cx="6035040" cy="402336"/>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FCC carrier count, Tier-1 presence, proximity to Atlanta fiber exchange (TIE)</a:t>
            </a:r>
            <a:endParaRPr lang="en-US" sz="1100" dirty="0"/>
          </a:p>
        </p:txBody>
      </p:sp>
      <p:sp>
        <p:nvSpPr>
          <p:cNvPr id="18" name="Shape 16"/>
          <p:cNvSpPr/>
          <p:nvPr/>
        </p:nvSpPr>
        <p:spPr>
          <a:xfrm>
            <a:off x="457200" y="2907792"/>
            <a:ext cx="8458200" cy="621792"/>
          </a:xfrm>
          <a:prstGeom prst="rect">
            <a:avLst/>
          </a:prstGeom>
          <a:solidFill>
            <a:srgbClr val="FFFFFF"/>
          </a:solidFill>
          <a:ln/>
        </p:spPr>
      </p:sp>
      <p:sp>
        <p:nvSpPr>
          <p:cNvPr id="19" name="Shape 17"/>
          <p:cNvSpPr/>
          <p:nvPr/>
        </p:nvSpPr>
        <p:spPr>
          <a:xfrm>
            <a:off x="457200" y="2907792"/>
            <a:ext cx="45720" cy="621792"/>
          </a:xfrm>
          <a:prstGeom prst="rect">
            <a:avLst/>
          </a:prstGeom>
          <a:solidFill>
            <a:srgbClr val="0284C7"/>
          </a:solidFill>
          <a:ln/>
        </p:spPr>
      </p:sp>
      <p:sp>
        <p:nvSpPr>
          <p:cNvPr id="20" name="Text 18"/>
          <p:cNvSpPr/>
          <p:nvPr/>
        </p:nvSpPr>
        <p:spPr>
          <a:xfrm>
            <a:off x="566928" y="2999232"/>
            <a:ext cx="384048"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1" name="Text 19"/>
          <p:cNvSpPr/>
          <p:nvPr/>
        </p:nvSpPr>
        <p:spPr>
          <a:xfrm>
            <a:off x="1005840" y="2980944"/>
            <a:ext cx="164592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Water</a:t>
            </a:r>
            <a:endParaRPr lang="en-US" sz="1400" dirty="0"/>
          </a:p>
        </p:txBody>
      </p:sp>
      <p:sp>
        <p:nvSpPr>
          <p:cNvPr id="22" name="Text 20"/>
          <p:cNvSpPr/>
          <p:nvPr/>
        </p:nvSpPr>
        <p:spPr>
          <a:xfrm>
            <a:off x="1005840" y="3255264"/>
            <a:ext cx="1645920" cy="201168"/>
          </a:xfrm>
          <a:prstGeom prst="rect">
            <a:avLst/>
          </a:prstGeom>
          <a:noFill/>
          <a:ln/>
        </p:spPr>
        <p:txBody>
          <a:bodyPr wrap="square" lIns="0" tIns="0" rIns="0" bIns="0" rtlCol="0" anchor="ctr"/>
          <a:lstStyle/>
          <a:p>
            <a:pPr indent="0" marL="0">
              <a:buNone/>
            </a:pPr>
            <a:r>
              <a:rPr lang="en-US" sz="1000" b="1" dirty="0">
                <a:solidFill>
                  <a:srgbClr val="0284C7"/>
                </a:solidFill>
                <a:latin typeface="Calibri" pitchFamily="34" charset="0"/>
                <a:ea typeface="Calibri" pitchFamily="34" charset="-122"/>
                <a:cs typeface="Calibri" pitchFamily="34" charset="-120"/>
              </a:rPr>
              <a:t>20%</a:t>
            </a:r>
            <a:endParaRPr lang="en-US" sz="1000" dirty="0"/>
          </a:p>
        </p:txBody>
      </p:sp>
      <p:sp>
        <p:nvSpPr>
          <p:cNvPr id="23" name="Text 21"/>
          <p:cNvSpPr/>
          <p:nvPr/>
        </p:nvSpPr>
        <p:spPr>
          <a:xfrm>
            <a:off x="2724912" y="3017520"/>
            <a:ext cx="6035040" cy="402336"/>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Municipal water service area, watershed access, cooling availability</a:t>
            </a:r>
            <a:endParaRPr lang="en-US" sz="1100" dirty="0"/>
          </a:p>
        </p:txBody>
      </p:sp>
      <p:sp>
        <p:nvSpPr>
          <p:cNvPr id="24" name="Shape 22"/>
          <p:cNvSpPr/>
          <p:nvPr/>
        </p:nvSpPr>
        <p:spPr>
          <a:xfrm>
            <a:off x="457200" y="3584448"/>
            <a:ext cx="8458200" cy="621792"/>
          </a:xfrm>
          <a:prstGeom prst="rect">
            <a:avLst/>
          </a:prstGeom>
          <a:solidFill>
            <a:srgbClr val="F8FAFC"/>
          </a:solidFill>
          <a:ln/>
        </p:spPr>
      </p:sp>
      <p:sp>
        <p:nvSpPr>
          <p:cNvPr id="25" name="Shape 23"/>
          <p:cNvSpPr/>
          <p:nvPr/>
        </p:nvSpPr>
        <p:spPr>
          <a:xfrm>
            <a:off x="457200" y="3584448"/>
            <a:ext cx="45720" cy="621792"/>
          </a:xfrm>
          <a:prstGeom prst="rect">
            <a:avLst/>
          </a:prstGeom>
          <a:solidFill>
            <a:srgbClr val="15803D"/>
          </a:solidFill>
          <a:ln/>
        </p:spPr>
      </p:sp>
      <p:sp>
        <p:nvSpPr>
          <p:cNvPr id="26" name="Text 24"/>
          <p:cNvSpPr/>
          <p:nvPr/>
        </p:nvSpPr>
        <p:spPr>
          <a:xfrm>
            <a:off x="566928" y="3675888"/>
            <a:ext cx="384048"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1005840" y="3657600"/>
            <a:ext cx="164592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Environmental</a:t>
            </a:r>
            <a:endParaRPr lang="en-US" sz="1400" dirty="0"/>
          </a:p>
        </p:txBody>
      </p:sp>
      <p:sp>
        <p:nvSpPr>
          <p:cNvPr id="28" name="Text 26"/>
          <p:cNvSpPr/>
          <p:nvPr/>
        </p:nvSpPr>
        <p:spPr>
          <a:xfrm>
            <a:off x="1005840" y="3931920"/>
            <a:ext cx="1645920" cy="201168"/>
          </a:xfrm>
          <a:prstGeom prst="rect">
            <a:avLst/>
          </a:prstGeom>
          <a:noFill/>
          <a:ln/>
        </p:spPr>
        <p:txBody>
          <a:bodyPr wrap="square" lIns="0" tIns="0" rIns="0" bIns="0"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15%</a:t>
            </a:r>
            <a:endParaRPr lang="en-US" sz="1000" dirty="0"/>
          </a:p>
        </p:txBody>
      </p:sp>
      <p:sp>
        <p:nvSpPr>
          <p:cNvPr id="29" name="Text 27"/>
          <p:cNvSpPr/>
          <p:nvPr/>
        </p:nvSpPr>
        <p:spPr>
          <a:xfrm>
            <a:off x="2724912" y="3694176"/>
            <a:ext cx="6035040" cy="402336"/>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FEMA flood zone (AE/VE = disqualified), seismic zone, wetlands, climate risk</a:t>
            </a:r>
            <a:endParaRPr lang="en-US" sz="1100" dirty="0"/>
          </a:p>
        </p:txBody>
      </p:sp>
      <p:sp>
        <p:nvSpPr>
          <p:cNvPr id="30" name="Shape 28"/>
          <p:cNvSpPr/>
          <p:nvPr/>
        </p:nvSpPr>
        <p:spPr>
          <a:xfrm>
            <a:off x="457200" y="4261104"/>
            <a:ext cx="8458200" cy="621792"/>
          </a:xfrm>
          <a:prstGeom prst="rect">
            <a:avLst/>
          </a:prstGeom>
          <a:solidFill>
            <a:srgbClr val="FFFFFF"/>
          </a:solidFill>
          <a:ln/>
        </p:spPr>
      </p:sp>
      <p:sp>
        <p:nvSpPr>
          <p:cNvPr id="31" name="Shape 29"/>
          <p:cNvSpPr/>
          <p:nvPr/>
        </p:nvSpPr>
        <p:spPr>
          <a:xfrm>
            <a:off x="457200" y="4261104"/>
            <a:ext cx="45720" cy="621792"/>
          </a:xfrm>
          <a:prstGeom prst="rect">
            <a:avLst/>
          </a:prstGeom>
          <a:solidFill>
            <a:srgbClr val="475569"/>
          </a:solidFill>
          <a:ln/>
        </p:spPr>
      </p:sp>
      <p:sp>
        <p:nvSpPr>
          <p:cNvPr id="32" name="Text 30"/>
          <p:cNvSpPr/>
          <p:nvPr/>
        </p:nvSpPr>
        <p:spPr>
          <a:xfrm>
            <a:off x="566928" y="4352544"/>
            <a:ext cx="384048"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3" name="Text 31"/>
          <p:cNvSpPr/>
          <p:nvPr/>
        </p:nvSpPr>
        <p:spPr>
          <a:xfrm>
            <a:off x="1005840" y="4334256"/>
            <a:ext cx="1645920" cy="27432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Composite</a:t>
            </a:r>
            <a:endParaRPr lang="en-US" sz="1400" dirty="0"/>
          </a:p>
        </p:txBody>
      </p:sp>
      <p:sp>
        <p:nvSpPr>
          <p:cNvPr id="34" name="Text 32"/>
          <p:cNvSpPr/>
          <p:nvPr/>
        </p:nvSpPr>
        <p:spPr>
          <a:xfrm>
            <a:off x="1005840" y="4608576"/>
            <a:ext cx="1645920" cy="201168"/>
          </a:xfrm>
          <a:prstGeom prst="rect">
            <a:avLst/>
          </a:prstGeom>
          <a:noFill/>
          <a:ln/>
        </p:spPr>
        <p:txBody>
          <a:bodyPr wrap="square" lIns="0" tIns="0" rIns="0" bIns="0" rtlCol="0" anchor="ctr"/>
          <a:lstStyle/>
          <a:p>
            <a:pPr indent="0" marL="0">
              <a:buNone/>
            </a:pPr>
            <a:r>
              <a:rPr lang="en-US" sz="1000" b="1" dirty="0">
                <a:solidFill>
                  <a:srgbClr val="475569"/>
                </a:solidFill>
                <a:latin typeface="Calibri" pitchFamily="34" charset="0"/>
                <a:ea typeface="Calibri" pitchFamily="34" charset="-122"/>
                <a:cs typeface="Calibri" pitchFamily="34" charset="-120"/>
              </a:rPr>
              <a:t>10%</a:t>
            </a:r>
            <a:endParaRPr lang="en-US" sz="1000" dirty="0"/>
          </a:p>
        </p:txBody>
      </p:sp>
      <p:sp>
        <p:nvSpPr>
          <p:cNvPr id="35" name="Text 33"/>
          <p:cNvSpPr/>
          <p:nvPr/>
        </p:nvSpPr>
        <p:spPr>
          <a:xfrm>
            <a:off x="2724912" y="4370832"/>
            <a:ext cx="6035040" cy="402336"/>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Weighted aggregate — score &lt; 40 or any hard disqualifier = site flagged</a:t>
            </a:r>
            <a:endParaRPr lang="en-US" sz="1100" dirty="0"/>
          </a:p>
        </p:txBody>
      </p:sp>
      <p:sp>
        <p:nvSpPr>
          <p:cNvPr id="36" name="Shape 34"/>
          <p:cNvSpPr/>
          <p:nvPr/>
        </p:nvSpPr>
        <p:spPr>
          <a:xfrm>
            <a:off x="457200" y="4956048"/>
            <a:ext cx="8458200" cy="18288"/>
          </a:xfrm>
          <a:prstGeom prst="rect">
            <a:avLst/>
          </a:prstGeom>
          <a:solidFill>
            <a:srgbClr val="E2E8F0"/>
          </a:solidFill>
          <a:ln/>
        </p:spPr>
      </p:sp>
      <p:sp>
        <p:nvSpPr>
          <p:cNvPr id="37" name="Text 35"/>
          <p:cNvSpPr/>
          <p:nvPr/>
        </p:nvSpPr>
        <p:spPr>
          <a:xfrm>
            <a:off x="457200" y="4992624"/>
            <a:ext cx="8458200" cy="146304"/>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Data Source: HIFLD (Homeland Infrastructure Foundation-Level Data) — free federal ArcGIS FeatureServers for substations and transmission lines.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A580C"/>
          </a:solidFill>
          <a:ln/>
        </p:spPr>
      </p:sp>
      <p:sp>
        <p:nvSpPr>
          <p:cNvPr id="3" name="Text 1"/>
          <p:cNvSpPr/>
          <p:nvPr/>
        </p:nvSpPr>
        <p:spPr>
          <a:xfrm>
            <a:off x="457200" y="164592"/>
            <a:ext cx="5486400" cy="201168"/>
          </a:xfrm>
          <a:prstGeom prst="rect">
            <a:avLst/>
          </a:prstGeom>
          <a:noFill/>
          <a:ln/>
        </p:spPr>
        <p:txBody>
          <a:bodyPr wrap="square" lIns="0" tIns="0" rIns="0" bIns="0" rtlCol="0" anchor="ctr"/>
          <a:lstStyle/>
          <a:p>
            <a:pPr indent="0" marL="0">
              <a:buNone/>
            </a:pPr>
            <a:r>
              <a:rPr lang="en-US" sz="900" b="1" spc="300" kern="0" dirty="0">
                <a:solidFill>
                  <a:srgbClr val="EA580C"/>
                </a:solidFill>
                <a:latin typeface="Calibri" pitchFamily="34" charset="0"/>
                <a:ea typeface="Calibri" pitchFamily="34" charset="-122"/>
                <a:cs typeface="Calibri" pitchFamily="34" charset="-120"/>
              </a:rPr>
              <a:t>SITE SCOUT — AI DISCOVERY ENGINE</a:t>
            </a:r>
            <a:endParaRPr lang="en-US" sz="900" dirty="0"/>
          </a:p>
        </p:txBody>
      </p:sp>
      <p:sp>
        <p:nvSpPr>
          <p:cNvPr id="4" name="Text 2"/>
          <p:cNvSpPr/>
          <p:nvPr/>
        </p:nvSpPr>
        <p:spPr>
          <a:xfrm>
            <a:off x="457200" y="402336"/>
            <a:ext cx="8229600" cy="566928"/>
          </a:xfrm>
          <a:prstGeom prst="rect">
            <a:avLst/>
          </a:prstGeom>
          <a:noFill/>
          <a:ln/>
        </p:spPr>
        <p:txBody>
          <a:bodyPr wrap="square" lIns="0" tIns="0" rIns="0" bIns="0" rtlCol="0" anchor="ctr"/>
          <a:lstStyle/>
          <a:p>
            <a:pPr indent="0" marL="0">
              <a:buNone/>
            </a:pPr>
            <a:r>
              <a:rPr lang="en-US" sz="2800" b="1" dirty="0">
                <a:solidFill>
                  <a:srgbClr val="F1F5F9"/>
                </a:solidFill>
                <a:latin typeface="Georgia" pitchFamily="34" charset="0"/>
                <a:ea typeface="Georgia" pitchFamily="34" charset="-122"/>
                <a:cs typeface="Georgia" pitchFamily="34" charset="-120"/>
              </a:rPr>
              <a:t>Find the Site Before You Know Where to Look</a:t>
            </a:r>
            <a:endParaRPr lang="en-US" sz="2800" dirty="0"/>
          </a:p>
        </p:txBody>
      </p:sp>
      <p:sp>
        <p:nvSpPr>
          <p:cNvPr id="5" name="Shape 3"/>
          <p:cNvSpPr/>
          <p:nvPr/>
        </p:nvSpPr>
        <p:spPr>
          <a:xfrm>
            <a:off x="457200" y="1115568"/>
            <a:ext cx="3931920" cy="658368"/>
          </a:xfrm>
          <a:prstGeom prst="rect">
            <a:avLst/>
          </a:prstGeom>
          <a:solidFill>
            <a:srgbClr val="1E293B"/>
          </a:solidFill>
          <a:ln/>
          <a:effectLst>
            <a:outerShdw sx="100000" sy="100000" kx="0" ky="0" algn="bl" rotWithShape="0" blurRad="101600" dist="25400" dir="8100000">
              <a:srgbClr val="000000">
                <a:alpha val="12000"/>
              </a:srgbClr>
            </a:outerShdw>
          </a:effectLst>
        </p:spPr>
      </p:sp>
      <p:sp>
        <p:nvSpPr>
          <p:cNvPr id="6" name="Shape 4"/>
          <p:cNvSpPr/>
          <p:nvPr/>
        </p:nvSpPr>
        <p:spPr>
          <a:xfrm>
            <a:off x="457200" y="1115568"/>
            <a:ext cx="3931920" cy="36576"/>
          </a:xfrm>
          <a:prstGeom prst="rect">
            <a:avLst/>
          </a:prstGeom>
          <a:solidFill>
            <a:srgbClr val="EA580C"/>
          </a:solidFill>
          <a:ln/>
        </p:spPr>
      </p:sp>
      <p:sp>
        <p:nvSpPr>
          <p:cNvPr id="7" name="Text 5"/>
          <p:cNvSpPr/>
          <p:nvPr/>
        </p:nvSpPr>
        <p:spPr>
          <a:xfrm>
            <a:off x="585216" y="1170432"/>
            <a:ext cx="3675888" cy="548640"/>
          </a:xfrm>
          <a:prstGeom prst="rect">
            <a:avLst/>
          </a:prstGeom>
          <a:noFill/>
          <a:ln/>
        </p:spPr>
        <p:txBody>
          <a:bodyPr wrap="square" lIns="0" tIns="0" rIns="0" bIns="0" rtlCol="0" anchor="ctr"/>
          <a:lstStyle/>
          <a:p>
            <a:pPr indent="0" marL="0">
              <a:buNone/>
            </a:pPr>
            <a:r>
              <a:rPr lang="en-US" sz="1300" i="1" dirty="0">
                <a:solidFill>
                  <a:srgbClr val="FED7AA"/>
                </a:solidFill>
                <a:latin typeface="Calibri" pitchFamily="34" charset="0"/>
                <a:ea typeface="Calibri" pitchFamily="34" charset="-122"/>
                <a:cs typeface="Calibri" pitchFamily="34" charset="-120"/>
              </a:rPr>
              <a:t>"100MW hyperscale near I-85</a:t>
            </a:r>
            <a:endParaRPr lang="en-US" sz="1300" dirty="0"/>
          </a:p>
          <a:p>
            <a:pPr indent="0" marL="0">
              <a:buNone/>
            </a:pPr>
            <a:r>
              <a:rPr lang="en-US" sz="1300" i="1" dirty="0">
                <a:solidFill>
                  <a:srgbClr val="FED7AA"/>
                </a:solidFill>
                <a:latin typeface="Calibri" pitchFamily="34" charset="0"/>
                <a:ea typeface="Calibri" pitchFamily="34" charset="-122"/>
                <a:cs typeface="Calibri" pitchFamily="34" charset="-120"/>
              </a:rPr>
              <a:t>in Georgia, 230kV minimum"</a:t>
            </a:r>
            <a:endParaRPr lang="en-US" sz="1300" dirty="0"/>
          </a:p>
        </p:txBody>
      </p:sp>
      <p:sp>
        <p:nvSpPr>
          <p:cNvPr id="8" name="Shape 6"/>
          <p:cNvSpPr/>
          <p:nvPr/>
        </p:nvSpPr>
        <p:spPr>
          <a:xfrm>
            <a:off x="2212848" y="1828800"/>
            <a:ext cx="54864" cy="256032"/>
          </a:xfrm>
          <a:prstGeom prst="rect">
            <a:avLst/>
          </a:prstGeom>
          <a:solidFill>
            <a:srgbClr val="EA580C"/>
          </a:solidFill>
          <a:ln/>
        </p:spPr>
      </p:sp>
      <p:sp>
        <p:nvSpPr>
          <p:cNvPr id="9" name="Text 7"/>
          <p:cNvSpPr/>
          <p:nvPr/>
        </p:nvSpPr>
        <p:spPr>
          <a:xfrm>
            <a:off x="2084832" y="2029968"/>
            <a:ext cx="310896" cy="219456"/>
          </a:xfrm>
          <a:prstGeom prst="rect">
            <a:avLst/>
          </a:prstGeom>
          <a:noFill/>
          <a:ln/>
        </p:spPr>
        <p:txBody>
          <a:bodyPr wrap="square" lIns="0" tIns="0" rIns="0" bIns="0" rtlCol="0" anchor="ctr"/>
          <a:lstStyle/>
          <a:p>
            <a:pPr algn="ctr" indent="0" marL="0">
              <a:buNone/>
            </a:pPr>
            <a:r>
              <a:rPr lang="en-US" sz="1200" dirty="0">
                <a:solidFill>
                  <a:srgbClr val="EA580C"/>
                </a:solidFill>
              </a:rPr>
              <a:t>▼</a:t>
            </a:r>
            <a:endParaRPr lang="en-US" sz="1200" dirty="0"/>
          </a:p>
        </p:txBody>
      </p:sp>
      <p:sp>
        <p:nvSpPr>
          <p:cNvPr id="10" name="Shape 8"/>
          <p:cNvSpPr/>
          <p:nvPr/>
        </p:nvSpPr>
        <p:spPr>
          <a:xfrm>
            <a:off x="457200" y="2304288"/>
            <a:ext cx="3931920" cy="1170432"/>
          </a:xfrm>
          <a:prstGeom prst="rect">
            <a:avLst/>
          </a:prstGeom>
          <a:solidFill>
            <a:srgbClr val="1E293B"/>
          </a:solidFill>
          <a:ln/>
          <a:effectLst>
            <a:outerShdw sx="100000" sy="100000" kx="0" ky="0" algn="bl" rotWithShape="0" blurRad="101600" dist="25400" dir="8100000">
              <a:srgbClr val="000000">
                <a:alpha val="12000"/>
              </a:srgbClr>
            </a:outerShdw>
          </a:effectLst>
        </p:spPr>
      </p:sp>
      <p:sp>
        <p:nvSpPr>
          <p:cNvPr id="11" name="Shape 9"/>
          <p:cNvSpPr/>
          <p:nvPr/>
        </p:nvSpPr>
        <p:spPr>
          <a:xfrm>
            <a:off x="457200" y="2304288"/>
            <a:ext cx="54864" cy="1170432"/>
          </a:xfrm>
          <a:prstGeom prst="rect">
            <a:avLst/>
          </a:prstGeom>
          <a:solidFill>
            <a:srgbClr val="EA580C"/>
          </a:solidFill>
          <a:ln/>
        </p:spPr>
      </p:sp>
      <p:sp>
        <p:nvSpPr>
          <p:cNvPr id="12" name="Text 10"/>
          <p:cNvSpPr/>
          <p:nvPr/>
        </p:nvSpPr>
        <p:spPr>
          <a:xfrm>
            <a:off x="585216" y="2340864"/>
            <a:ext cx="3675888" cy="182880"/>
          </a:xfrm>
          <a:prstGeom prst="rect">
            <a:avLst/>
          </a:prstGeom>
          <a:noFill/>
          <a:ln/>
        </p:spPr>
        <p:txBody>
          <a:bodyPr wrap="square" lIns="0" tIns="0" rIns="0" bIns="0" rtlCol="0" anchor="ctr"/>
          <a:lstStyle/>
          <a:p>
            <a:pPr indent="0" marL="0">
              <a:buNone/>
            </a:pPr>
            <a:r>
              <a:rPr lang="en-US" sz="850" b="1" spc="200" kern="0" dirty="0">
                <a:solidFill>
                  <a:srgbClr val="EA580C"/>
                </a:solidFill>
                <a:latin typeface="Calibri" pitchFamily="34" charset="0"/>
                <a:ea typeface="Calibri" pitchFamily="34" charset="-122"/>
                <a:cs typeface="Calibri" pitchFamily="34" charset="-120"/>
              </a:rPr>
              <a:t>TIER 1 RESULT</a:t>
            </a:r>
            <a:endParaRPr lang="en-US" sz="850" dirty="0"/>
          </a:p>
        </p:txBody>
      </p:sp>
      <p:sp>
        <p:nvSpPr>
          <p:cNvPr id="13" name="Text 11"/>
          <p:cNvSpPr/>
          <p:nvPr/>
        </p:nvSpPr>
        <p:spPr>
          <a:xfrm>
            <a:off x="585216" y="2542032"/>
            <a:ext cx="3675888" cy="274320"/>
          </a:xfrm>
          <a:prstGeom prst="rect">
            <a:avLst/>
          </a:prstGeom>
          <a:noFill/>
          <a:ln/>
        </p:spPr>
        <p:txBody>
          <a:bodyPr wrap="square" lIns="0" tIns="0" rIns="0" bIns="0" rtlCol="0" anchor="ctr"/>
          <a:lstStyle/>
          <a:p>
            <a:pPr indent="0" marL="0">
              <a:buNone/>
            </a:pPr>
            <a:r>
              <a:rPr lang="en-US" sz="1400" b="1" dirty="0">
                <a:solidFill>
                  <a:srgbClr val="F1F5F9"/>
                </a:solidFill>
                <a:latin typeface="Georgia" pitchFamily="34" charset="0"/>
                <a:ea typeface="Georgia" pitchFamily="34" charset="-122"/>
                <a:cs typeface="Georgia" pitchFamily="34" charset="-120"/>
              </a:rPr>
              <a:t>Braselton / Commerce Corridor</a:t>
            </a:r>
            <a:endParaRPr lang="en-US" sz="1400" dirty="0"/>
          </a:p>
        </p:txBody>
      </p:sp>
      <p:sp>
        <p:nvSpPr>
          <p:cNvPr id="14" name="Text 12"/>
          <p:cNvSpPr/>
          <p:nvPr/>
        </p:nvSpPr>
        <p:spPr>
          <a:xfrm>
            <a:off x="585216" y="2816352"/>
            <a:ext cx="3675888" cy="219456"/>
          </a:xfrm>
          <a:prstGeom prst="rect">
            <a:avLst/>
          </a:prstGeom>
          <a:noFill/>
          <a:ln/>
        </p:spPr>
        <p:txBody>
          <a:bodyPr wrap="square" lIns="0" tIns="0" rIns="0" bIns="0" rtlCol="0" anchor="ctr"/>
          <a:lstStyle/>
          <a:p>
            <a:pPr indent="0" marL="0">
              <a:buNone/>
            </a:pPr>
            <a:r>
              <a:rPr lang="en-US" sz="1050" dirty="0">
                <a:solidFill>
                  <a:srgbClr val="EA580C"/>
                </a:solidFill>
                <a:latin typeface="Calibri" pitchFamily="34" charset="0"/>
                <a:ea typeface="Calibri" pitchFamily="34" charset="-122"/>
                <a:cs typeface="Calibri" pitchFamily="34" charset="-120"/>
              </a:rPr>
              <a:t>Score: 84  ·  3 substations validated  ·  Max 345kV</a:t>
            </a:r>
            <a:endParaRPr lang="en-US" sz="1050" dirty="0"/>
          </a:p>
        </p:txBody>
      </p:sp>
      <p:sp>
        <p:nvSpPr>
          <p:cNvPr id="15" name="Text 13"/>
          <p:cNvSpPr/>
          <p:nvPr/>
        </p:nvSpPr>
        <p:spPr>
          <a:xfrm>
            <a:off x="585216" y="3054096"/>
            <a:ext cx="3675888"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Established data center corridor along I-85NE with Georgia Power 345kV transmission infrastructure and active carrier exchange presence.</a:t>
            </a:r>
            <a:endParaRPr lang="en-US" sz="1000" dirty="0"/>
          </a:p>
        </p:txBody>
      </p:sp>
      <p:sp>
        <p:nvSpPr>
          <p:cNvPr id="16" name="Shape 14"/>
          <p:cNvSpPr/>
          <p:nvPr/>
        </p:nvSpPr>
        <p:spPr>
          <a:xfrm>
            <a:off x="2212848" y="3529584"/>
            <a:ext cx="54864" cy="256032"/>
          </a:xfrm>
          <a:prstGeom prst="rect">
            <a:avLst/>
          </a:prstGeom>
          <a:solidFill>
            <a:srgbClr val="EA580C"/>
          </a:solidFill>
          <a:ln/>
        </p:spPr>
      </p:sp>
      <p:sp>
        <p:nvSpPr>
          <p:cNvPr id="17" name="Text 15"/>
          <p:cNvSpPr/>
          <p:nvPr/>
        </p:nvSpPr>
        <p:spPr>
          <a:xfrm>
            <a:off x="2084832" y="3730752"/>
            <a:ext cx="310896" cy="219456"/>
          </a:xfrm>
          <a:prstGeom prst="rect">
            <a:avLst/>
          </a:prstGeom>
          <a:noFill/>
          <a:ln/>
        </p:spPr>
        <p:txBody>
          <a:bodyPr wrap="square" lIns="0" tIns="0" rIns="0" bIns="0" rtlCol="0" anchor="ctr"/>
          <a:lstStyle/>
          <a:p>
            <a:pPr algn="ctr" indent="0" marL="0">
              <a:buNone/>
            </a:pPr>
            <a:r>
              <a:rPr lang="en-US" sz="1200" dirty="0">
                <a:solidFill>
                  <a:srgbClr val="EA580C"/>
                </a:solidFill>
              </a:rPr>
              <a:t>▼</a:t>
            </a:r>
            <a:endParaRPr lang="en-US" sz="1200" dirty="0"/>
          </a:p>
        </p:txBody>
      </p:sp>
      <p:sp>
        <p:nvSpPr>
          <p:cNvPr id="18" name="Shape 16"/>
          <p:cNvSpPr/>
          <p:nvPr/>
        </p:nvSpPr>
        <p:spPr>
          <a:xfrm>
            <a:off x="457200" y="3986784"/>
            <a:ext cx="3931920" cy="914400"/>
          </a:xfrm>
          <a:prstGeom prst="rect">
            <a:avLst/>
          </a:prstGeom>
          <a:solidFill>
            <a:srgbClr val="1E293B"/>
          </a:solidFill>
          <a:ln/>
          <a:effectLst>
            <a:outerShdw sx="100000" sy="100000" kx="0" ky="0" algn="bl" rotWithShape="0" blurRad="101600" dist="25400" dir="8100000">
              <a:srgbClr val="000000">
                <a:alpha val="12000"/>
              </a:srgbClr>
            </a:outerShdw>
          </a:effectLst>
        </p:spPr>
      </p:sp>
      <p:sp>
        <p:nvSpPr>
          <p:cNvPr id="19" name="Shape 17"/>
          <p:cNvSpPr/>
          <p:nvPr/>
        </p:nvSpPr>
        <p:spPr>
          <a:xfrm>
            <a:off x="457200" y="3986784"/>
            <a:ext cx="54864" cy="914400"/>
          </a:xfrm>
          <a:prstGeom prst="rect">
            <a:avLst/>
          </a:prstGeom>
          <a:solidFill>
            <a:srgbClr val="0D9488"/>
          </a:solidFill>
          <a:ln/>
        </p:spPr>
      </p:sp>
      <p:sp>
        <p:nvSpPr>
          <p:cNvPr id="20" name="Text 18"/>
          <p:cNvSpPr/>
          <p:nvPr/>
        </p:nvSpPr>
        <p:spPr>
          <a:xfrm>
            <a:off x="585216" y="4023360"/>
            <a:ext cx="3675888" cy="182880"/>
          </a:xfrm>
          <a:prstGeom prst="rect">
            <a:avLst/>
          </a:prstGeom>
          <a:noFill/>
          <a:ln/>
        </p:spPr>
        <p:txBody>
          <a:bodyPr wrap="square" lIns="0" tIns="0" rIns="0" bIns="0" rtlCol="0" anchor="ctr"/>
          <a:lstStyle/>
          <a:p>
            <a:pPr indent="0" marL="0">
              <a:buNone/>
            </a:pPr>
            <a:r>
              <a:rPr lang="en-US" sz="850" b="1" spc="200" kern="0" dirty="0">
                <a:solidFill>
                  <a:srgbClr val="0D9488"/>
                </a:solidFill>
                <a:latin typeface="Calibri" pitchFamily="34" charset="0"/>
                <a:ea typeface="Calibri" pitchFamily="34" charset="-122"/>
                <a:cs typeface="Calibri" pitchFamily="34" charset="-120"/>
              </a:rPr>
              <a:t>TIER 2 — PARCEL SCORING</a:t>
            </a:r>
            <a:endParaRPr lang="en-US" sz="850" dirty="0"/>
          </a:p>
        </p:txBody>
      </p:sp>
      <p:sp>
        <p:nvSpPr>
          <p:cNvPr id="21" name="Text 19"/>
          <p:cNvSpPr/>
          <p:nvPr/>
        </p:nvSpPr>
        <p:spPr>
          <a:xfrm>
            <a:off x="585216" y="4224528"/>
            <a:ext cx="3675888" cy="60350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Top 5 parcels scored against live DC criteria. Numbered pins appear on map. Click any pin to open full analysis.</a:t>
            </a:r>
            <a:endParaRPr lang="en-US" sz="1050" dirty="0"/>
          </a:p>
        </p:txBody>
      </p:sp>
      <p:sp>
        <p:nvSpPr>
          <p:cNvPr id="22" name="Text 20"/>
          <p:cNvSpPr/>
          <p:nvPr/>
        </p:nvSpPr>
        <p:spPr>
          <a:xfrm>
            <a:off x="4663440" y="1115568"/>
            <a:ext cx="4251960" cy="274320"/>
          </a:xfrm>
          <a:prstGeom prst="rect">
            <a:avLst/>
          </a:prstGeom>
          <a:noFill/>
          <a:ln/>
        </p:spPr>
        <p:txBody>
          <a:bodyPr wrap="square" lIns="0" tIns="0" rIns="0" bIns="0" rtlCol="0" anchor="ctr"/>
          <a:lstStyle/>
          <a:p>
            <a:pPr indent="0" marL="0">
              <a:buNone/>
            </a:pPr>
            <a:r>
              <a:rPr lang="en-US" sz="1400" b="1" dirty="0">
                <a:solidFill>
                  <a:srgbClr val="F1F5F9"/>
                </a:solidFill>
                <a:latin typeface="Georgia" pitchFamily="34" charset="0"/>
                <a:ea typeface="Georgia" pitchFamily="34" charset="-122"/>
                <a:cs typeface="Georgia" pitchFamily="34" charset="-120"/>
              </a:rPr>
              <a:t>How It Works</a:t>
            </a:r>
            <a:endParaRPr lang="en-US" sz="1400" dirty="0"/>
          </a:p>
        </p:txBody>
      </p:sp>
      <p:sp>
        <p:nvSpPr>
          <p:cNvPr id="23" name="Shape 21"/>
          <p:cNvSpPr/>
          <p:nvPr/>
        </p:nvSpPr>
        <p:spPr>
          <a:xfrm>
            <a:off x="4663440" y="1517904"/>
            <a:ext cx="310896" cy="310896"/>
          </a:xfrm>
          <a:prstGeom prst="ellipse">
            <a:avLst/>
          </a:prstGeom>
          <a:solidFill>
            <a:srgbClr val="EA580C"/>
          </a:solidFill>
          <a:ln/>
        </p:spPr>
      </p:sp>
      <p:sp>
        <p:nvSpPr>
          <p:cNvPr id="24" name="Text 22"/>
          <p:cNvSpPr/>
          <p:nvPr/>
        </p:nvSpPr>
        <p:spPr>
          <a:xfrm>
            <a:off x="4663440" y="15179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25" name="Text 23"/>
          <p:cNvSpPr/>
          <p:nvPr/>
        </p:nvSpPr>
        <p:spPr>
          <a:xfrm>
            <a:off x="5047488" y="1463040"/>
            <a:ext cx="3840480" cy="256032"/>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NL → Structured Intent</a:t>
            </a:r>
            <a:endParaRPr lang="en-US" sz="1300" dirty="0"/>
          </a:p>
        </p:txBody>
      </p:sp>
      <p:sp>
        <p:nvSpPr>
          <p:cNvPr id="26" name="Text 24"/>
          <p:cNvSpPr/>
          <p:nvPr/>
        </p:nvSpPr>
        <p:spPr>
          <a:xfrm>
            <a:off x="5047488" y="1737360"/>
            <a:ext cx="3840480" cy="51206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Claude Haiku parses your plain-English query into a structured intent: MW target, minimum voltage, flood risk tolerance, region hint.</a:t>
            </a:r>
            <a:endParaRPr lang="en-US" sz="1050" dirty="0"/>
          </a:p>
        </p:txBody>
      </p:sp>
      <p:sp>
        <p:nvSpPr>
          <p:cNvPr id="27" name="Shape 25"/>
          <p:cNvSpPr/>
          <p:nvPr/>
        </p:nvSpPr>
        <p:spPr>
          <a:xfrm>
            <a:off x="4663440" y="2414016"/>
            <a:ext cx="310896" cy="310896"/>
          </a:xfrm>
          <a:prstGeom prst="ellipse">
            <a:avLst/>
          </a:prstGeom>
          <a:solidFill>
            <a:srgbClr val="EA580C"/>
          </a:solidFill>
          <a:ln/>
        </p:spPr>
      </p:sp>
      <p:sp>
        <p:nvSpPr>
          <p:cNvPr id="28" name="Text 26"/>
          <p:cNvSpPr/>
          <p:nvPr/>
        </p:nvSpPr>
        <p:spPr>
          <a:xfrm>
            <a:off x="4663440" y="24140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29" name="Text 27"/>
          <p:cNvSpPr/>
          <p:nvPr/>
        </p:nvSpPr>
        <p:spPr>
          <a:xfrm>
            <a:off x="5047488" y="2359152"/>
            <a:ext cx="3840480" cy="256032"/>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Geographic Reasoning</a:t>
            </a:r>
            <a:endParaRPr lang="en-US" sz="1300" dirty="0"/>
          </a:p>
        </p:txBody>
      </p:sp>
      <p:sp>
        <p:nvSpPr>
          <p:cNvPr id="30" name="Text 28"/>
          <p:cNvSpPr/>
          <p:nvPr/>
        </p:nvSpPr>
        <p:spPr>
          <a:xfrm>
            <a:off x="5047488" y="2633472"/>
            <a:ext cx="3840480" cy="51206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Claude Sonnet applies its knowledge of power corridors, data center clusters, and utility territories to generate candidate sub-markets with bounding boxes.</a:t>
            </a:r>
            <a:endParaRPr lang="en-US" sz="1050" dirty="0"/>
          </a:p>
        </p:txBody>
      </p:sp>
      <p:sp>
        <p:nvSpPr>
          <p:cNvPr id="31" name="Shape 29"/>
          <p:cNvSpPr/>
          <p:nvPr/>
        </p:nvSpPr>
        <p:spPr>
          <a:xfrm>
            <a:off x="4663440" y="3310128"/>
            <a:ext cx="310896" cy="310896"/>
          </a:xfrm>
          <a:prstGeom prst="ellipse">
            <a:avLst/>
          </a:prstGeom>
          <a:solidFill>
            <a:srgbClr val="0D9488"/>
          </a:solidFill>
          <a:ln/>
        </p:spPr>
      </p:sp>
      <p:sp>
        <p:nvSpPr>
          <p:cNvPr id="32" name="Text 30"/>
          <p:cNvSpPr/>
          <p:nvPr/>
        </p:nvSpPr>
        <p:spPr>
          <a:xfrm>
            <a:off x="4663440" y="33101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33" name="Text 31"/>
          <p:cNvSpPr/>
          <p:nvPr/>
        </p:nvSpPr>
        <p:spPr>
          <a:xfrm>
            <a:off x="5047488" y="3255264"/>
            <a:ext cx="3840480" cy="256032"/>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HIFLD Validation</a:t>
            </a:r>
            <a:endParaRPr lang="en-US" sz="1300" dirty="0"/>
          </a:p>
        </p:txBody>
      </p:sp>
      <p:sp>
        <p:nvSpPr>
          <p:cNvPr id="34" name="Text 32"/>
          <p:cNvSpPr/>
          <p:nvPr/>
        </p:nvSpPr>
        <p:spPr>
          <a:xfrm>
            <a:off x="5047488" y="3529584"/>
            <a:ext cx="3840480" cy="51206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Each candidate bbox is validated against live HIFLD substation data. Real substation count, actual voltage, real distances — no hallucination.</a:t>
            </a:r>
            <a:endParaRPr lang="en-US" sz="1050" dirty="0"/>
          </a:p>
        </p:txBody>
      </p:sp>
      <p:sp>
        <p:nvSpPr>
          <p:cNvPr id="35" name="Shape 33"/>
          <p:cNvSpPr/>
          <p:nvPr/>
        </p:nvSpPr>
        <p:spPr>
          <a:xfrm>
            <a:off x="4663440" y="4206240"/>
            <a:ext cx="310896" cy="310896"/>
          </a:xfrm>
          <a:prstGeom prst="ellipse">
            <a:avLst/>
          </a:prstGeom>
          <a:solidFill>
            <a:srgbClr val="0D9488"/>
          </a:solidFill>
          <a:ln/>
        </p:spPr>
      </p:sp>
      <p:sp>
        <p:nvSpPr>
          <p:cNvPr id="36" name="Text 34"/>
          <p:cNvSpPr/>
          <p:nvPr/>
        </p:nvSpPr>
        <p:spPr>
          <a:xfrm>
            <a:off x="4663440" y="42062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37" name="Text 35"/>
          <p:cNvSpPr/>
          <p:nvPr/>
        </p:nvSpPr>
        <p:spPr>
          <a:xfrm>
            <a:off x="5047488" y="4151376"/>
            <a:ext cx="3840480" cy="256032"/>
          </a:xfrm>
          <a:prstGeom prst="rect">
            <a:avLst/>
          </a:prstGeom>
          <a:noFill/>
          <a:ln/>
        </p:spPr>
        <p:txBody>
          <a:bodyPr wrap="square" lIns="0" tIns="0" rIns="0" bIns="0" rtlCol="0" anchor="ctr"/>
          <a:lstStyle/>
          <a:p>
            <a:pPr indent="0" marL="0">
              <a:buNone/>
            </a:pPr>
            <a:r>
              <a:rPr lang="en-US" sz="1300" b="1" dirty="0">
                <a:solidFill>
                  <a:srgbClr val="F1F5F9"/>
                </a:solidFill>
                <a:latin typeface="Georgia" pitchFamily="34" charset="0"/>
                <a:ea typeface="Georgia" pitchFamily="34" charset="-122"/>
                <a:cs typeface="Georgia" pitchFamily="34" charset="-120"/>
              </a:rPr>
              <a:t>Parcel-Level Scoring</a:t>
            </a:r>
            <a:endParaRPr lang="en-US" sz="1300" dirty="0"/>
          </a:p>
        </p:txBody>
      </p:sp>
      <p:sp>
        <p:nvSpPr>
          <p:cNvPr id="38" name="Text 36"/>
          <p:cNvSpPr/>
          <p:nvPr/>
        </p:nvSpPr>
        <p:spPr>
          <a:xfrm>
            <a:off x="5047488" y="4425696"/>
            <a:ext cx="3840480" cy="51206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Tier 2 fetches all viable parcels in the confirmed bbox, batch-scores them by infrastructure proximity, and fires full DC scoring on the top 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A580C"/>
          </a:solidFill>
          <a:ln/>
        </p:spPr>
      </p:sp>
      <p:sp>
        <p:nvSpPr>
          <p:cNvPr id="3" name="Text 1"/>
          <p:cNvSpPr/>
          <p:nvPr/>
        </p:nvSpPr>
        <p:spPr>
          <a:xfrm>
            <a:off x="457200" y="164592"/>
            <a:ext cx="5486400" cy="201168"/>
          </a:xfrm>
          <a:prstGeom prst="rect">
            <a:avLst/>
          </a:prstGeom>
          <a:noFill/>
          <a:ln/>
        </p:spPr>
        <p:txBody>
          <a:bodyPr wrap="square" lIns="0" tIns="0" rIns="0" bIns="0" rtlCol="0" anchor="ctr"/>
          <a:lstStyle/>
          <a:p>
            <a:pPr indent="0" marL="0">
              <a:buNone/>
            </a:pPr>
            <a:r>
              <a:rPr lang="en-US" sz="900" b="1" spc="300" kern="0" dirty="0">
                <a:solidFill>
                  <a:srgbClr val="EA580C"/>
                </a:solidFill>
                <a:latin typeface="Calibri" pitchFamily="34" charset="0"/>
                <a:ea typeface="Calibri" pitchFamily="34" charset="-122"/>
                <a:cs typeface="Calibri" pitchFamily="34" charset="-120"/>
              </a:rPr>
              <a:t>PHASE 3 — MULTI-SITE COMPARISON</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Compare Up to 4 Candidates. AI Consultant Narrative.</a:t>
            </a:r>
            <a:endParaRPr lang="en-US" sz="2600" dirty="0"/>
          </a:p>
        </p:txBody>
      </p:sp>
      <p:sp>
        <p:nvSpPr>
          <p:cNvPr id="5" name="Shape 3"/>
          <p:cNvSpPr/>
          <p:nvPr/>
        </p:nvSpPr>
        <p:spPr>
          <a:xfrm>
            <a:off x="1993392" y="1097280"/>
            <a:ext cx="6766560" cy="347472"/>
          </a:xfrm>
          <a:prstGeom prst="rect">
            <a:avLst/>
          </a:prstGeom>
          <a:solidFill>
            <a:srgbClr val="0A0F1E"/>
          </a:solidFill>
          <a:ln/>
        </p:spPr>
      </p:sp>
      <p:sp>
        <p:nvSpPr>
          <p:cNvPr id="6" name="Text 4"/>
          <p:cNvSpPr/>
          <p:nvPr/>
        </p:nvSpPr>
        <p:spPr>
          <a:xfrm>
            <a:off x="2194560" y="1097280"/>
            <a:ext cx="1993392" cy="34747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Site A</a:t>
            </a:r>
            <a:endParaRPr lang="en-US" sz="1000" dirty="0"/>
          </a:p>
          <a:p>
            <a:pPr algn="ctr" indent="0" marL="0">
              <a:buNone/>
            </a:pPr>
            <a:r>
              <a:rPr lang="en-US" sz="1000" b="1" dirty="0">
                <a:solidFill>
                  <a:srgbClr val="F1F5F9"/>
                </a:solidFill>
                <a:latin typeface="Calibri" pitchFamily="34" charset="0"/>
                <a:ea typeface="Calibri" pitchFamily="34" charset="-122"/>
                <a:cs typeface="Calibri" pitchFamily="34" charset="-120"/>
              </a:rPr>
              <a:t>Braselton</a:t>
            </a:r>
            <a:endParaRPr lang="en-US" sz="1000" dirty="0"/>
          </a:p>
        </p:txBody>
      </p:sp>
      <p:sp>
        <p:nvSpPr>
          <p:cNvPr id="7" name="Text 5"/>
          <p:cNvSpPr/>
          <p:nvPr/>
        </p:nvSpPr>
        <p:spPr>
          <a:xfrm>
            <a:off x="4187952" y="1097280"/>
            <a:ext cx="1993392" cy="34747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Site B</a:t>
            </a:r>
            <a:endParaRPr lang="en-US" sz="1000" dirty="0"/>
          </a:p>
          <a:p>
            <a:pPr algn="ctr" indent="0" marL="0">
              <a:buNone/>
            </a:pPr>
            <a:r>
              <a:rPr lang="en-US" sz="1000" b="1" dirty="0">
                <a:solidFill>
                  <a:srgbClr val="F1F5F9"/>
                </a:solidFill>
                <a:latin typeface="Calibri" pitchFamily="34" charset="0"/>
                <a:ea typeface="Calibri" pitchFamily="34" charset="-122"/>
                <a:cs typeface="Calibri" pitchFamily="34" charset="-120"/>
              </a:rPr>
              <a:t>Gainesville</a:t>
            </a:r>
            <a:endParaRPr lang="en-US" sz="1000" dirty="0"/>
          </a:p>
        </p:txBody>
      </p:sp>
      <p:sp>
        <p:nvSpPr>
          <p:cNvPr id="8" name="Text 6"/>
          <p:cNvSpPr/>
          <p:nvPr/>
        </p:nvSpPr>
        <p:spPr>
          <a:xfrm>
            <a:off x="6181344" y="1097280"/>
            <a:ext cx="1993392" cy="34747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Site C</a:t>
            </a:r>
            <a:endParaRPr lang="en-US" sz="1000" dirty="0"/>
          </a:p>
          <a:p>
            <a:pPr algn="ctr" indent="0" marL="0">
              <a:buNone/>
            </a:pPr>
            <a:r>
              <a:rPr lang="en-US" sz="1000" b="1" dirty="0">
                <a:solidFill>
                  <a:srgbClr val="F1F5F9"/>
                </a:solidFill>
                <a:latin typeface="Calibri" pitchFamily="34" charset="0"/>
                <a:ea typeface="Calibri" pitchFamily="34" charset="-122"/>
                <a:cs typeface="Calibri" pitchFamily="34" charset="-120"/>
              </a:rPr>
              <a:t>Coweta</a:t>
            </a:r>
            <a:endParaRPr lang="en-US" sz="1000" dirty="0"/>
          </a:p>
        </p:txBody>
      </p:sp>
      <p:sp>
        <p:nvSpPr>
          <p:cNvPr id="9" name="Shape 7"/>
          <p:cNvSpPr/>
          <p:nvPr/>
        </p:nvSpPr>
        <p:spPr>
          <a:xfrm>
            <a:off x="457200" y="1481328"/>
            <a:ext cx="8458200" cy="475488"/>
          </a:xfrm>
          <a:prstGeom prst="rect">
            <a:avLst/>
          </a:prstGeom>
          <a:solidFill>
            <a:srgbClr val="FFFFFF"/>
          </a:solidFill>
          <a:ln/>
        </p:spPr>
      </p:sp>
      <p:sp>
        <p:nvSpPr>
          <p:cNvPr id="10" name="Shape 8"/>
          <p:cNvSpPr/>
          <p:nvPr/>
        </p:nvSpPr>
        <p:spPr>
          <a:xfrm>
            <a:off x="457200" y="1481328"/>
            <a:ext cx="1508760" cy="475488"/>
          </a:xfrm>
          <a:prstGeom prst="rect">
            <a:avLst/>
          </a:prstGeom>
          <a:solidFill>
            <a:srgbClr val="FFFFFF"/>
          </a:solidFill>
          <a:ln/>
        </p:spPr>
      </p:sp>
      <p:sp>
        <p:nvSpPr>
          <p:cNvPr id="11" name="Text 9"/>
          <p:cNvSpPr/>
          <p:nvPr/>
        </p:nvSpPr>
        <p:spPr>
          <a:xfrm>
            <a:off x="548640" y="1572768"/>
            <a:ext cx="141732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Composite</a:t>
            </a:r>
            <a:endParaRPr lang="en-US" sz="1150" dirty="0"/>
          </a:p>
        </p:txBody>
      </p:sp>
      <p:sp>
        <p:nvSpPr>
          <p:cNvPr id="12" name="Shape 10"/>
          <p:cNvSpPr/>
          <p:nvPr/>
        </p:nvSpPr>
        <p:spPr>
          <a:xfrm>
            <a:off x="2596896" y="1536192"/>
            <a:ext cx="914400" cy="365760"/>
          </a:xfrm>
          <a:prstGeom prst="rect">
            <a:avLst/>
          </a:prstGeom>
          <a:solidFill>
            <a:srgbClr val="F0FDF4"/>
          </a:solidFill>
          <a:ln/>
        </p:spPr>
      </p:sp>
      <p:sp>
        <p:nvSpPr>
          <p:cNvPr id="13" name="Text 11"/>
          <p:cNvSpPr/>
          <p:nvPr/>
        </p:nvSpPr>
        <p:spPr>
          <a:xfrm>
            <a:off x="2596896" y="1536192"/>
            <a:ext cx="914400" cy="365760"/>
          </a:xfrm>
          <a:prstGeom prst="rect">
            <a:avLst/>
          </a:prstGeom>
          <a:noFill/>
          <a:ln/>
        </p:spPr>
        <p:txBody>
          <a:bodyPr wrap="square" lIns="0" tIns="0" rIns="0" bIns="0" rtlCol="0" anchor="ctr"/>
          <a:lstStyle/>
          <a:p>
            <a:pPr algn="ctr" indent="0" marL="0">
              <a:buNone/>
            </a:pPr>
            <a:r>
              <a:rPr lang="en-US" sz="1500" b="1" dirty="0">
                <a:solidFill>
                  <a:srgbClr val="15803D"/>
                </a:solidFill>
                <a:latin typeface="Georgia" pitchFamily="34" charset="0"/>
                <a:ea typeface="Georgia" pitchFamily="34" charset="-122"/>
                <a:cs typeface="Georgia" pitchFamily="34" charset="-120"/>
              </a:rPr>
              <a:t>88</a:t>
            </a:r>
            <a:endParaRPr lang="en-US" sz="1500" dirty="0"/>
          </a:p>
        </p:txBody>
      </p:sp>
      <p:sp>
        <p:nvSpPr>
          <p:cNvPr id="14" name="Shape 12"/>
          <p:cNvSpPr/>
          <p:nvPr/>
        </p:nvSpPr>
        <p:spPr>
          <a:xfrm>
            <a:off x="4590288" y="1536192"/>
            <a:ext cx="914400" cy="365760"/>
          </a:xfrm>
          <a:prstGeom prst="rect">
            <a:avLst/>
          </a:prstGeom>
          <a:solidFill>
            <a:srgbClr val="FFFFFF"/>
          </a:solidFill>
          <a:ln/>
        </p:spPr>
      </p:sp>
      <p:sp>
        <p:nvSpPr>
          <p:cNvPr id="15" name="Text 13"/>
          <p:cNvSpPr/>
          <p:nvPr/>
        </p:nvSpPr>
        <p:spPr>
          <a:xfrm>
            <a:off x="4590288" y="1536192"/>
            <a:ext cx="914400" cy="365760"/>
          </a:xfrm>
          <a:prstGeom prst="rect">
            <a:avLst/>
          </a:prstGeom>
          <a:noFill/>
          <a:ln/>
        </p:spPr>
        <p:txBody>
          <a:bodyPr wrap="square" lIns="0" tIns="0" rIns="0" bIns="0" rtlCol="0" anchor="ctr"/>
          <a:lstStyle/>
          <a:p>
            <a:pPr algn="ctr" indent="0" marL="0">
              <a:buNone/>
            </a:pPr>
            <a:r>
              <a:rPr lang="en-US" sz="1500" b="1" dirty="0">
                <a:solidFill>
                  <a:srgbClr val="475569"/>
                </a:solidFill>
                <a:latin typeface="Georgia" pitchFamily="34" charset="0"/>
                <a:ea typeface="Georgia" pitchFamily="34" charset="-122"/>
                <a:cs typeface="Georgia" pitchFamily="34" charset="-120"/>
              </a:rPr>
              <a:t>72</a:t>
            </a:r>
            <a:endParaRPr lang="en-US" sz="1500" dirty="0"/>
          </a:p>
        </p:txBody>
      </p:sp>
      <p:sp>
        <p:nvSpPr>
          <p:cNvPr id="16" name="Shape 14"/>
          <p:cNvSpPr/>
          <p:nvPr/>
        </p:nvSpPr>
        <p:spPr>
          <a:xfrm>
            <a:off x="6583680" y="1536192"/>
            <a:ext cx="914400" cy="365760"/>
          </a:xfrm>
          <a:prstGeom prst="rect">
            <a:avLst/>
          </a:prstGeom>
          <a:solidFill>
            <a:srgbClr val="FEF2F2"/>
          </a:solidFill>
          <a:ln/>
        </p:spPr>
      </p:sp>
      <p:sp>
        <p:nvSpPr>
          <p:cNvPr id="17" name="Text 15"/>
          <p:cNvSpPr/>
          <p:nvPr/>
        </p:nvSpPr>
        <p:spPr>
          <a:xfrm>
            <a:off x="6583680" y="1536192"/>
            <a:ext cx="914400" cy="365760"/>
          </a:xfrm>
          <a:prstGeom prst="rect">
            <a:avLst/>
          </a:prstGeom>
          <a:noFill/>
          <a:ln/>
        </p:spPr>
        <p:txBody>
          <a:bodyPr wrap="square" lIns="0" tIns="0" rIns="0" bIns="0" rtlCol="0" anchor="ctr"/>
          <a:lstStyle/>
          <a:p>
            <a:pPr algn="ctr" indent="0" marL="0">
              <a:buNone/>
            </a:pPr>
            <a:r>
              <a:rPr lang="en-US" sz="1500" b="1" dirty="0">
                <a:solidFill>
                  <a:srgbClr val="DC2626"/>
                </a:solidFill>
                <a:latin typeface="Georgia" pitchFamily="34" charset="0"/>
                <a:ea typeface="Georgia" pitchFamily="34" charset="-122"/>
                <a:cs typeface="Georgia" pitchFamily="34" charset="-120"/>
              </a:rPr>
              <a:t>64</a:t>
            </a:r>
            <a:endParaRPr lang="en-US" sz="1500" dirty="0"/>
          </a:p>
        </p:txBody>
      </p:sp>
      <p:sp>
        <p:nvSpPr>
          <p:cNvPr id="18" name="Shape 16"/>
          <p:cNvSpPr/>
          <p:nvPr/>
        </p:nvSpPr>
        <p:spPr>
          <a:xfrm>
            <a:off x="457200" y="1993392"/>
            <a:ext cx="8458200" cy="475488"/>
          </a:xfrm>
          <a:prstGeom prst="rect">
            <a:avLst/>
          </a:prstGeom>
          <a:solidFill>
            <a:srgbClr val="F8FAFC"/>
          </a:solidFill>
          <a:ln/>
        </p:spPr>
      </p:sp>
      <p:sp>
        <p:nvSpPr>
          <p:cNvPr id="19" name="Shape 17"/>
          <p:cNvSpPr/>
          <p:nvPr/>
        </p:nvSpPr>
        <p:spPr>
          <a:xfrm>
            <a:off x="457200" y="1993392"/>
            <a:ext cx="1508760" cy="475488"/>
          </a:xfrm>
          <a:prstGeom prst="rect">
            <a:avLst/>
          </a:prstGeom>
          <a:solidFill>
            <a:srgbClr val="F8FAFC"/>
          </a:solidFill>
          <a:ln/>
        </p:spPr>
      </p:sp>
      <p:sp>
        <p:nvSpPr>
          <p:cNvPr id="20" name="Text 18"/>
          <p:cNvSpPr/>
          <p:nvPr/>
        </p:nvSpPr>
        <p:spPr>
          <a:xfrm>
            <a:off x="548640" y="2084832"/>
            <a:ext cx="141732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Power</a:t>
            </a:r>
            <a:endParaRPr lang="en-US" sz="1150" dirty="0"/>
          </a:p>
        </p:txBody>
      </p:sp>
      <p:sp>
        <p:nvSpPr>
          <p:cNvPr id="21" name="Shape 19"/>
          <p:cNvSpPr/>
          <p:nvPr/>
        </p:nvSpPr>
        <p:spPr>
          <a:xfrm>
            <a:off x="2596896" y="2048256"/>
            <a:ext cx="914400" cy="365760"/>
          </a:xfrm>
          <a:prstGeom prst="rect">
            <a:avLst/>
          </a:prstGeom>
          <a:solidFill>
            <a:srgbClr val="F0FDF4"/>
          </a:solidFill>
          <a:ln/>
        </p:spPr>
      </p:sp>
      <p:sp>
        <p:nvSpPr>
          <p:cNvPr id="22" name="Text 20"/>
          <p:cNvSpPr/>
          <p:nvPr/>
        </p:nvSpPr>
        <p:spPr>
          <a:xfrm>
            <a:off x="2596896" y="2048256"/>
            <a:ext cx="914400" cy="365760"/>
          </a:xfrm>
          <a:prstGeom prst="rect">
            <a:avLst/>
          </a:prstGeom>
          <a:noFill/>
          <a:ln/>
        </p:spPr>
        <p:txBody>
          <a:bodyPr wrap="square" lIns="0" tIns="0" rIns="0" bIns="0" rtlCol="0" anchor="ctr"/>
          <a:lstStyle/>
          <a:p>
            <a:pPr algn="ctr" indent="0" marL="0">
              <a:buNone/>
            </a:pPr>
            <a:r>
              <a:rPr lang="en-US" sz="1500" b="1" dirty="0">
                <a:solidFill>
                  <a:srgbClr val="15803D"/>
                </a:solidFill>
                <a:latin typeface="Georgia" pitchFamily="34" charset="0"/>
                <a:ea typeface="Georgia" pitchFamily="34" charset="-122"/>
                <a:cs typeface="Georgia" pitchFamily="34" charset="-120"/>
              </a:rPr>
              <a:t>92</a:t>
            </a:r>
            <a:endParaRPr lang="en-US" sz="1500" dirty="0"/>
          </a:p>
        </p:txBody>
      </p:sp>
      <p:sp>
        <p:nvSpPr>
          <p:cNvPr id="23" name="Shape 21"/>
          <p:cNvSpPr/>
          <p:nvPr/>
        </p:nvSpPr>
        <p:spPr>
          <a:xfrm>
            <a:off x="4590288" y="2048256"/>
            <a:ext cx="914400" cy="365760"/>
          </a:xfrm>
          <a:prstGeom prst="rect">
            <a:avLst/>
          </a:prstGeom>
          <a:solidFill>
            <a:srgbClr val="FFFFFF"/>
          </a:solidFill>
          <a:ln/>
        </p:spPr>
      </p:sp>
      <p:sp>
        <p:nvSpPr>
          <p:cNvPr id="24" name="Text 22"/>
          <p:cNvSpPr/>
          <p:nvPr/>
        </p:nvSpPr>
        <p:spPr>
          <a:xfrm>
            <a:off x="4590288" y="2048256"/>
            <a:ext cx="914400" cy="365760"/>
          </a:xfrm>
          <a:prstGeom prst="rect">
            <a:avLst/>
          </a:prstGeom>
          <a:noFill/>
          <a:ln/>
        </p:spPr>
        <p:txBody>
          <a:bodyPr wrap="square" lIns="0" tIns="0" rIns="0" bIns="0" rtlCol="0" anchor="ctr"/>
          <a:lstStyle/>
          <a:p>
            <a:pPr algn="ctr" indent="0" marL="0">
              <a:buNone/>
            </a:pPr>
            <a:r>
              <a:rPr lang="en-US" sz="1500" b="1" dirty="0">
                <a:solidFill>
                  <a:srgbClr val="475569"/>
                </a:solidFill>
                <a:latin typeface="Georgia" pitchFamily="34" charset="0"/>
                <a:ea typeface="Georgia" pitchFamily="34" charset="-122"/>
                <a:cs typeface="Georgia" pitchFamily="34" charset="-120"/>
              </a:rPr>
              <a:t>78</a:t>
            </a:r>
            <a:endParaRPr lang="en-US" sz="1500" dirty="0"/>
          </a:p>
        </p:txBody>
      </p:sp>
      <p:sp>
        <p:nvSpPr>
          <p:cNvPr id="25" name="Shape 23"/>
          <p:cNvSpPr/>
          <p:nvPr/>
        </p:nvSpPr>
        <p:spPr>
          <a:xfrm>
            <a:off x="6583680" y="2048256"/>
            <a:ext cx="914400" cy="365760"/>
          </a:xfrm>
          <a:prstGeom prst="rect">
            <a:avLst/>
          </a:prstGeom>
          <a:solidFill>
            <a:srgbClr val="FEF2F2"/>
          </a:solidFill>
          <a:ln/>
        </p:spPr>
      </p:sp>
      <p:sp>
        <p:nvSpPr>
          <p:cNvPr id="26" name="Text 24"/>
          <p:cNvSpPr/>
          <p:nvPr/>
        </p:nvSpPr>
        <p:spPr>
          <a:xfrm>
            <a:off x="6583680" y="2048256"/>
            <a:ext cx="914400" cy="365760"/>
          </a:xfrm>
          <a:prstGeom prst="rect">
            <a:avLst/>
          </a:prstGeom>
          <a:noFill/>
          <a:ln/>
        </p:spPr>
        <p:txBody>
          <a:bodyPr wrap="square" lIns="0" tIns="0" rIns="0" bIns="0" rtlCol="0" anchor="ctr"/>
          <a:lstStyle/>
          <a:p>
            <a:pPr algn="ctr" indent="0" marL="0">
              <a:buNone/>
            </a:pPr>
            <a:r>
              <a:rPr lang="en-US" sz="1500" b="1" dirty="0">
                <a:solidFill>
                  <a:srgbClr val="DC2626"/>
                </a:solidFill>
                <a:latin typeface="Georgia" pitchFamily="34" charset="0"/>
                <a:ea typeface="Georgia" pitchFamily="34" charset="-122"/>
                <a:cs typeface="Georgia" pitchFamily="34" charset="-120"/>
              </a:rPr>
              <a:t>60</a:t>
            </a:r>
            <a:endParaRPr lang="en-US" sz="1500" dirty="0"/>
          </a:p>
        </p:txBody>
      </p:sp>
      <p:sp>
        <p:nvSpPr>
          <p:cNvPr id="27" name="Shape 25"/>
          <p:cNvSpPr/>
          <p:nvPr/>
        </p:nvSpPr>
        <p:spPr>
          <a:xfrm>
            <a:off x="457200" y="2505456"/>
            <a:ext cx="8458200" cy="475488"/>
          </a:xfrm>
          <a:prstGeom prst="rect">
            <a:avLst/>
          </a:prstGeom>
          <a:solidFill>
            <a:srgbClr val="FFFFFF"/>
          </a:solidFill>
          <a:ln/>
        </p:spPr>
      </p:sp>
      <p:sp>
        <p:nvSpPr>
          <p:cNvPr id="28" name="Shape 26"/>
          <p:cNvSpPr/>
          <p:nvPr/>
        </p:nvSpPr>
        <p:spPr>
          <a:xfrm>
            <a:off x="457200" y="2505456"/>
            <a:ext cx="1508760" cy="475488"/>
          </a:xfrm>
          <a:prstGeom prst="rect">
            <a:avLst/>
          </a:prstGeom>
          <a:solidFill>
            <a:srgbClr val="FFFFFF"/>
          </a:solidFill>
          <a:ln/>
        </p:spPr>
      </p:sp>
      <p:sp>
        <p:nvSpPr>
          <p:cNvPr id="29" name="Text 27"/>
          <p:cNvSpPr/>
          <p:nvPr/>
        </p:nvSpPr>
        <p:spPr>
          <a:xfrm>
            <a:off x="548640" y="2596896"/>
            <a:ext cx="141732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Fiber</a:t>
            </a:r>
            <a:endParaRPr lang="en-US" sz="1150" dirty="0"/>
          </a:p>
        </p:txBody>
      </p:sp>
      <p:sp>
        <p:nvSpPr>
          <p:cNvPr id="30" name="Shape 28"/>
          <p:cNvSpPr/>
          <p:nvPr/>
        </p:nvSpPr>
        <p:spPr>
          <a:xfrm>
            <a:off x="2596896" y="2560320"/>
            <a:ext cx="914400" cy="365760"/>
          </a:xfrm>
          <a:prstGeom prst="rect">
            <a:avLst/>
          </a:prstGeom>
          <a:solidFill>
            <a:srgbClr val="F0FDF4"/>
          </a:solidFill>
          <a:ln/>
        </p:spPr>
      </p:sp>
      <p:sp>
        <p:nvSpPr>
          <p:cNvPr id="31" name="Text 29"/>
          <p:cNvSpPr/>
          <p:nvPr/>
        </p:nvSpPr>
        <p:spPr>
          <a:xfrm>
            <a:off x="2596896" y="2560320"/>
            <a:ext cx="914400" cy="365760"/>
          </a:xfrm>
          <a:prstGeom prst="rect">
            <a:avLst/>
          </a:prstGeom>
          <a:noFill/>
          <a:ln/>
        </p:spPr>
        <p:txBody>
          <a:bodyPr wrap="square" lIns="0" tIns="0" rIns="0" bIns="0" rtlCol="0" anchor="ctr"/>
          <a:lstStyle/>
          <a:p>
            <a:pPr algn="ctr" indent="0" marL="0">
              <a:buNone/>
            </a:pPr>
            <a:r>
              <a:rPr lang="en-US" sz="1500" b="1" dirty="0">
                <a:solidFill>
                  <a:srgbClr val="15803D"/>
                </a:solidFill>
                <a:latin typeface="Georgia" pitchFamily="34" charset="0"/>
                <a:ea typeface="Georgia" pitchFamily="34" charset="-122"/>
                <a:cs typeface="Georgia" pitchFamily="34" charset="-120"/>
              </a:rPr>
              <a:t>84</a:t>
            </a:r>
            <a:endParaRPr lang="en-US" sz="1500" dirty="0"/>
          </a:p>
        </p:txBody>
      </p:sp>
      <p:sp>
        <p:nvSpPr>
          <p:cNvPr id="32" name="Shape 30"/>
          <p:cNvSpPr/>
          <p:nvPr/>
        </p:nvSpPr>
        <p:spPr>
          <a:xfrm>
            <a:off x="4590288" y="2560320"/>
            <a:ext cx="914400" cy="365760"/>
          </a:xfrm>
          <a:prstGeom prst="rect">
            <a:avLst/>
          </a:prstGeom>
          <a:solidFill>
            <a:srgbClr val="FEF2F2"/>
          </a:solidFill>
          <a:ln/>
        </p:spPr>
      </p:sp>
      <p:sp>
        <p:nvSpPr>
          <p:cNvPr id="33" name="Text 31"/>
          <p:cNvSpPr/>
          <p:nvPr/>
        </p:nvSpPr>
        <p:spPr>
          <a:xfrm>
            <a:off x="4590288" y="2560320"/>
            <a:ext cx="914400" cy="365760"/>
          </a:xfrm>
          <a:prstGeom prst="rect">
            <a:avLst/>
          </a:prstGeom>
          <a:noFill/>
          <a:ln/>
        </p:spPr>
        <p:txBody>
          <a:bodyPr wrap="square" lIns="0" tIns="0" rIns="0" bIns="0" rtlCol="0" anchor="ctr"/>
          <a:lstStyle/>
          <a:p>
            <a:pPr algn="ctr" indent="0" marL="0">
              <a:buNone/>
            </a:pPr>
            <a:r>
              <a:rPr lang="en-US" sz="1500" b="1" dirty="0">
                <a:solidFill>
                  <a:srgbClr val="DC2626"/>
                </a:solidFill>
                <a:latin typeface="Georgia" pitchFamily="34" charset="0"/>
                <a:ea typeface="Georgia" pitchFamily="34" charset="-122"/>
                <a:cs typeface="Georgia" pitchFamily="34" charset="-120"/>
              </a:rPr>
              <a:t>70</a:t>
            </a:r>
            <a:endParaRPr lang="en-US" sz="1500" dirty="0"/>
          </a:p>
        </p:txBody>
      </p:sp>
      <p:sp>
        <p:nvSpPr>
          <p:cNvPr id="34" name="Shape 32"/>
          <p:cNvSpPr/>
          <p:nvPr/>
        </p:nvSpPr>
        <p:spPr>
          <a:xfrm>
            <a:off x="6583680" y="2560320"/>
            <a:ext cx="914400" cy="365760"/>
          </a:xfrm>
          <a:prstGeom prst="rect">
            <a:avLst/>
          </a:prstGeom>
          <a:solidFill>
            <a:srgbClr val="FFFFFF"/>
          </a:solidFill>
          <a:ln/>
        </p:spPr>
      </p:sp>
      <p:sp>
        <p:nvSpPr>
          <p:cNvPr id="35" name="Text 33"/>
          <p:cNvSpPr/>
          <p:nvPr/>
        </p:nvSpPr>
        <p:spPr>
          <a:xfrm>
            <a:off x="6583680" y="2560320"/>
            <a:ext cx="914400" cy="365760"/>
          </a:xfrm>
          <a:prstGeom prst="rect">
            <a:avLst/>
          </a:prstGeom>
          <a:noFill/>
          <a:ln/>
        </p:spPr>
        <p:txBody>
          <a:bodyPr wrap="square" lIns="0" tIns="0" rIns="0" bIns="0" rtlCol="0" anchor="ctr"/>
          <a:lstStyle/>
          <a:p>
            <a:pPr algn="ctr" indent="0" marL="0">
              <a:buNone/>
            </a:pPr>
            <a:r>
              <a:rPr lang="en-US" sz="1500" b="1" dirty="0">
                <a:solidFill>
                  <a:srgbClr val="475569"/>
                </a:solidFill>
                <a:latin typeface="Georgia" pitchFamily="34" charset="0"/>
                <a:ea typeface="Georgia" pitchFamily="34" charset="-122"/>
                <a:cs typeface="Georgia" pitchFamily="34" charset="-120"/>
              </a:rPr>
              <a:t>72</a:t>
            </a:r>
            <a:endParaRPr lang="en-US" sz="1500" dirty="0"/>
          </a:p>
        </p:txBody>
      </p:sp>
      <p:sp>
        <p:nvSpPr>
          <p:cNvPr id="36" name="Shape 34"/>
          <p:cNvSpPr/>
          <p:nvPr/>
        </p:nvSpPr>
        <p:spPr>
          <a:xfrm>
            <a:off x="457200" y="3017520"/>
            <a:ext cx="8458200" cy="475488"/>
          </a:xfrm>
          <a:prstGeom prst="rect">
            <a:avLst/>
          </a:prstGeom>
          <a:solidFill>
            <a:srgbClr val="F8FAFC"/>
          </a:solidFill>
          <a:ln/>
        </p:spPr>
      </p:sp>
      <p:sp>
        <p:nvSpPr>
          <p:cNvPr id="37" name="Shape 35"/>
          <p:cNvSpPr/>
          <p:nvPr/>
        </p:nvSpPr>
        <p:spPr>
          <a:xfrm>
            <a:off x="457200" y="3017520"/>
            <a:ext cx="1508760" cy="475488"/>
          </a:xfrm>
          <a:prstGeom prst="rect">
            <a:avLst/>
          </a:prstGeom>
          <a:solidFill>
            <a:srgbClr val="F8FAFC"/>
          </a:solidFill>
          <a:ln/>
        </p:spPr>
      </p:sp>
      <p:sp>
        <p:nvSpPr>
          <p:cNvPr id="38" name="Text 36"/>
          <p:cNvSpPr/>
          <p:nvPr/>
        </p:nvSpPr>
        <p:spPr>
          <a:xfrm>
            <a:off x="548640" y="3108960"/>
            <a:ext cx="141732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Water</a:t>
            </a:r>
            <a:endParaRPr lang="en-US" sz="1150" dirty="0"/>
          </a:p>
        </p:txBody>
      </p:sp>
      <p:sp>
        <p:nvSpPr>
          <p:cNvPr id="39" name="Shape 37"/>
          <p:cNvSpPr/>
          <p:nvPr/>
        </p:nvSpPr>
        <p:spPr>
          <a:xfrm>
            <a:off x="2596896" y="3072384"/>
            <a:ext cx="914400" cy="365760"/>
          </a:xfrm>
          <a:prstGeom prst="rect">
            <a:avLst/>
          </a:prstGeom>
          <a:solidFill>
            <a:srgbClr val="FFFFFF"/>
          </a:solidFill>
          <a:ln/>
        </p:spPr>
      </p:sp>
      <p:sp>
        <p:nvSpPr>
          <p:cNvPr id="40" name="Text 38"/>
          <p:cNvSpPr/>
          <p:nvPr/>
        </p:nvSpPr>
        <p:spPr>
          <a:xfrm>
            <a:off x="2596896" y="3072384"/>
            <a:ext cx="914400" cy="365760"/>
          </a:xfrm>
          <a:prstGeom prst="rect">
            <a:avLst/>
          </a:prstGeom>
          <a:noFill/>
          <a:ln/>
        </p:spPr>
        <p:txBody>
          <a:bodyPr wrap="square" lIns="0" tIns="0" rIns="0" bIns="0" rtlCol="0" anchor="ctr"/>
          <a:lstStyle/>
          <a:p>
            <a:pPr algn="ctr" indent="0" marL="0">
              <a:buNone/>
            </a:pPr>
            <a:r>
              <a:rPr lang="en-US" sz="1500" b="1" dirty="0">
                <a:solidFill>
                  <a:srgbClr val="475569"/>
                </a:solidFill>
                <a:latin typeface="Georgia" pitchFamily="34" charset="0"/>
                <a:ea typeface="Georgia" pitchFamily="34" charset="-122"/>
                <a:cs typeface="Georgia" pitchFamily="34" charset="-120"/>
              </a:rPr>
              <a:t>80</a:t>
            </a:r>
            <a:endParaRPr lang="en-US" sz="1500" dirty="0"/>
          </a:p>
        </p:txBody>
      </p:sp>
      <p:sp>
        <p:nvSpPr>
          <p:cNvPr id="41" name="Shape 39"/>
          <p:cNvSpPr/>
          <p:nvPr/>
        </p:nvSpPr>
        <p:spPr>
          <a:xfrm>
            <a:off x="4590288" y="3072384"/>
            <a:ext cx="914400" cy="365760"/>
          </a:xfrm>
          <a:prstGeom prst="rect">
            <a:avLst/>
          </a:prstGeom>
          <a:solidFill>
            <a:srgbClr val="F0FDF4"/>
          </a:solidFill>
          <a:ln/>
        </p:spPr>
      </p:sp>
      <p:sp>
        <p:nvSpPr>
          <p:cNvPr id="42" name="Text 40"/>
          <p:cNvSpPr/>
          <p:nvPr/>
        </p:nvSpPr>
        <p:spPr>
          <a:xfrm>
            <a:off x="4590288" y="3072384"/>
            <a:ext cx="914400" cy="365760"/>
          </a:xfrm>
          <a:prstGeom prst="rect">
            <a:avLst/>
          </a:prstGeom>
          <a:noFill/>
          <a:ln/>
        </p:spPr>
        <p:txBody>
          <a:bodyPr wrap="square" lIns="0" tIns="0" rIns="0" bIns="0" rtlCol="0" anchor="ctr"/>
          <a:lstStyle/>
          <a:p>
            <a:pPr algn="ctr" indent="0" marL="0">
              <a:buNone/>
            </a:pPr>
            <a:r>
              <a:rPr lang="en-US" sz="1500" b="1" dirty="0">
                <a:solidFill>
                  <a:srgbClr val="15803D"/>
                </a:solidFill>
                <a:latin typeface="Georgia" pitchFamily="34" charset="0"/>
                <a:ea typeface="Georgia" pitchFamily="34" charset="-122"/>
                <a:cs typeface="Georgia" pitchFamily="34" charset="-120"/>
              </a:rPr>
              <a:t>82</a:t>
            </a:r>
            <a:endParaRPr lang="en-US" sz="1500" dirty="0"/>
          </a:p>
        </p:txBody>
      </p:sp>
      <p:sp>
        <p:nvSpPr>
          <p:cNvPr id="43" name="Shape 41"/>
          <p:cNvSpPr/>
          <p:nvPr/>
        </p:nvSpPr>
        <p:spPr>
          <a:xfrm>
            <a:off x="6583680" y="3072384"/>
            <a:ext cx="914400" cy="365760"/>
          </a:xfrm>
          <a:prstGeom prst="rect">
            <a:avLst/>
          </a:prstGeom>
          <a:solidFill>
            <a:srgbClr val="FEF2F2"/>
          </a:solidFill>
          <a:ln/>
        </p:spPr>
      </p:sp>
      <p:sp>
        <p:nvSpPr>
          <p:cNvPr id="44" name="Text 42"/>
          <p:cNvSpPr/>
          <p:nvPr/>
        </p:nvSpPr>
        <p:spPr>
          <a:xfrm>
            <a:off x="6583680" y="3072384"/>
            <a:ext cx="914400" cy="365760"/>
          </a:xfrm>
          <a:prstGeom prst="rect">
            <a:avLst/>
          </a:prstGeom>
          <a:noFill/>
          <a:ln/>
        </p:spPr>
        <p:txBody>
          <a:bodyPr wrap="square" lIns="0" tIns="0" rIns="0" bIns="0" rtlCol="0" anchor="ctr"/>
          <a:lstStyle/>
          <a:p>
            <a:pPr algn="ctr" indent="0" marL="0">
              <a:buNone/>
            </a:pPr>
            <a:r>
              <a:rPr lang="en-US" sz="1500" b="1" dirty="0">
                <a:solidFill>
                  <a:srgbClr val="DC2626"/>
                </a:solidFill>
                <a:latin typeface="Georgia" pitchFamily="34" charset="0"/>
                <a:ea typeface="Georgia" pitchFamily="34" charset="-122"/>
                <a:cs typeface="Georgia" pitchFamily="34" charset="-120"/>
              </a:rPr>
              <a:t>58</a:t>
            </a:r>
            <a:endParaRPr lang="en-US" sz="1500" dirty="0"/>
          </a:p>
        </p:txBody>
      </p:sp>
      <p:sp>
        <p:nvSpPr>
          <p:cNvPr id="45" name="Shape 43"/>
          <p:cNvSpPr/>
          <p:nvPr/>
        </p:nvSpPr>
        <p:spPr>
          <a:xfrm>
            <a:off x="457200" y="3529584"/>
            <a:ext cx="8458200" cy="475488"/>
          </a:xfrm>
          <a:prstGeom prst="rect">
            <a:avLst/>
          </a:prstGeom>
          <a:solidFill>
            <a:srgbClr val="FFFFFF"/>
          </a:solidFill>
          <a:ln/>
        </p:spPr>
      </p:sp>
      <p:sp>
        <p:nvSpPr>
          <p:cNvPr id="46" name="Shape 44"/>
          <p:cNvSpPr/>
          <p:nvPr/>
        </p:nvSpPr>
        <p:spPr>
          <a:xfrm>
            <a:off x="457200" y="3529584"/>
            <a:ext cx="1508760" cy="475488"/>
          </a:xfrm>
          <a:prstGeom prst="rect">
            <a:avLst/>
          </a:prstGeom>
          <a:solidFill>
            <a:srgbClr val="FFFFFF"/>
          </a:solidFill>
          <a:ln/>
        </p:spPr>
      </p:sp>
      <p:sp>
        <p:nvSpPr>
          <p:cNvPr id="47" name="Text 45"/>
          <p:cNvSpPr/>
          <p:nvPr/>
        </p:nvSpPr>
        <p:spPr>
          <a:xfrm>
            <a:off x="548640" y="3621024"/>
            <a:ext cx="141732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Environmental</a:t>
            </a:r>
            <a:endParaRPr lang="en-US" sz="1150" dirty="0"/>
          </a:p>
        </p:txBody>
      </p:sp>
      <p:sp>
        <p:nvSpPr>
          <p:cNvPr id="48" name="Shape 46"/>
          <p:cNvSpPr/>
          <p:nvPr/>
        </p:nvSpPr>
        <p:spPr>
          <a:xfrm>
            <a:off x="2596896" y="3584448"/>
            <a:ext cx="914400" cy="365760"/>
          </a:xfrm>
          <a:prstGeom prst="rect">
            <a:avLst/>
          </a:prstGeom>
          <a:solidFill>
            <a:srgbClr val="F0FDF4"/>
          </a:solidFill>
          <a:ln/>
        </p:spPr>
      </p:sp>
      <p:sp>
        <p:nvSpPr>
          <p:cNvPr id="49" name="Text 47"/>
          <p:cNvSpPr/>
          <p:nvPr/>
        </p:nvSpPr>
        <p:spPr>
          <a:xfrm>
            <a:off x="2596896" y="3584448"/>
            <a:ext cx="914400" cy="365760"/>
          </a:xfrm>
          <a:prstGeom prst="rect">
            <a:avLst/>
          </a:prstGeom>
          <a:noFill/>
          <a:ln/>
        </p:spPr>
        <p:txBody>
          <a:bodyPr wrap="square" lIns="0" tIns="0" rIns="0" bIns="0" rtlCol="0" anchor="ctr"/>
          <a:lstStyle/>
          <a:p>
            <a:pPr algn="ctr" indent="0" marL="0">
              <a:buNone/>
            </a:pPr>
            <a:r>
              <a:rPr lang="en-US" sz="1500" b="1" dirty="0">
                <a:solidFill>
                  <a:srgbClr val="15803D"/>
                </a:solidFill>
                <a:latin typeface="Georgia" pitchFamily="34" charset="0"/>
                <a:ea typeface="Georgia" pitchFamily="34" charset="-122"/>
                <a:cs typeface="Georgia" pitchFamily="34" charset="-120"/>
              </a:rPr>
              <a:t>90</a:t>
            </a:r>
            <a:endParaRPr lang="en-US" sz="1500" dirty="0"/>
          </a:p>
        </p:txBody>
      </p:sp>
      <p:sp>
        <p:nvSpPr>
          <p:cNvPr id="50" name="Shape 48"/>
          <p:cNvSpPr/>
          <p:nvPr/>
        </p:nvSpPr>
        <p:spPr>
          <a:xfrm>
            <a:off x="4590288" y="3584448"/>
            <a:ext cx="914400" cy="365760"/>
          </a:xfrm>
          <a:prstGeom prst="rect">
            <a:avLst/>
          </a:prstGeom>
          <a:solidFill>
            <a:srgbClr val="FEF2F2"/>
          </a:solidFill>
          <a:ln/>
        </p:spPr>
      </p:sp>
      <p:sp>
        <p:nvSpPr>
          <p:cNvPr id="51" name="Text 49"/>
          <p:cNvSpPr/>
          <p:nvPr/>
        </p:nvSpPr>
        <p:spPr>
          <a:xfrm>
            <a:off x="4590288" y="3584448"/>
            <a:ext cx="914400" cy="365760"/>
          </a:xfrm>
          <a:prstGeom prst="rect">
            <a:avLst/>
          </a:prstGeom>
          <a:noFill/>
          <a:ln/>
        </p:spPr>
        <p:txBody>
          <a:bodyPr wrap="square" lIns="0" tIns="0" rIns="0" bIns="0" rtlCol="0" anchor="ctr"/>
          <a:lstStyle/>
          <a:p>
            <a:pPr algn="ctr" indent="0" marL="0">
              <a:buNone/>
            </a:pPr>
            <a:r>
              <a:rPr lang="en-US" sz="1500" b="1" dirty="0">
                <a:solidFill>
                  <a:srgbClr val="DC2626"/>
                </a:solidFill>
                <a:latin typeface="Georgia" pitchFamily="34" charset="0"/>
                <a:ea typeface="Georgia" pitchFamily="34" charset="-122"/>
                <a:cs typeface="Georgia" pitchFamily="34" charset="-120"/>
              </a:rPr>
              <a:t>64</a:t>
            </a:r>
            <a:endParaRPr lang="en-US" sz="1500" dirty="0"/>
          </a:p>
        </p:txBody>
      </p:sp>
      <p:sp>
        <p:nvSpPr>
          <p:cNvPr id="52" name="Shape 50"/>
          <p:cNvSpPr/>
          <p:nvPr/>
        </p:nvSpPr>
        <p:spPr>
          <a:xfrm>
            <a:off x="6583680" y="3584448"/>
            <a:ext cx="914400" cy="365760"/>
          </a:xfrm>
          <a:prstGeom prst="rect">
            <a:avLst/>
          </a:prstGeom>
          <a:solidFill>
            <a:srgbClr val="FFFFFF"/>
          </a:solidFill>
          <a:ln/>
        </p:spPr>
      </p:sp>
      <p:sp>
        <p:nvSpPr>
          <p:cNvPr id="53" name="Text 51"/>
          <p:cNvSpPr/>
          <p:nvPr/>
        </p:nvSpPr>
        <p:spPr>
          <a:xfrm>
            <a:off x="6583680" y="3584448"/>
            <a:ext cx="914400" cy="365760"/>
          </a:xfrm>
          <a:prstGeom prst="rect">
            <a:avLst/>
          </a:prstGeom>
          <a:noFill/>
          <a:ln/>
        </p:spPr>
        <p:txBody>
          <a:bodyPr wrap="square" lIns="0" tIns="0" rIns="0" bIns="0" rtlCol="0" anchor="ctr"/>
          <a:lstStyle/>
          <a:p>
            <a:pPr algn="ctr" indent="0" marL="0">
              <a:buNone/>
            </a:pPr>
            <a:r>
              <a:rPr lang="en-US" sz="1500" b="1" dirty="0">
                <a:solidFill>
                  <a:srgbClr val="475569"/>
                </a:solidFill>
                <a:latin typeface="Georgia" pitchFamily="34" charset="0"/>
                <a:ea typeface="Georgia" pitchFamily="34" charset="-122"/>
                <a:cs typeface="Georgia" pitchFamily="34" charset="-120"/>
              </a:rPr>
              <a:t>68</a:t>
            </a:r>
            <a:endParaRPr lang="en-US" sz="1500" dirty="0"/>
          </a:p>
        </p:txBody>
      </p:sp>
      <p:sp>
        <p:nvSpPr>
          <p:cNvPr id="54" name="Shape 52"/>
          <p:cNvSpPr/>
          <p:nvPr/>
        </p:nvSpPr>
        <p:spPr>
          <a:xfrm>
            <a:off x="457200" y="4169664"/>
            <a:ext cx="8458200" cy="822960"/>
          </a:xfrm>
          <a:prstGeom prst="rect">
            <a:avLst/>
          </a:prstGeom>
          <a:solidFill>
            <a:srgbClr val="0A0F1E"/>
          </a:solidFill>
          <a:ln/>
          <a:effectLst>
            <a:outerShdw sx="100000" sy="100000" kx="0" ky="0" algn="bl" rotWithShape="0" blurRad="101600" dist="25400" dir="8100000">
              <a:srgbClr val="000000">
                <a:alpha val="12000"/>
              </a:srgbClr>
            </a:outerShdw>
          </a:effectLst>
        </p:spPr>
      </p:sp>
      <p:sp>
        <p:nvSpPr>
          <p:cNvPr id="55" name="Shape 53"/>
          <p:cNvSpPr/>
          <p:nvPr/>
        </p:nvSpPr>
        <p:spPr>
          <a:xfrm>
            <a:off x="457200" y="4169664"/>
            <a:ext cx="54864" cy="822960"/>
          </a:xfrm>
          <a:prstGeom prst="rect">
            <a:avLst/>
          </a:prstGeom>
          <a:solidFill>
            <a:srgbClr val="EA580C"/>
          </a:solidFill>
          <a:ln/>
        </p:spPr>
      </p:sp>
      <p:sp>
        <p:nvSpPr>
          <p:cNvPr id="56" name="Text 54"/>
          <p:cNvSpPr/>
          <p:nvPr/>
        </p:nvSpPr>
        <p:spPr>
          <a:xfrm>
            <a:off x="585216" y="4206240"/>
            <a:ext cx="8229600" cy="182880"/>
          </a:xfrm>
          <a:prstGeom prst="rect">
            <a:avLst/>
          </a:prstGeom>
          <a:noFill/>
          <a:ln/>
        </p:spPr>
        <p:txBody>
          <a:bodyPr wrap="square" lIns="0" tIns="0" rIns="0" bIns="0" rtlCol="0" anchor="ctr"/>
          <a:lstStyle/>
          <a:p>
            <a:pPr indent="0" marL="0">
              <a:buNone/>
            </a:pPr>
            <a:r>
              <a:rPr lang="en-US" sz="850" b="1" spc="200" kern="0" dirty="0">
                <a:solidFill>
                  <a:srgbClr val="EA580C"/>
                </a:solidFill>
                <a:latin typeface="Calibri" pitchFamily="34" charset="0"/>
                <a:ea typeface="Calibri" pitchFamily="34" charset="-122"/>
                <a:cs typeface="Calibri" pitchFamily="34" charset="-120"/>
              </a:rPr>
              <a:t>AI CONSULTANT NARRATIVE  (streams live after Compare)</a:t>
            </a:r>
            <a:endParaRPr lang="en-US" sz="850" dirty="0"/>
          </a:p>
        </p:txBody>
      </p:sp>
      <p:sp>
        <p:nvSpPr>
          <p:cNvPr id="57" name="Text 55"/>
          <p:cNvSpPr/>
          <p:nvPr/>
        </p:nvSpPr>
        <p:spPr>
          <a:xfrm>
            <a:off x="585216" y="4407408"/>
            <a:ext cx="8229600" cy="530352"/>
          </a:xfrm>
          <a:prstGeom prst="rect">
            <a:avLst/>
          </a:prstGeom>
          <a:noFill/>
          <a:ln/>
        </p:spPr>
        <p:txBody>
          <a:bodyPr wrap="square" lIns="0" tIns="0" rIns="0" bIns="0" rtlCol="0" anchor="ctr"/>
          <a:lstStyle/>
          <a:p>
            <a:pPr indent="0" marL="0">
              <a:buNone/>
            </a:pPr>
            <a:r>
              <a:rPr lang="en-US" sz="1050" i="1" dirty="0">
                <a:solidFill>
                  <a:srgbClr val="FED7AA"/>
                </a:solidFill>
                <a:latin typeface="Calibri" pitchFamily="34" charset="0"/>
                <a:ea typeface="Calibri" pitchFamily="34" charset="-122"/>
                <a:cs typeface="Calibri" pitchFamily="34" charset="-120"/>
              </a:rPr>
              <a:t>"WINNER: Site A (Braselton Corridor) — strongest power redundancy and best composite score. KEY DIFFERENTIATORS: Site A's 345kV dual-feed capability adds 10 years of expansion headroom vs. Site B's 115kV single feed. RISK FLAGS: Site B flood zone proximity warrants Phase 2 geotech survey before LOI."</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164592"/>
            <a:ext cx="365760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DEMO GUIDE</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7-Step Demo Sequence</a:t>
            </a:r>
            <a:endParaRPr lang="en-US" sz="2800" dirty="0"/>
          </a:p>
        </p:txBody>
      </p:sp>
      <p:sp>
        <p:nvSpPr>
          <p:cNvPr id="5" name="Shape 3"/>
          <p:cNvSpPr/>
          <p:nvPr/>
        </p:nvSpPr>
        <p:spPr>
          <a:xfrm>
            <a:off x="457200" y="1115568"/>
            <a:ext cx="4187952" cy="87782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6" name="Shape 4"/>
          <p:cNvSpPr/>
          <p:nvPr/>
        </p:nvSpPr>
        <p:spPr>
          <a:xfrm>
            <a:off x="457200" y="1115568"/>
            <a:ext cx="54864" cy="877824"/>
          </a:xfrm>
          <a:prstGeom prst="rect">
            <a:avLst/>
          </a:prstGeom>
          <a:solidFill>
            <a:srgbClr val="0D9488"/>
          </a:solidFill>
          <a:ln/>
        </p:spPr>
      </p:sp>
      <p:sp>
        <p:nvSpPr>
          <p:cNvPr id="7" name="Shape 5"/>
          <p:cNvSpPr/>
          <p:nvPr/>
        </p:nvSpPr>
        <p:spPr>
          <a:xfrm>
            <a:off x="585216" y="1316736"/>
            <a:ext cx="347472" cy="347472"/>
          </a:xfrm>
          <a:prstGeom prst="ellipse">
            <a:avLst/>
          </a:prstGeom>
          <a:solidFill>
            <a:srgbClr val="0D9488"/>
          </a:solidFill>
          <a:ln/>
        </p:spPr>
      </p:sp>
      <p:sp>
        <p:nvSpPr>
          <p:cNvPr id="8" name="Text 6"/>
          <p:cNvSpPr/>
          <p:nvPr/>
        </p:nvSpPr>
        <p:spPr>
          <a:xfrm>
            <a:off x="585216" y="13167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005840" y="1188720"/>
            <a:ext cx="3511296" cy="256032"/>
          </a:xfrm>
          <a:prstGeom prst="rect">
            <a:avLst/>
          </a:prstGeom>
          <a:noFill/>
          <a:ln/>
        </p:spPr>
        <p:txBody>
          <a:bodyPr wrap="square" lIns="0" tIns="0" rIns="0" bIns="0" rtlCol="0" anchor="ctr"/>
          <a:lstStyle/>
          <a:p>
            <a:pPr indent="0" marL="0">
              <a:buNone/>
            </a:pPr>
            <a:r>
              <a:rPr lang="en-US" sz="1200" b="1" dirty="0">
                <a:solidFill>
                  <a:srgbClr val="0F172A"/>
                </a:solidFill>
                <a:latin typeface="Georgia" pitchFamily="34" charset="0"/>
                <a:ea typeface="Georgia" pitchFamily="34" charset="-122"/>
                <a:cs typeface="Georgia" pitchFamily="34" charset="-120"/>
              </a:rPr>
              <a:t>Navigate to a known site</a:t>
            </a:r>
            <a:endParaRPr lang="en-US" sz="1200" dirty="0"/>
          </a:p>
        </p:txBody>
      </p:sp>
      <p:sp>
        <p:nvSpPr>
          <p:cNvPr id="10" name="Text 8"/>
          <p:cNvSpPr/>
          <p:nvPr/>
        </p:nvSpPr>
        <p:spPr>
          <a:xfrm>
            <a:off x="1005840" y="1463040"/>
            <a:ext cx="3511296" cy="45720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Open the app. Go to a DeThomas parcel you closed. "This is the Buford Highway site from 2022." Shows they're seeing real data, not a mock.</a:t>
            </a:r>
            <a:endParaRPr lang="en-US" sz="950" dirty="0"/>
          </a:p>
        </p:txBody>
      </p:sp>
      <p:sp>
        <p:nvSpPr>
          <p:cNvPr id="11" name="Shape 9"/>
          <p:cNvSpPr/>
          <p:nvPr/>
        </p:nvSpPr>
        <p:spPr>
          <a:xfrm>
            <a:off x="457200" y="2103120"/>
            <a:ext cx="4187952" cy="87782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2" name="Shape 10"/>
          <p:cNvSpPr/>
          <p:nvPr/>
        </p:nvSpPr>
        <p:spPr>
          <a:xfrm>
            <a:off x="457200" y="2103120"/>
            <a:ext cx="54864" cy="877824"/>
          </a:xfrm>
          <a:prstGeom prst="rect">
            <a:avLst/>
          </a:prstGeom>
          <a:solidFill>
            <a:srgbClr val="0D9488"/>
          </a:solidFill>
          <a:ln/>
        </p:spPr>
      </p:sp>
      <p:sp>
        <p:nvSpPr>
          <p:cNvPr id="13" name="Shape 11"/>
          <p:cNvSpPr/>
          <p:nvPr/>
        </p:nvSpPr>
        <p:spPr>
          <a:xfrm>
            <a:off x="585216" y="2304288"/>
            <a:ext cx="347472" cy="347472"/>
          </a:xfrm>
          <a:prstGeom prst="ellipse">
            <a:avLst/>
          </a:prstGeom>
          <a:solidFill>
            <a:srgbClr val="0D9488"/>
          </a:solidFill>
          <a:ln/>
        </p:spPr>
      </p:sp>
      <p:sp>
        <p:nvSpPr>
          <p:cNvPr id="14" name="Text 12"/>
          <p:cNvSpPr/>
          <p:nvPr/>
        </p:nvSpPr>
        <p:spPr>
          <a:xfrm>
            <a:off x="585216" y="23042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3"/>
          <p:cNvSpPr/>
          <p:nvPr/>
        </p:nvSpPr>
        <p:spPr>
          <a:xfrm>
            <a:off x="1005840" y="2176272"/>
            <a:ext cx="3511296" cy="256032"/>
          </a:xfrm>
          <a:prstGeom prst="rect">
            <a:avLst/>
          </a:prstGeom>
          <a:noFill/>
          <a:ln/>
        </p:spPr>
        <p:txBody>
          <a:bodyPr wrap="square" lIns="0" tIns="0" rIns="0" bIns="0" rtlCol="0" anchor="ctr"/>
          <a:lstStyle/>
          <a:p>
            <a:pPr indent="0" marL="0">
              <a:buNone/>
            </a:pPr>
            <a:r>
              <a:rPr lang="en-US" sz="1200" b="1" dirty="0">
                <a:solidFill>
                  <a:srgbClr val="0F172A"/>
                </a:solidFill>
                <a:latin typeface="Georgia" pitchFamily="34" charset="0"/>
                <a:ea typeface="Georgia" pitchFamily="34" charset="-122"/>
                <a:cs typeface="Georgia" pitchFamily="34" charset="-120"/>
              </a:rPr>
              <a:t>Click any adjacent parcel</a:t>
            </a:r>
            <a:endParaRPr lang="en-US" sz="1200" dirty="0"/>
          </a:p>
        </p:txBody>
      </p:sp>
      <p:sp>
        <p:nvSpPr>
          <p:cNvPr id="16" name="Text 14"/>
          <p:cNvSpPr/>
          <p:nvPr/>
        </p:nvSpPr>
        <p:spPr>
          <a:xfrm>
            <a:off x="1005840" y="2450592"/>
            <a:ext cx="3511296" cy="45720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Preview card appears. "No API call — that's instant." Then open full panel. Ownership, zoning, deed. One click.</a:t>
            </a:r>
            <a:endParaRPr lang="en-US" sz="950" dirty="0"/>
          </a:p>
        </p:txBody>
      </p:sp>
      <p:sp>
        <p:nvSpPr>
          <p:cNvPr id="17" name="Shape 15"/>
          <p:cNvSpPr/>
          <p:nvPr/>
        </p:nvSpPr>
        <p:spPr>
          <a:xfrm>
            <a:off x="457200" y="3090672"/>
            <a:ext cx="4187952" cy="87782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8" name="Shape 16"/>
          <p:cNvSpPr/>
          <p:nvPr/>
        </p:nvSpPr>
        <p:spPr>
          <a:xfrm>
            <a:off x="457200" y="3090672"/>
            <a:ext cx="54864" cy="877824"/>
          </a:xfrm>
          <a:prstGeom prst="rect">
            <a:avLst/>
          </a:prstGeom>
          <a:solidFill>
            <a:srgbClr val="0D9488"/>
          </a:solidFill>
          <a:ln/>
        </p:spPr>
      </p:sp>
      <p:sp>
        <p:nvSpPr>
          <p:cNvPr id="19" name="Shape 17"/>
          <p:cNvSpPr/>
          <p:nvPr/>
        </p:nvSpPr>
        <p:spPr>
          <a:xfrm>
            <a:off x="585216" y="3291840"/>
            <a:ext cx="347472" cy="347472"/>
          </a:xfrm>
          <a:prstGeom prst="ellipse">
            <a:avLst/>
          </a:prstGeom>
          <a:solidFill>
            <a:srgbClr val="0D9488"/>
          </a:solidFill>
          <a:ln/>
        </p:spPr>
      </p:sp>
      <p:sp>
        <p:nvSpPr>
          <p:cNvPr id="20" name="Text 18"/>
          <p:cNvSpPr/>
          <p:nvPr/>
        </p:nvSpPr>
        <p:spPr>
          <a:xfrm>
            <a:off x="585216" y="32918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9"/>
          <p:cNvSpPr/>
          <p:nvPr/>
        </p:nvSpPr>
        <p:spPr>
          <a:xfrm>
            <a:off x="1005840" y="3163824"/>
            <a:ext cx="3511296" cy="256032"/>
          </a:xfrm>
          <a:prstGeom prst="rect">
            <a:avLst/>
          </a:prstGeom>
          <a:noFill/>
          <a:ln/>
        </p:spPr>
        <p:txBody>
          <a:bodyPr wrap="square" lIns="0" tIns="0" rIns="0" bIns="0" rtlCol="0" anchor="ctr"/>
          <a:lstStyle/>
          <a:p>
            <a:pPr indent="0" marL="0">
              <a:buNone/>
            </a:pPr>
            <a:r>
              <a:rPr lang="en-US" sz="1200" b="1" dirty="0">
                <a:solidFill>
                  <a:srgbClr val="0F172A"/>
                </a:solidFill>
                <a:latin typeface="Georgia" pitchFamily="34" charset="0"/>
                <a:ea typeface="Georgia" pitchFamily="34" charset="-122"/>
                <a:cs typeface="Georgia" pitchFamily="34" charset="-120"/>
              </a:rPr>
              <a:t>LLC Entity Lookup</a:t>
            </a:r>
            <a:endParaRPr lang="en-US" sz="1200" dirty="0"/>
          </a:p>
        </p:txBody>
      </p:sp>
      <p:sp>
        <p:nvSpPr>
          <p:cNvPr id="22" name="Text 20"/>
          <p:cNvSpPr/>
          <p:nvPr/>
        </p:nvSpPr>
        <p:spPr>
          <a:xfrm>
            <a:off x="1005840" y="3438144"/>
            <a:ext cx="3511296" cy="45720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If owner is an LLC — trigger lookup. Watch it resolve beneficial ownership via GA SOS. This always gets a reaction.</a:t>
            </a:r>
            <a:endParaRPr lang="en-US" sz="950" dirty="0"/>
          </a:p>
        </p:txBody>
      </p:sp>
      <p:sp>
        <p:nvSpPr>
          <p:cNvPr id="23" name="Shape 21"/>
          <p:cNvSpPr/>
          <p:nvPr/>
        </p:nvSpPr>
        <p:spPr>
          <a:xfrm>
            <a:off x="457200" y="4078224"/>
            <a:ext cx="4187952" cy="87782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24" name="Shape 22"/>
          <p:cNvSpPr/>
          <p:nvPr/>
        </p:nvSpPr>
        <p:spPr>
          <a:xfrm>
            <a:off x="457200" y="4078224"/>
            <a:ext cx="54864" cy="877824"/>
          </a:xfrm>
          <a:prstGeom prst="rect">
            <a:avLst/>
          </a:prstGeom>
          <a:solidFill>
            <a:srgbClr val="7C3AED"/>
          </a:solidFill>
          <a:ln/>
        </p:spPr>
      </p:sp>
      <p:sp>
        <p:nvSpPr>
          <p:cNvPr id="25" name="Shape 23"/>
          <p:cNvSpPr/>
          <p:nvPr/>
        </p:nvSpPr>
        <p:spPr>
          <a:xfrm>
            <a:off x="585216" y="4279392"/>
            <a:ext cx="347472" cy="347472"/>
          </a:xfrm>
          <a:prstGeom prst="ellipse">
            <a:avLst/>
          </a:prstGeom>
          <a:solidFill>
            <a:srgbClr val="7C3AED"/>
          </a:solidFill>
          <a:ln/>
        </p:spPr>
      </p:sp>
      <p:sp>
        <p:nvSpPr>
          <p:cNvPr id="26" name="Text 24"/>
          <p:cNvSpPr/>
          <p:nvPr/>
        </p:nvSpPr>
        <p:spPr>
          <a:xfrm>
            <a:off x="585216" y="4279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5"/>
          <p:cNvSpPr/>
          <p:nvPr/>
        </p:nvSpPr>
        <p:spPr>
          <a:xfrm>
            <a:off x="1005840" y="4151376"/>
            <a:ext cx="3511296" cy="256032"/>
          </a:xfrm>
          <a:prstGeom prst="rect">
            <a:avLst/>
          </a:prstGeom>
          <a:noFill/>
          <a:ln/>
        </p:spPr>
        <p:txBody>
          <a:bodyPr wrap="square" lIns="0" tIns="0" rIns="0" bIns="0" rtlCol="0" anchor="ctr"/>
          <a:lstStyle/>
          <a:p>
            <a:pPr indent="0" marL="0">
              <a:buNone/>
            </a:pPr>
            <a:r>
              <a:rPr lang="en-US" sz="1200" b="1" dirty="0">
                <a:solidFill>
                  <a:srgbClr val="0F172A"/>
                </a:solidFill>
                <a:latin typeface="Georgia" pitchFamily="34" charset="0"/>
                <a:ea typeface="Georgia" pitchFamily="34" charset="-122"/>
                <a:cs typeface="Georgia" pitchFamily="34" charset="-120"/>
              </a:rPr>
              <a:t>Run AI Site Score</a:t>
            </a:r>
            <a:endParaRPr lang="en-US" sz="1200" dirty="0"/>
          </a:p>
        </p:txBody>
      </p:sp>
      <p:sp>
        <p:nvSpPr>
          <p:cNvPr id="28" name="Text 26"/>
          <p:cNvSpPr/>
          <p:nvPr/>
        </p:nvSpPr>
        <p:spPr>
          <a:xfrm>
            <a:off x="1005840" y="4425696"/>
            <a:ext cx="3511296" cy="45720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Enable Phase 2 scoring on the panel. Watch the score compute. Zoning fit, access, market activity. Ask it a zoning question.</a:t>
            </a:r>
            <a:endParaRPr lang="en-US" sz="950" dirty="0"/>
          </a:p>
        </p:txBody>
      </p:sp>
      <p:sp>
        <p:nvSpPr>
          <p:cNvPr id="29" name="Shape 27"/>
          <p:cNvSpPr/>
          <p:nvPr/>
        </p:nvSpPr>
        <p:spPr>
          <a:xfrm>
            <a:off x="4882896" y="1115568"/>
            <a:ext cx="4187952" cy="87782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30" name="Shape 28"/>
          <p:cNvSpPr/>
          <p:nvPr/>
        </p:nvSpPr>
        <p:spPr>
          <a:xfrm>
            <a:off x="4882896" y="1115568"/>
            <a:ext cx="54864" cy="877824"/>
          </a:xfrm>
          <a:prstGeom prst="rect">
            <a:avLst/>
          </a:prstGeom>
          <a:solidFill>
            <a:srgbClr val="7C3AED"/>
          </a:solidFill>
          <a:ln/>
        </p:spPr>
      </p:sp>
      <p:sp>
        <p:nvSpPr>
          <p:cNvPr id="31" name="Shape 29"/>
          <p:cNvSpPr/>
          <p:nvPr/>
        </p:nvSpPr>
        <p:spPr>
          <a:xfrm>
            <a:off x="5010912" y="1316736"/>
            <a:ext cx="347472" cy="347472"/>
          </a:xfrm>
          <a:prstGeom prst="ellipse">
            <a:avLst/>
          </a:prstGeom>
          <a:solidFill>
            <a:srgbClr val="7C3AED"/>
          </a:solidFill>
          <a:ln/>
        </p:spPr>
      </p:sp>
      <p:sp>
        <p:nvSpPr>
          <p:cNvPr id="32" name="Text 30"/>
          <p:cNvSpPr/>
          <p:nvPr/>
        </p:nvSpPr>
        <p:spPr>
          <a:xfrm>
            <a:off x="5010912" y="13167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3" name="Text 31"/>
          <p:cNvSpPr/>
          <p:nvPr/>
        </p:nvSpPr>
        <p:spPr>
          <a:xfrm>
            <a:off x="5431536" y="1188720"/>
            <a:ext cx="3511296" cy="256032"/>
          </a:xfrm>
          <a:prstGeom prst="rect">
            <a:avLst/>
          </a:prstGeom>
          <a:noFill/>
          <a:ln/>
        </p:spPr>
        <p:txBody>
          <a:bodyPr wrap="square" lIns="0" tIns="0" rIns="0" bIns="0" rtlCol="0" anchor="ctr"/>
          <a:lstStyle/>
          <a:p>
            <a:pPr indent="0" marL="0">
              <a:buNone/>
            </a:pPr>
            <a:r>
              <a:rPr lang="en-US" sz="1200" b="1" dirty="0">
                <a:solidFill>
                  <a:srgbClr val="0F172A"/>
                </a:solidFill>
                <a:latin typeface="Georgia" pitchFamily="34" charset="0"/>
                <a:ea typeface="Georgia" pitchFamily="34" charset="-122"/>
                <a:cs typeface="Georgia" pitchFamily="34" charset="-120"/>
              </a:rPr>
              <a:t>Generate Investment Brief</a:t>
            </a:r>
            <a:endParaRPr lang="en-US" sz="1200" dirty="0"/>
          </a:p>
        </p:txBody>
      </p:sp>
      <p:sp>
        <p:nvSpPr>
          <p:cNvPr id="34" name="Text 32"/>
          <p:cNvSpPr/>
          <p:nvPr/>
        </p:nvSpPr>
        <p:spPr>
          <a:xfrm>
            <a:off x="5431536" y="1463040"/>
            <a:ext cx="3511296" cy="45720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Click Generate Brief. Read it out loud as it streams. "This is a document you could send to your IC today."</a:t>
            </a:r>
            <a:endParaRPr lang="en-US" sz="950" dirty="0"/>
          </a:p>
        </p:txBody>
      </p:sp>
      <p:sp>
        <p:nvSpPr>
          <p:cNvPr id="35" name="Shape 33"/>
          <p:cNvSpPr/>
          <p:nvPr/>
        </p:nvSpPr>
        <p:spPr>
          <a:xfrm>
            <a:off x="4882896" y="2103120"/>
            <a:ext cx="4187952" cy="87782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36" name="Shape 34"/>
          <p:cNvSpPr/>
          <p:nvPr/>
        </p:nvSpPr>
        <p:spPr>
          <a:xfrm>
            <a:off x="4882896" y="2103120"/>
            <a:ext cx="54864" cy="877824"/>
          </a:xfrm>
          <a:prstGeom prst="rect">
            <a:avLst/>
          </a:prstGeom>
          <a:solidFill>
            <a:srgbClr val="EA580C"/>
          </a:solidFill>
          <a:ln/>
        </p:spPr>
      </p:sp>
      <p:sp>
        <p:nvSpPr>
          <p:cNvPr id="37" name="Shape 35"/>
          <p:cNvSpPr/>
          <p:nvPr/>
        </p:nvSpPr>
        <p:spPr>
          <a:xfrm>
            <a:off x="5010912" y="2304288"/>
            <a:ext cx="347472" cy="347472"/>
          </a:xfrm>
          <a:prstGeom prst="ellipse">
            <a:avLst/>
          </a:prstGeom>
          <a:solidFill>
            <a:srgbClr val="EA580C"/>
          </a:solidFill>
          <a:ln/>
        </p:spPr>
      </p:sp>
      <p:sp>
        <p:nvSpPr>
          <p:cNvPr id="38" name="Text 36"/>
          <p:cNvSpPr/>
          <p:nvPr/>
        </p:nvSpPr>
        <p:spPr>
          <a:xfrm>
            <a:off x="5010912" y="23042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9" name="Text 37"/>
          <p:cNvSpPr/>
          <p:nvPr/>
        </p:nvSpPr>
        <p:spPr>
          <a:xfrm>
            <a:off x="5431536" y="2176272"/>
            <a:ext cx="3511296" cy="256032"/>
          </a:xfrm>
          <a:prstGeom prst="rect">
            <a:avLst/>
          </a:prstGeom>
          <a:noFill/>
          <a:ln/>
        </p:spPr>
        <p:txBody>
          <a:bodyPr wrap="square" lIns="0" tIns="0" rIns="0" bIns="0" rtlCol="0" anchor="ctr"/>
          <a:lstStyle/>
          <a:p>
            <a:pPr indent="0" marL="0">
              <a:buNone/>
            </a:pPr>
            <a:r>
              <a:rPr lang="en-US" sz="1200" b="1" dirty="0">
                <a:solidFill>
                  <a:srgbClr val="0F172A"/>
                </a:solidFill>
                <a:latin typeface="Georgia" pitchFamily="34" charset="0"/>
                <a:ea typeface="Georgia" pitchFamily="34" charset="-122"/>
                <a:cs typeface="Georgia" pitchFamily="34" charset="-120"/>
              </a:rPr>
              <a:t>Switch to DC Mode + Scout</a:t>
            </a:r>
            <a:endParaRPr lang="en-US" sz="1200" dirty="0"/>
          </a:p>
        </p:txBody>
      </p:sp>
      <p:sp>
        <p:nvSpPr>
          <p:cNvPr id="40" name="Text 38"/>
          <p:cNvSpPr/>
          <p:nvPr/>
        </p:nvSpPr>
        <p:spPr>
          <a:xfrm>
            <a:off x="5431536" y="2450592"/>
            <a:ext cx="3511296" cy="45720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Toggle Data Center mode. Click Site Scout. Type: "100MW near I-85, 230kV minimum." Sub-market boxes appear on map.</a:t>
            </a:r>
            <a:endParaRPr lang="en-US" sz="950" dirty="0"/>
          </a:p>
        </p:txBody>
      </p:sp>
      <p:sp>
        <p:nvSpPr>
          <p:cNvPr id="41" name="Shape 39"/>
          <p:cNvSpPr/>
          <p:nvPr/>
        </p:nvSpPr>
        <p:spPr>
          <a:xfrm>
            <a:off x="4882896" y="3090672"/>
            <a:ext cx="4187952" cy="87782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42" name="Shape 40"/>
          <p:cNvSpPr/>
          <p:nvPr/>
        </p:nvSpPr>
        <p:spPr>
          <a:xfrm>
            <a:off x="4882896" y="3090672"/>
            <a:ext cx="54864" cy="877824"/>
          </a:xfrm>
          <a:prstGeom prst="rect">
            <a:avLst/>
          </a:prstGeom>
          <a:solidFill>
            <a:srgbClr val="EA580C"/>
          </a:solidFill>
          <a:ln/>
        </p:spPr>
      </p:sp>
      <p:sp>
        <p:nvSpPr>
          <p:cNvPr id="43" name="Shape 41"/>
          <p:cNvSpPr/>
          <p:nvPr/>
        </p:nvSpPr>
        <p:spPr>
          <a:xfrm>
            <a:off x="5010912" y="3291840"/>
            <a:ext cx="347472" cy="347472"/>
          </a:xfrm>
          <a:prstGeom prst="ellipse">
            <a:avLst/>
          </a:prstGeom>
          <a:solidFill>
            <a:srgbClr val="EA580C"/>
          </a:solidFill>
          <a:ln/>
        </p:spPr>
      </p:sp>
      <p:sp>
        <p:nvSpPr>
          <p:cNvPr id="44" name="Text 42"/>
          <p:cNvSpPr/>
          <p:nvPr/>
        </p:nvSpPr>
        <p:spPr>
          <a:xfrm>
            <a:off x="5010912" y="32918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45" name="Text 43"/>
          <p:cNvSpPr/>
          <p:nvPr/>
        </p:nvSpPr>
        <p:spPr>
          <a:xfrm>
            <a:off x="5431536" y="3163824"/>
            <a:ext cx="3511296" cy="256032"/>
          </a:xfrm>
          <a:prstGeom prst="rect">
            <a:avLst/>
          </a:prstGeom>
          <a:noFill/>
          <a:ln/>
        </p:spPr>
        <p:txBody>
          <a:bodyPr wrap="square" lIns="0" tIns="0" rIns="0" bIns="0" rtlCol="0" anchor="ctr"/>
          <a:lstStyle/>
          <a:p>
            <a:pPr indent="0" marL="0">
              <a:buNone/>
            </a:pPr>
            <a:r>
              <a:rPr lang="en-US" sz="1200" b="1" dirty="0">
                <a:solidFill>
                  <a:srgbClr val="0F172A"/>
                </a:solidFill>
                <a:latin typeface="Georgia" pitchFamily="34" charset="0"/>
                <a:ea typeface="Georgia" pitchFamily="34" charset="-122"/>
                <a:cs typeface="Georgia" pitchFamily="34" charset="-120"/>
              </a:rPr>
              <a:t>Comparison Table</a:t>
            </a:r>
            <a:endParaRPr lang="en-US" sz="1200" dirty="0"/>
          </a:p>
        </p:txBody>
      </p:sp>
      <p:sp>
        <p:nvSpPr>
          <p:cNvPr id="46" name="Text 44"/>
          <p:cNvSpPr/>
          <p:nvPr/>
        </p:nvSpPr>
        <p:spPr>
          <a:xfrm>
            <a:off x="5431536" y="3438144"/>
            <a:ext cx="3511296" cy="45720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Add 3 sites to tray. Click Compare. AI narrative streams. "This is a site selection consultant report in 30 seconds."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164592"/>
            <a:ext cx="365760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THE BUSINESS CASE</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Changes for Your Team</a:t>
            </a:r>
            <a:endParaRPr lang="en-US" sz="2800" dirty="0"/>
          </a:p>
        </p:txBody>
      </p:sp>
      <p:sp>
        <p:nvSpPr>
          <p:cNvPr id="5" name="Shape 3"/>
          <p:cNvSpPr/>
          <p:nvPr/>
        </p:nvSpPr>
        <p:spPr>
          <a:xfrm>
            <a:off x="457200" y="1078992"/>
            <a:ext cx="3931920" cy="347472"/>
          </a:xfrm>
          <a:prstGeom prst="rect">
            <a:avLst/>
          </a:prstGeom>
          <a:solidFill>
            <a:srgbClr val="DC2626"/>
          </a:solidFill>
          <a:ln/>
        </p:spPr>
      </p:sp>
      <p:sp>
        <p:nvSpPr>
          <p:cNvPr id="6" name="Text 4"/>
          <p:cNvSpPr/>
          <p:nvPr/>
        </p:nvSpPr>
        <p:spPr>
          <a:xfrm>
            <a:off x="457200" y="1078992"/>
            <a:ext cx="39319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WITHOUT  —  Today</a:t>
            </a:r>
            <a:endParaRPr lang="en-US" sz="1300" dirty="0"/>
          </a:p>
        </p:txBody>
      </p:sp>
      <p:sp>
        <p:nvSpPr>
          <p:cNvPr id="7" name="Shape 5"/>
          <p:cNvSpPr/>
          <p:nvPr/>
        </p:nvSpPr>
        <p:spPr>
          <a:xfrm>
            <a:off x="4754880" y="1078992"/>
            <a:ext cx="4160520" cy="347472"/>
          </a:xfrm>
          <a:prstGeom prst="rect">
            <a:avLst/>
          </a:prstGeom>
          <a:solidFill>
            <a:srgbClr val="15803D"/>
          </a:solidFill>
          <a:ln/>
        </p:spPr>
      </p:sp>
      <p:sp>
        <p:nvSpPr>
          <p:cNvPr id="8" name="Text 6"/>
          <p:cNvSpPr/>
          <p:nvPr/>
        </p:nvSpPr>
        <p:spPr>
          <a:xfrm>
            <a:off x="4754880" y="1078992"/>
            <a:ext cx="4160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WITH  —  Pocket Developer</a:t>
            </a:r>
            <a:endParaRPr lang="en-US" sz="1300" dirty="0"/>
          </a:p>
        </p:txBody>
      </p:sp>
      <p:sp>
        <p:nvSpPr>
          <p:cNvPr id="9" name="Shape 7"/>
          <p:cNvSpPr/>
          <p:nvPr/>
        </p:nvSpPr>
        <p:spPr>
          <a:xfrm>
            <a:off x="457200" y="1463040"/>
            <a:ext cx="3931920" cy="457200"/>
          </a:xfrm>
          <a:prstGeom prst="rect">
            <a:avLst/>
          </a:prstGeom>
          <a:solidFill>
            <a:srgbClr val="FFF1F2"/>
          </a:solidFill>
          <a:ln/>
        </p:spPr>
      </p:sp>
      <p:sp>
        <p:nvSpPr>
          <p:cNvPr id="10" name="Shape 8"/>
          <p:cNvSpPr/>
          <p:nvPr/>
        </p:nvSpPr>
        <p:spPr>
          <a:xfrm>
            <a:off x="4754880" y="1463040"/>
            <a:ext cx="4160520" cy="457200"/>
          </a:xfrm>
          <a:prstGeom prst="rect">
            <a:avLst/>
          </a:prstGeom>
          <a:solidFill>
            <a:srgbClr val="F0FDF4"/>
          </a:solidFill>
          <a:ln/>
        </p:spPr>
      </p:sp>
      <p:sp>
        <p:nvSpPr>
          <p:cNvPr id="11" name="Text 9"/>
          <p:cNvSpPr/>
          <p:nvPr/>
        </p:nvSpPr>
        <p:spPr>
          <a:xfrm>
            <a:off x="548640" y="1517904"/>
            <a:ext cx="3767328" cy="347472"/>
          </a:xfrm>
          <a:prstGeom prst="rect">
            <a:avLst/>
          </a:prstGeom>
          <a:noFill/>
          <a:ln/>
        </p:spPr>
        <p:txBody>
          <a:bodyPr wrap="square" lIns="0" tIns="0" rIns="0" bIns="0" rtlCol="0" anchor="ctr"/>
          <a:lstStyle/>
          <a:p>
            <a:pPr indent="0" marL="0">
              <a:buNone/>
            </a:pPr>
            <a:r>
              <a:rPr lang="en-US" sz="1050" dirty="0">
                <a:solidFill>
                  <a:srgbClr val="DC2626"/>
                </a:solidFill>
                <a:latin typeface="Calibri" pitchFamily="34" charset="0"/>
                <a:ea typeface="Calibri" pitchFamily="34" charset="-122"/>
                <a:cs typeface="Calibri" pitchFamily="34" charset="-120"/>
              </a:rPr>
              <a:t>4–8 hours per parcel due diligence</a:t>
            </a:r>
            <a:endParaRPr lang="en-US" sz="1050" dirty="0"/>
          </a:p>
        </p:txBody>
      </p:sp>
      <p:sp>
        <p:nvSpPr>
          <p:cNvPr id="12" name="Text 10"/>
          <p:cNvSpPr/>
          <p:nvPr/>
        </p:nvSpPr>
        <p:spPr>
          <a:xfrm>
            <a:off x="4846320" y="1517904"/>
            <a:ext cx="3986784" cy="347472"/>
          </a:xfrm>
          <a:prstGeom prst="rect">
            <a:avLst/>
          </a:prstGeom>
          <a:noFill/>
          <a:ln/>
        </p:spPr>
        <p:txBody>
          <a:bodyPr wrap="square" lIns="0" tIns="0" rIns="0" bIns="0" rtlCol="0" anchor="ctr"/>
          <a:lstStyle/>
          <a:p>
            <a:pPr indent="0" marL="0">
              <a:buNone/>
            </a:pPr>
            <a:r>
              <a:rPr lang="en-US" sz="1050" dirty="0">
                <a:solidFill>
                  <a:srgbClr val="15803D"/>
                </a:solidFill>
                <a:latin typeface="Calibri" pitchFamily="34" charset="0"/>
                <a:ea typeface="Calibri" pitchFamily="34" charset="-122"/>
                <a:cs typeface="Calibri" pitchFamily="34" charset="-120"/>
              </a:rPr>
              <a:t>Under 90 seconds from click to full analysis</a:t>
            </a:r>
            <a:endParaRPr lang="en-US" sz="1050" dirty="0"/>
          </a:p>
        </p:txBody>
      </p:sp>
      <p:sp>
        <p:nvSpPr>
          <p:cNvPr id="13" name="Shape 11"/>
          <p:cNvSpPr/>
          <p:nvPr/>
        </p:nvSpPr>
        <p:spPr>
          <a:xfrm>
            <a:off x="457200" y="1965960"/>
            <a:ext cx="3931920" cy="457200"/>
          </a:xfrm>
          <a:prstGeom prst="rect">
            <a:avLst/>
          </a:prstGeom>
          <a:solidFill>
            <a:srgbClr val="FEE2E2"/>
          </a:solidFill>
          <a:ln/>
        </p:spPr>
      </p:sp>
      <p:sp>
        <p:nvSpPr>
          <p:cNvPr id="14" name="Shape 12"/>
          <p:cNvSpPr/>
          <p:nvPr/>
        </p:nvSpPr>
        <p:spPr>
          <a:xfrm>
            <a:off x="4754880" y="1965960"/>
            <a:ext cx="4160520" cy="457200"/>
          </a:xfrm>
          <a:prstGeom prst="rect">
            <a:avLst/>
          </a:prstGeom>
          <a:solidFill>
            <a:srgbClr val="DCFCE7"/>
          </a:solidFill>
          <a:ln/>
        </p:spPr>
      </p:sp>
      <p:sp>
        <p:nvSpPr>
          <p:cNvPr id="15" name="Text 13"/>
          <p:cNvSpPr/>
          <p:nvPr/>
        </p:nvSpPr>
        <p:spPr>
          <a:xfrm>
            <a:off x="548640" y="2020824"/>
            <a:ext cx="3767328" cy="347472"/>
          </a:xfrm>
          <a:prstGeom prst="rect">
            <a:avLst/>
          </a:prstGeom>
          <a:noFill/>
          <a:ln/>
        </p:spPr>
        <p:txBody>
          <a:bodyPr wrap="square" lIns="0" tIns="0" rIns="0" bIns="0" rtlCol="0" anchor="ctr"/>
          <a:lstStyle/>
          <a:p>
            <a:pPr indent="0" marL="0">
              <a:buNone/>
            </a:pPr>
            <a:r>
              <a:rPr lang="en-US" sz="1050" dirty="0">
                <a:solidFill>
                  <a:srgbClr val="DC2626"/>
                </a:solidFill>
                <a:latin typeface="Calibri" pitchFamily="34" charset="0"/>
                <a:ea typeface="Calibri" pitchFamily="34" charset="-122"/>
                <a:cs typeface="Calibri" pitchFamily="34" charset="-120"/>
              </a:rPr>
              <a:t>County GIS, tax assessor, SOS — three separate tools</a:t>
            </a:r>
            <a:endParaRPr lang="en-US" sz="1050" dirty="0"/>
          </a:p>
        </p:txBody>
      </p:sp>
      <p:sp>
        <p:nvSpPr>
          <p:cNvPr id="16" name="Text 14"/>
          <p:cNvSpPr/>
          <p:nvPr/>
        </p:nvSpPr>
        <p:spPr>
          <a:xfrm>
            <a:off x="4846320" y="2020824"/>
            <a:ext cx="3986784" cy="347472"/>
          </a:xfrm>
          <a:prstGeom prst="rect">
            <a:avLst/>
          </a:prstGeom>
          <a:noFill/>
          <a:ln/>
        </p:spPr>
        <p:txBody>
          <a:bodyPr wrap="square" lIns="0" tIns="0" rIns="0" bIns="0" rtlCol="0" anchor="ctr"/>
          <a:lstStyle/>
          <a:p>
            <a:pPr indent="0" marL="0">
              <a:buNone/>
            </a:pPr>
            <a:r>
              <a:rPr lang="en-US" sz="1050" dirty="0">
                <a:solidFill>
                  <a:srgbClr val="15803D"/>
                </a:solidFill>
                <a:latin typeface="Calibri" pitchFamily="34" charset="0"/>
                <a:ea typeface="Calibri" pitchFamily="34" charset="-122"/>
                <a:cs typeface="Calibri" pitchFamily="34" charset="-120"/>
              </a:rPr>
              <a:t>One interface: all sources unified with one click</a:t>
            </a:r>
            <a:endParaRPr lang="en-US" sz="1050" dirty="0"/>
          </a:p>
        </p:txBody>
      </p:sp>
      <p:sp>
        <p:nvSpPr>
          <p:cNvPr id="17" name="Shape 15"/>
          <p:cNvSpPr/>
          <p:nvPr/>
        </p:nvSpPr>
        <p:spPr>
          <a:xfrm>
            <a:off x="457200" y="2468880"/>
            <a:ext cx="3931920" cy="457200"/>
          </a:xfrm>
          <a:prstGeom prst="rect">
            <a:avLst/>
          </a:prstGeom>
          <a:solidFill>
            <a:srgbClr val="FFF1F2"/>
          </a:solidFill>
          <a:ln/>
        </p:spPr>
      </p:sp>
      <p:sp>
        <p:nvSpPr>
          <p:cNvPr id="18" name="Shape 16"/>
          <p:cNvSpPr/>
          <p:nvPr/>
        </p:nvSpPr>
        <p:spPr>
          <a:xfrm>
            <a:off x="4754880" y="2468880"/>
            <a:ext cx="4160520" cy="457200"/>
          </a:xfrm>
          <a:prstGeom prst="rect">
            <a:avLst/>
          </a:prstGeom>
          <a:solidFill>
            <a:srgbClr val="F0FDF4"/>
          </a:solidFill>
          <a:ln/>
        </p:spPr>
      </p:sp>
      <p:sp>
        <p:nvSpPr>
          <p:cNvPr id="19" name="Text 17"/>
          <p:cNvSpPr/>
          <p:nvPr/>
        </p:nvSpPr>
        <p:spPr>
          <a:xfrm>
            <a:off x="548640" y="2523744"/>
            <a:ext cx="3767328" cy="347472"/>
          </a:xfrm>
          <a:prstGeom prst="rect">
            <a:avLst/>
          </a:prstGeom>
          <a:noFill/>
          <a:ln/>
        </p:spPr>
        <p:txBody>
          <a:bodyPr wrap="square" lIns="0" tIns="0" rIns="0" bIns="0" rtlCol="0" anchor="ctr"/>
          <a:lstStyle/>
          <a:p>
            <a:pPr indent="0" marL="0">
              <a:buNone/>
            </a:pPr>
            <a:r>
              <a:rPr lang="en-US" sz="1050" dirty="0">
                <a:solidFill>
                  <a:srgbClr val="DC2626"/>
                </a:solidFill>
                <a:latin typeface="Calibri" pitchFamily="34" charset="0"/>
                <a:ea typeface="Calibri" pitchFamily="34" charset="-122"/>
                <a:cs typeface="Calibri" pitchFamily="34" charset="-120"/>
              </a:rPr>
              <a:t>LLC ownership opacity delays decisions</a:t>
            </a:r>
            <a:endParaRPr lang="en-US" sz="1050" dirty="0"/>
          </a:p>
        </p:txBody>
      </p:sp>
      <p:sp>
        <p:nvSpPr>
          <p:cNvPr id="20" name="Text 18"/>
          <p:cNvSpPr/>
          <p:nvPr/>
        </p:nvSpPr>
        <p:spPr>
          <a:xfrm>
            <a:off x="4846320" y="2523744"/>
            <a:ext cx="3986784" cy="347472"/>
          </a:xfrm>
          <a:prstGeom prst="rect">
            <a:avLst/>
          </a:prstGeom>
          <a:noFill/>
          <a:ln/>
        </p:spPr>
        <p:txBody>
          <a:bodyPr wrap="square" lIns="0" tIns="0" rIns="0" bIns="0" rtlCol="0" anchor="ctr"/>
          <a:lstStyle/>
          <a:p>
            <a:pPr indent="0" marL="0">
              <a:buNone/>
            </a:pPr>
            <a:r>
              <a:rPr lang="en-US" sz="1050" dirty="0">
                <a:solidFill>
                  <a:srgbClr val="15803D"/>
                </a:solidFill>
                <a:latin typeface="Calibri" pitchFamily="34" charset="0"/>
                <a:ea typeface="Calibri" pitchFamily="34" charset="-122"/>
                <a:cs typeface="Calibri" pitchFamily="34" charset="-120"/>
              </a:rPr>
              <a:t>Entity lookup resolves beneficial ownership on demand</a:t>
            </a:r>
            <a:endParaRPr lang="en-US" sz="1050" dirty="0"/>
          </a:p>
        </p:txBody>
      </p:sp>
      <p:sp>
        <p:nvSpPr>
          <p:cNvPr id="21" name="Shape 19"/>
          <p:cNvSpPr/>
          <p:nvPr/>
        </p:nvSpPr>
        <p:spPr>
          <a:xfrm>
            <a:off x="457200" y="2971800"/>
            <a:ext cx="3931920" cy="457200"/>
          </a:xfrm>
          <a:prstGeom prst="rect">
            <a:avLst/>
          </a:prstGeom>
          <a:solidFill>
            <a:srgbClr val="FEE2E2"/>
          </a:solidFill>
          <a:ln/>
        </p:spPr>
      </p:sp>
      <p:sp>
        <p:nvSpPr>
          <p:cNvPr id="22" name="Shape 20"/>
          <p:cNvSpPr/>
          <p:nvPr/>
        </p:nvSpPr>
        <p:spPr>
          <a:xfrm>
            <a:off x="4754880" y="2971800"/>
            <a:ext cx="4160520" cy="457200"/>
          </a:xfrm>
          <a:prstGeom prst="rect">
            <a:avLst/>
          </a:prstGeom>
          <a:solidFill>
            <a:srgbClr val="DCFCE7"/>
          </a:solidFill>
          <a:ln/>
        </p:spPr>
      </p:sp>
      <p:sp>
        <p:nvSpPr>
          <p:cNvPr id="23" name="Text 21"/>
          <p:cNvSpPr/>
          <p:nvPr/>
        </p:nvSpPr>
        <p:spPr>
          <a:xfrm>
            <a:off x="548640" y="3026664"/>
            <a:ext cx="3767328" cy="347472"/>
          </a:xfrm>
          <a:prstGeom prst="rect">
            <a:avLst/>
          </a:prstGeom>
          <a:noFill/>
          <a:ln/>
        </p:spPr>
        <p:txBody>
          <a:bodyPr wrap="square" lIns="0" tIns="0" rIns="0" bIns="0" rtlCol="0" anchor="ctr"/>
          <a:lstStyle/>
          <a:p>
            <a:pPr indent="0" marL="0">
              <a:buNone/>
            </a:pPr>
            <a:r>
              <a:rPr lang="en-US" sz="1050" dirty="0">
                <a:solidFill>
                  <a:srgbClr val="DC2626"/>
                </a:solidFill>
                <a:latin typeface="Calibri" pitchFamily="34" charset="0"/>
                <a:ea typeface="Calibri" pitchFamily="34" charset="-122"/>
                <a:cs typeface="Calibri" pitchFamily="34" charset="-120"/>
              </a:rPr>
              <a:t>Zoning questions need a planner or attorney</a:t>
            </a:r>
            <a:endParaRPr lang="en-US" sz="1050" dirty="0"/>
          </a:p>
        </p:txBody>
      </p:sp>
      <p:sp>
        <p:nvSpPr>
          <p:cNvPr id="24" name="Text 22"/>
          <p:cNvSpPr/>
          <p:nvPr/>
        </p:nvSpPr>
        <p:spPr>
          <a:xfrm>
            <a:off x="4846320" y="3026664"/>
            <a:ext cx="3986784" cy="347472"/>
          </a:xfrm>
          <a:prstGeom prst="rect">
            <a:avLst/>
          </a:prstGeom>
          <a:noFill/>
          <a:ln/>
        </p:spPr>
        <p:txBody>
          <a:bodyPr wrap="square" lIns="0" tIns="0" rIns="0" bIns="0" rtlCol="0" anchor="ctr"/>
          <a:lstStyle/>
          <a:p>
            <a:pPr indent="0" marL="0">
              <a:buNone/>
            </a:pPr>
            <a:r>
              <a:rPr lang="en-US" sz="1050" dirty="0">
                <a:solidFill>
                  <a:srgbClr val="15803D"/>
                </a:solidFill>
                <a:latin typeface="Calibri" pitchFamily="34" charset="0"/>
                <a:ea typeface="Calibri" pitchFamily="34" charset="-122"/>
                <a:cs typeface="Calibri" pitchFamily="34" charset="-120"/>
              </a:rPr>
              <a:t>AI zoning chat answers in the field, instantly</a:t>
            </a:r>
            <a:endParaRPr lang="en-US" sz="1050" dirty="0"/>
          </a:p>
        </p:txBody>
      </p:sp>
      <p:sp>
        <p:nvSpPr>
          <p:cNvPr id="25" name="Shape 23"/>
          <p:cNvSpPr/>
          <p:nvPr/>
        </p:nvSpPr>
        <p:spPr>
          <a:xfrm>
            <a:off x="457200" y="3474720"/>
            <a:ext cx="3931920" cy="457200"/>
          </a:xfrm>
          <a:prstGeom prst="rect">
            <a:avLst/>
          </a:prstGeom>
          <a:solidFill>
            <a:srgbClr val="FFF1F2"/>
          </a:solidFill>
          <a:ln/>
        </p:spPr>
      </p:sp>
      <p:sp>
        <p:nvSpPr>
          <p:cNvPr id="26" name="Shape 24"/>
          <p:cNvSpPr/>
          <p:nvPr/>
        </p:nvSpPr>
        <p:spPr>
          <a:xfrm>
            <a:off x="4754880" y="3474720"/>
            <a:ext cx="4160520" cy="457200"/>
          </a:xfrm>
          <a:prstGeom prst="rect">
            <a:avLst/>
          </a:prstGeom>
          <a:solidFill>
            <a:srgbClr val="F0FDF4"/>
          </a:solidFill>
          <a:ln/>
        </p:spPr>
      </p:sp>
      <p:sp>
        <p:nvSpPr>
          <p:cNvPr id="27" name="Text 25"/>
          <p:cNvSpPr/>
          <p:nvPr/>
        </p:nvSpPr>
        <p:spPr>
          <a:xfrm>
            <a:off x="548640" y="3529584"/>
            <a:ext cx="3767328" cy="347472"/>
          </a:xfrm>
          <a:prstGeom prst="rect">
            <a:avLst/>
          </a:prstGeom>
          <a:noFill/>
          <a:ln/>
        </p:spPr>
        <p:txBody>
          <a:bodyPr wrap="square" lIns="0" tIns="0" rIns="0" bIns="0" rtlCol="0" anchor="ctr"/>
          <a:lstStyle/>
          <a:p>
            <a:pPr indent="0" marL="0">
              <a:buNone/>
            </a:pPr>
            <a:r>
              <a:rPr lang="en-US" sz="1050" dirty="0">
                <a:solidFill>
                  <a:srgbClr val="DC2626"/>
                </a:solidFill>
                <a:latin typeface="Calibri" pitchFamily="34" charset="0"/>
                <a:ea typeface="Calibri" pitchFamily="34" charset="-122"/>
                <a:cs typeface="Calibri" pitchFamily="34" charset="-120"/>
              </a:rPr>
              <a:t>DC sites evaluated manually against utility maps</a:t>
            </a:r>
            <a:endParaRPr lang="en-US" sz="1050" dirty="0"/>
          </a:p>
        </p:txBody>
      </p:sp>
      <p:sp>
        <p:nvSpPr>
          <p:cNvPr id="28" name="Text 26"/>
          <p:cNvSpPr/>
          <p:nvPr/>
        </p:nvSpPr>
        <p:spPr>
          <a:xfrm>
            <a:off x="4846320" y="3529584"/>
            <a:ext cx="3986784" cy="347472"/>
          </a:xfrm>
          <a:prstGeom prst="rect">
            <a:avLst/>
          </a:prstGeom>
          <a:noFill/>
          <a:ln/>
        </p:spPr>
        <p:txBody>
          <a:bodyPr wrap="square" lIns="0" tIns="0" rIns="0" bIns="0" rtlCol="0" anchor="ctr"/>
          <a:lstStyle/>
          <a:p>
            <a:pPr indent="0" marL="0">
              <a:buNone/>
            </a:pPr>
            <a:r>
              <a:rPr lang="en-US" sz="1050" dirty="0">
                <a:solidFill>
                  <a:srgbClr val="15803D"/>
                </a:solidFill>
                <a:latin typeface="Calibri" pitchFamily="34" charset="0"/>
                <a:ea typeface="Calibri" pitchFamily="34" charset="-122"/>
                <a:cs typeface="Calibri" pitchFamily="34" charset="-120"/>
              </a:rPr>
              <a:t>HIFLD-validated DC scoring in real time for every parcel</a:t>
            </a:r>
            <a:endParaRPr lang="en-US" sz="1050" dirty="0"/>
          </a:p>
        </p:txBody>
      </p:sp>
      <p:sp>
        <p:nvSpPr>
          <p:cNvPr id="29" name="Shape 27"/>
          <p:cNvSpPr/>
          <p:nvPr/>
        </p:nvSpPr>
        <p:spPr>
          <a:xfrm>
            <a:off x="457200" y="3977640"/>
            <a:ext cx="3931920" cy="457200"/>
          </a:xfrm>
          <a:prstGeom prst="rect">
            <a:avLst/>
          </a:prstGeom>
          <a:solidFill>
            <a:srgbClr val="FEE2E2"/>
          </a:solidFill>
          <a:ln/>
        </p:spPr>
      </p:sp>
      <p:sp>
        <p:nvSpPr>
          <p:cNvPr id="30" name="Shape 28"/>
          <p:cNvSpPr/>
          <p:nvPr/>
        </p:nvSpPr>
        <p:spPr>
          <a:xfrm>
            <a:off x="4754880" y="3977640"/>
            <a:ext cx="4160520" cy="457200"/>
          </a:xfrm>
          <a:prstGeom prst="rect">
            <a:avLst/>
          </a:prstGeom>
          <a:solidFill>
            <a:srgbClr val="DCFCE7"/>
          </a:solidFill>
          <a:ln/>
        </p:spPr>
      </p:sp>
      <p:sp>
        <p:nvSpPr>
          <p:cNvPr id="31" name="Text 29"/>
          <p:cNvSpPr/>
          <p:nvPr/>
        </p:nvSpPr>
        <p:spPr>
          <a:xfrm>
            <a:off x="548640" y="4032504"/>
            <a:ext cx="3767328" cy="347472"/>
          </a:xfrm>
          <a:prstGeom prst="rect">
            <a:avLst/>
          </a:prstGeom>
          <a:noFill/>
          <a:ln/>
        </p:spPr>
        <p:txBody>
          <a:bodyPr wrap="square" lIns="0" tIns="0" rIns="0" bIns="0" rtlCol="0" anchor="ctr"/>
          <a:lstStyle/>
          <a:p>
            <a:pPr indent="0" marL="0">
              <a:buNone/>
            </a:pPr>
            <a:r>
              <a:rPr lang="en-US" sz="1050" dirty="0">
                <a:solidFill>
                  <a:srgbClr val="DC2626"/>
                </a:solidFill>
                <a:latin typeface="Calibri" pitchFamily="34" charset="0"/>
                <a:ea typeface="Calibri" pitchFamily="34" charset="-122"/>
                <a:cs typeface="Calibri" pitchFamily="34" charset="-120"/>
              </a:rPr>
              <a:t>Site candidates require local knowledge or driving</a:t>
            </a:r>
            <a:endParaRPr lang="en-US" sz="1050" dirty="0"/>
          </a:p>
        </p:txBody>
      </p:sp>
      <p:sp>
        <p:nvSpPr>
          <p:cNvPr id="32" name="Text 30"/>
          <p:cNvSpPr/>
          <p:nvPr/>
        </p:nvSpPr>
        <p:spPr>
          <a:xfrm>
            <a:off x="4846320" y="4032504"/>
            <a:ext cx="3986784" cy="347472"/>
          </a:xfrm>
          <a:prstGeom prst="rect">
            <a:avLst/>
          </a:prstGeom>
          <a:noFill/>
          <a:ln/>
        </p:spPr>
        <p:txBody>
          <a:bodyPr wrap="square" lIns="0" tIns="0" rIns="0" bIns="0" rtlCol="0" anchor="ctr"/>
          <a:lstStyle/>
          <a:p>
            <a:pPr indent="0" marL="0">
              <a:buNone/>
            </a:pPr>
            <a:r>
              <a:rPr lang="en-US" sz="1050" dirty="0">
                <a:solidFill>
                  <a:srgbClr val="15803D"/>
                </a:solidFill>
                <a:latin typeface="Calibri" pitchFamily="34" charset="0"/>
                <a:ea typeface="Calibri" pitchFamily="34" charset="-122"/>
                <a:cs typeface="Calibri" pitchFamily="34" charset="-120"/>
              </a:rPr>
              <a:t>Site Scout finds SE corridor candidates from one sentence</a:t>
            </a:r>
            <a:endParaRPr lang="en-US" sz="1050" dirty="0"/>
          </a:p>
        </p:txBody>
      </p:sp>
      <p:sp>
        <p:nvSpPr>
          <p:cNvPr id="33" name="Shape 31"/>
          <p:cNvSpPr/>
          <p:nvPr/>
        </p:nvSpPr>
        <p:spPr>
          <a:xfrm>
            <a:off x="457200" y="4480560"/>
            <a:ext cx="3931920" cy="457200"/>
          </a:xfrm>
          <a:prstGeom prst="rect">
            <a:avLst/>
          </a:prstGeom>
          <a:solidFill>
            <a:srgbClr val="FFF1F2"/>
          </a:solidFill>
          <a:ln/>
        </p:spPr>
      </p:sp>
      <p:sp>
        <p:nvSpPr>
          <p:cNvPr id="34" name="Shape 32"/>
          <p:cNvSpPr/>
          <p:nvPr/>
        </p:nvSpPr>
        <p:spPr>
          <a:xfrm>
            <a:off x="4754880" y="4480560"/>
            <a:ext cx="4160520" cy="457200"/>
          </a:xfrm>
          <a:prstGeom prst="rect">
            <a:avLst/>
          </a:prstGeom>
          <a:solidFill>
            <a:srgbClr val="F0FDF4"/>
          </a:solidFill>
          <a:ln/>
        </p:spPr>
      </p:sp>
      <p:sp>
        <p:nvSpPr>
          <p:cNvPr id="35" name="Text 33"/>
          <p:cNvSpPr/>
          <p:nvPr/>
        </p:nvSpPr>
        <p:spPr>
          <a:xfrm>
            <a:off x="548640" y="4535424"/>
            <a:ext cx="3767328" cy="347472"/>
          </a:xfrm>
          <a:prstGeom prst="rect">
            <a:avLst/>
          </a:prstGeom>
          <a:noFill/>
          <a:ln/>
        </p:spPr>
        <p:txBody>
          <a:bodyPr wrap="square" lIns="0" tIns="0" rIns="0" bIns="0" rtlCol="0" anchor="ctr"/>
          <a:lstStyle/>
          <a:p>
            <a:pPr indent="0" marL="0">
              <a:buNone/>
            </a:pPr>
            <a:r>
              <a:rPr lang="en-US" sz="1050" dirty="0">
                <a:solidFill>
                  <a:srgbClr val="DC2626"/>
                </a:solidFill>
                <a:latin typeface="Calibri" pitchFamily="34" charset="0"/>
                <a:ea typeface="Calibri" pitchFamily="34" charset="-122"/>
                <a:cs typeface="Calibri" pitchFamily="34" charset="-120"/>
              </a:rPr>
              <a:t>Investment memo written manually after analysis</a:t>
            </a:r>
            <a:endParaRPr lang="en-US" sz="1050" dirty="0"/>
          </a:p>
        </p:txBody>
      </p:sp>
      <p:sp>
        <p:nvSpPr>
          <p:cNvPr id="36" name="Text 34"/>
          <p:cNvSpPr/>
          <p:nvPr/>
        </p:nvSpPr>
        <p:spPr>
          <a:xfrm>
            <a:off x="4846320" y="4535424"/>
            <a:ext cx="3986784" cy="347472"/>
          </a:xfrm>
          <a:prstGeom prst="rect">
            <a:avLst/>
          </a:prstGeom>
          <a:noFill/>
          <a:ln/>
        </p:spPr>
        <p:txBody>
          <a:bodyPr wrap="square" lIns="0" tIns="0" rIns="0" bIns="0" rtlCol="0" anchor="ctr"/>
          <a:lstStyle/>
          <a:p>
            <a:pPr indent="0" marL="0">
              <a:buNone/>
            </a:pPr>
            <a:r>
              <a:rPr lang="en-US" sz="1050" dirty="0">
                <a:solidFill>
                  <a:srgbClr val="15803D"/>
                </a:solidFill>
                <a:latin typeface="Calibri" pitchFamily="34" charset="0"/>
                <a:ea typeface="Calibri" pitchFamily="34" charset="-122"/>
                <a:cs typeface="Calibri" pitchFamily="34" charset="-120"/>
              </a:rPr>
              <a:t>AI brief generated in one click with comps and scoring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7C3AED"/>
          </a:solidFill>
          <a:ln/>
        </p:spPr>
      </p:sp>
      <p:sp>
        <p:nvSpPr>
          <p:cNvPr id="3" name="Text 1"/>
          <p:cNvSpPr/>
          <p:nvPr/>
        </p:nvSpPr>
        <p:spPr>
          <a:xfrm>
            <a:off x="457200" y="164592"/>
            <a:ext cx="4572000" cy="201168"/>
          </a:xfrm>
          <a:prstGeom prst="rect">
            <a:avLst/>
          </a:prstGeom>
          <a:noFill/>
          <a:ln/>
        </p:spPr>
        <p:txBody>
          <a:bodyPr wrap="square" lIns="0" tIns="0" rIns="0" bIns="0" rtlCol="0" anchor="ctr"/>
          <a:lstStyle/>
          <a:p>
            <a:pPr indent="0" marL="0">
              <a:buNone/>
            </a:pPr>
            <a:r>
              <a:rPr lang="en-US" sz="900" b="1" spc="300" kern="0" dirty="0">
                <a:solidFill>
                  <a:srgbClr val="7C3AED"/>
                </a:solidFill>
                <a:latin typeface="Calibri" pitchFamily="34" charset="0"/>
                <a:ea typeface="Calibri" pitchFamily="34" charset="-122"/>
                <a:cs typeface="Calibri" pitchFamily="34" charset="-120"/>
              </a:rPr>
              <a:t>THE LONG-TERM ADVANTAGE</a:t>
            </a:r>
            <a:endParaRPr lang="en-US" sz="900" dirty="0"/>
          </a:p>
        </p:txBody>
      </p:sp>
      <p:sp>
        <p:nvSpPr>
          <p:cNvPr id="4" name="Text 2"/>
          <p:cNvSpPr/>
          <p:nvPr/>
        </p:nvSpPr>
        <p:spPr>
          <a:xfrm>
            <a:off x="457200" y="402336"/>
            <a:ext cx="8229600" cy="566928"/>
          </a:xfrm>
          <a:prstGeom prst="rect">
            <a:avLst/>
          </a:prstGeom>
          <a:noFill/>
          <a:ln/>
        </p:spPr>
        <p:txBody>
          <a:bodyPr wrap="square" lIns="0" tIns="0" rIns="0" bIns="0" rtlCol="0" anchor="ctr"/>
          <a:lstStyle/>
          <a:p>
            <a:pPr indent="0" marL="0">
              <a:buNone/>
            </a:pPr>
            <a:r>
              <a:rPr lang="en-US" sz="3000" b="1" dirty="0">
                <a:solidFill>
                  <a:srgbClr val="F1F5F9"/>
                </a:solidFill>
                <a:latin typeface="Georgia" pitchFamily="34" charset="0"/>
                <a:ea typeface="Georgia" pitchFamily="34" charset="-122"/>
                <a:cs typeface="Georgia" pitchFamily="34" charset="-120"/>
              </a:rPr>
              <a:t>Phase 4: Your Own Intelligence</a:t>
            </a:r>
            <a:endParaRPr lang="en-US" sz="3000" dirty="0"/>
          </a:p>
        </p:txBody>
      </p:sp>
      <p:sp>
        <p:nvSpPr>
          <p:cNvPr id="5" name="Text 3"/>
          <p:cNvSpPr/>
          <p:nvPr/>
        </p:nvSpPr>
        <p:spPr>
          <a:xfrm>
            <a:off x="457200" y="1133856"/>
            <a:ext cx="4206240" cy="329184"/>
          </a:xfrm>
          <a:prstGeom prst="rect">
            <a:avLst/>
          </a:prstGeom>
          <a:noFill/>
          <a:ln/>
        </p:spPr>
        <p:txBody>
          <a:bodyPr wrap="square" lIns="0" tIns="0" rIns="0" bIns="0" rtlCol="0" anchor="ctr"/>
          <a:lstStyle/>
          <a:p>
            <a:pPr indent="0" marL="0">
              <a:buNone/>
            </a:pPr>
            <a:r>
              <a:rPr lang="en-US" sz="1500" b="1" dirty="0">
                <a:solidFill>
                  <a:srgbClr val="7C3AED"/>
                </a:solidFill>
                <a:latin typeface="Georgia" pitchFamily="34" charset="0"/>
                <a:ea typeface="Georgia" pitchFamily="34" charset="-122"/>
                <a:cs typeface="Georgia" pitchFamily="34" charset="-120"/>
              </a:rPr>
              <a:t>Phases 1–3 built features. Phase 4 builds lock-in.</a:t>
            </a:r>
            <a:endParaRPr lang="en-US" sz="1500" dirty="0"/>
          </a:p>
        </p:txBody>
      </p:sp>
      <p:sp>
        <p:nvSpPr>
          <p:cNvPr id="6" name="Text 4"/>
          <p:cNvSpPr/>
          <p:nvPr/>
        </p:nvSpPr>
        <p:spPr>
          <a:xfrm>
            <a:off x="457200" y="1517904"/>
            <a:ext cx="4206240" cy="21031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By this point, DeThomas has been using the platform for 6–12 months. Deal history ingested, team preferences baked in, institutional knowledge living inside the system.</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The proprietary ML model trains on your actual deal outcomes — what you executed, what you passed on, what you lost to competitors. It starts predicting which new sites are most likely to become deals.</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No competitor can replicate this. The switching cost becomes enormous.</a:t>
            </a:r>
            <a:endParaRPr lang="en-US" sz="1200" dirty="0"/>
          </a:p>
        </p:txBody>
      </p:sp>
      <p:sp>
        <p:nvSpPr>
          <p:cNvPr id="7" name="Shape 5"/>
          <p:cNvSpPr/>
          <p:nvPr/>
        </p:nvSpPr>
        <p:spPr>
          <a:xfrm>
            <a:off x="457200" y="3749040"/>
            <a:ext cx="4206240" cy="18288"/>
          </a:xfrm>
          <a:prstGeom prst="rect">
            <a:avLst/>
          </a:prstGeom>
          <a:solidFill>
            <a:srgbClr val="7C3AED">
              <a:alpha val="50000"/>
            </a:srgbClr>
          </a:solidFill>
          <a:ln/>
        </p:spPr>
      </p:sp>
      <p:sp>
        <p:nvSpPr>
          <p:cNvPr id="8" name="Text 6"/>
          <p:cNvSpPr/>
          <p:nvPr/>
        </p:nvSpPr>
        <p:spPr>
          <a:xfrm>
            <a:off x="457200" y="3803904"/>
            <a:ext cx="4206240" cy="256032"/>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The platform learns from your history. Every deal adds signal.</a:t>
            </a:r>
            <a:endParaRPr lang="en-US" sz="1100" dirty="0"/>
          </a:p>
        </p:txBody>
      </p:sp>
      <p:sp>
        <p:nvSpPr>
          <p:cNvPr id="9" name="Shape 7"/>
          <p:cNvSpPr/>
          <p:nvPr/>
        </p:nvSpPr>
        <p:spPr>
          <a:xfrm>
            <a:off x="4846320" y="1115568"/>
            <a:ext cx="4069080" cy="3200400"/>
          </a:xfrm>
          <a:prstGeom prst="rect">
            <a:avLst/>
          </a:prstGeom>
          <a:solidFill>
            <a:srgbClr val="1E293B"/>
          </a:solidFill>
          <a:ln/>
          <a:effectLst>
            <a:outerShdw sx="100000" sy="100000" kx="0" ky="0" algn="bl" rotWithShape="0" blurRad="101600" dist="25400" dir="8100000">
              <a:srgbClr val="000000">
                <a:alpha val="12000"/>
              </a:srgbClr>
            </a:outerShdw>
          </a:effectLst>
        </p:spPr>
      </p:sp>
      <p:sp>
        <p:nvSpPr>
          <p:cNvPr id="10" name="Shape 8"/>
          <p:cNvSpPr/>
          <p:nvPr/>
        </p:nvSpPr>
        <p:spPr>
          <a:xfrm>
            <a:off x="4846320" y="1115568"/>
            <a:ext cx="4069080" cy="54864"/>
          </a:xfrm>
          <a:prstGeom prst="rect">
            <a:avLst/>
          </a:prstGeom>
          <a:solidFill>
            <a:srgbClr val="7C3AED"/>
          </a:solidFill>
          <a:ln/>
        </p:spPr>
      </p:sp>
      <p:sp>
        <p:nvSpPr>
          <p:cNvPr id="11" name="Text 9"/>
          <p:cNvSpPr/>
          <p:nvPr/>
        </p:nvSpPr>
        <p:spPr>
          <a:xfrm>
            <a:off x="4974336" y="1207008"/>
            <a:ext cx="3822192" cy="182880"/>
          </a:xfrm>
          <a:prstGeom prst="rect">
            <a:avLst/>
          </a:prstGeom>
          <a:noFill/>
          <a:ln/>
        </p:spPr>
        <p:txBody>
          <a:bodyPr wrap="square" lIns="0" tIns="0" rIns="0" bIns="0" rtlCol="0" anchor="ctr"/>
          <a:lstStyle/>
          <a:p>
            <a:pPr indent="0" marL="0">
              <a:buNone/>
            </a:pPr>
            <a:r>
              <a:rPr lang="en-US" sz="800" b="1" spc="200" kern="0" dirty="0">
                <a:solidFill>
                  <a:srgbClr val="7C3AED"/>
                </a:solidFill>
                <a:latin typeface="Calibri" pitchFamily="34" charset="0"/>
                <a:ea typeface="Calibri" pitchFamily="34" charset="-122"/>
                <a:cs typeface="Calibri" pitchFamily="34" charset="-120"/>
              </a:rPr>
              <a:t>PHASE 4 — PROPRIETARY INTELLIGENCE</a:t>
            </a:r>
            <a:endParaRPr lang="en-US" sz="800" dirty="0"/>
          </a:p>
        </p:txBody>
      </p:sp>
      <p:sp>
        <p:nvSpPr>
          <p:cNvPr id="12" name="Text 10"/>
          <p:cNvSpPr/>
          <p:nvPr/>
        </p:nvSpPr>
        <p:spPr>
          <a:xfrm>
            <a:off x="4974336" y="1426464"/>
            <a:ext cx="3822192" cy="219456"/>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What the AI says when you open a parcel:</a:t>
            </a:r>
            <a:endParaRPr lang="en-US" sz="1100" dirty="0"/>
          </a:p>
        </p:txBody>
      </p:sp>
      <p:sp>
        <p:nvSpPr>
          <p:cNvPr id="13" name="Shape 11"/>
          <p:cNvSpPr/>
          <p:nvPr/>
        </p:nvSpPr>
        <p:spPr>
          <a:xfrm>
            <a:off x="4974336" y="1682496"/>
            <a:ext cx="3822192" cy="18288"/>
          </a:xfrm>
          <a:prstGeom prst="rect">
            <a:avLst/>
          </a:prstGeom>
          <a:solidFill>
            <a:srgbClr val="7C3AED">
              <a:alpha val="40000"/>
            </a:srgbClr>
          </a:solidFill>
          <a:ln/>
        </p:spPr>
      </p:sp>
      <p:sp>
        <p:nvSpPr>
          <p:cNvPr id="14" name="Text 12"/>
          <p:cNvSpPr/>
          <p:nvPr/>
        </p:nvSpPr>
        <p:spPr>
          <a:xfrm>
            <a:off x="4974336" y="1737360"/>
            <a:ext cx="3822192" cy="1792224"/>
          </a:xfrm>
          <a:prstGeom prst="rect">
            <a:avLst/>
          </a:prstGeom>
          <a:noFill/>
          <a:ln/>
        </p:spPr>
        <p:txBody>
          <a:bodyPr wrap="square" lIns="0" tIns="0" rIns="0" bIns="0" rtlCol="0" anchor="ctr"/>
          <a:lstStyle/>
          <a:p>
            <a:pPr indent="0" marL="0">
              <a:buNone/>
            </a:pPr>
            <a:r>
              <a:rPr lang="en-US" sz="1150" i="1" dirty="0">
                <a:solidFill>
                  <a:srgbClr val="C4B5FD"/>
                </a:solidFill>
                <a:latin typeface="Calibri" pitchFamily="34" charset="0"/>
                <a:ea typeface="Calibri" pitchFamily="34" charset="-122"/>
                <a:cs typeface="Calibri" pitchFamily="34" charset="-120"/>
              </a:rPr>
              <a:t>"In 2019, DeThomas evaluated a 2.3-acre C-2 site on Buford Highway with similar conditions. The deal passed due to traffic count issues — ADT was under 28K.</a:t>
            </a:r>
            <a:endParaRPr lang="en-US" sz="1150" dirty="0"/>
          </a:p>
          <a:p>
            <a:pPr indent="0" marL="0">
              <a:buNone/>
            </a:pPr>
            <a:endParaRPr lang="en-US" sz="1150" dirty="0"/>
          </a:p>
          <a:p>
            <a:pPr indent="0" marL="0">
              <a:buNone/>
            </a:pPr>
            <a:r>
              <a:rPr lang="en-US" sz="1150" i="1" dirty="0">
                <a:solidFill>
                  <a:srgbClr val="C4B5FD"/>
                </a:solidFill>
                <a:latin typeface="Calibri" pitchFamily="34" charset="0"/>
                <a:ea typeface="Calibri" pitchFamily="34" charset="-122"/>
                <a:cs typeface="Calibri" pitchFamily="34" charset="-120"/>
              </a:rPr>
              <a:t>This site shows 41K ADT, which addresses that concern.</a:t>
            </a:r>
            <a:endParaRPr lang="en-US" sz="1150" dirty="0"/>
          </a:p>
          <a:p>
            <a:pPr indent="0" marL="0">
              <a:buNone/>
            </a:pPr>
            <a:endParaRPr lang="en-US" sz="1150" dirty="0"/>
          </a:p>
          <a:p>
            <a:pPr indent="0" marL="0">
              <a:buNone/>
            </a:pPr>
            <a:r>
              <a:rPr lang="en-US" sz="1150" i="1" dirty="0">
                <a:solidFill>
                  <a:srgbClr val="C4B5FD"/>
                </a:solidFill>
                <a:latin typeface="Calibri" pitchFamily="34" charset="0"/>
                <a:ea typeface="Calibri" pitchFamily="34" charset="-122"/>
                <a:cs typeface="Calibri" pitchFamily="34" charset="-120"/>
              </a:rPr>
              <a:t>The 2019 proforma used a $1.8M land cost assumption for comparable acreage — suggesting this site is priced in range."</a:t>
            </a:r>
            <a:endParaRPr lang="en-US" sz="1150" dirty="0"/>
          </a:p>
        </p:txBody>
      </p:sp>
      <p:sp>
        <p:nvSpPr>
          <p:cNvPr id="15" name="Shape 13"/>
          <p:cNvSpPr/>
          <p:nvPr/>
        </p:nvSpPr>
        <p:spPr>
          <a:xfrm>
            <a:off x="4974336" y="3566160"/>
            <a:ext cx="3822192" cy="18288"/>
          </a:xfrm>
          <a:prstGeom prst="rect">
            <a:avLst/>
          </a:prstGeom>
          <a:solidFill>
            <a:srgbClr val="7C3AED">
              <a:alpha val="40000"/>
            </a:srgbClr>
          </a:solidFill>
          <a:ln/>
        </p:spPr>
      </p:sp>
      <p:sp>
        <p:nvSpPr>
          <p:cNvPr id="16" name="Text 14"/>
          <p:cNvSpPr/>
          <p:nvPr/>
        </p:nvSpPr>
        <p:spPr>
          <a:xfrm>
            <a:off x="4974336" y="3621024"/>
            <a:ext cx="3822192" cy="566928"/>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This insight comes from your own deal history — ingested, embedded, and made queryable. No competitor can replicate it without your data.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164592"/>
            <a:ext cx="365760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INVESTMENT ROADMAP</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From Demo to Platform Business</a:t>
            </a:r>
            <a:endParaRPr lang="en-US" sz="2800" dirty="0"/>
          </a:p>
        </p:txBody>
      </p:sp>
      <p:sp>
        <p:nvSpPr>
          <p:cNvPr id="5" name="Shape 3"/>
          <p:cNvSpPr/>
          <p:nvPr/>
        </p:nvSpPr>
        <p:spPr>
          <a:xfrm>
            <a:off x="1225296" y="2304288"/>
            <a:ext cx="6766560" cy="36576"/>
          </a:xfrm>
          <a:prstGeom prst="rect">
            <a:avLst/>
          </a:prstGeom>
          <a:solidFill>
            <a:srgbClr val="E2E8F0"/>
          </a:solidFill>
          <a:ln/>
        </p:spPr>
      </p:sp>
      <p:sp>
        <p:nvSpPr>
          <p:cNvPr id="6" name="Shape 4"/>
          <p:cNvSpPr/>
          <p:nvPr/>
        </p:nvSpPr>
        <p:spPr>
          <a:xfrm>
            <a:off x="1042416" y="2157984"/>
            <a:ext cx="347472" cy="347472"/>
          </a:xfrm>
          <a:prstGeom prst="ellipse">
            <a:avLst/>
          </a:prstGeom>
          <a:solidFill>
            <a:srgbClr val="0D9488"/>
          </a:solidFill>
          <a:ln/>
        </p:spPr>
      </p:sp>
      <p:sp>
        <p:nvSpPr>
          <p:cNvPr id="7" name="Text 5"/>
          <p:cNvSpPr/>
          <p:nvPr/>
        </p:nvSpPr>
        <p:spPr>
          <a:xfrm>
            <a:off x="457200" y="1664208"/>
            <a:ext cx="1719072" cy="219456"/>
          </a:xfrm>
          <a:prstGeom prst="rect">
            <a:avLst/>
          </a:prstGeom>
          <a:noFill/>
          <a:ln/>
        </p:spPr>
        <p:txBody>
          <a:bodyPr wrap="square" lIns="0" tIns="0" rIns="0" bIns="0" rtlCol="0" anchor="ctr"/>
          <a:lstStyle/>
          <a:p>
            <a:pPr algn="ctr" indent="0" marL="0">
              <a:buNone/>
            </a:pPr>
            <a:r>
              <a:rPr lang="en-US" sz="950" b="1" spc="100" kern="0" dirty="0">
                <a:solidFill>
                  <a:srgbClr val="0D9488"/>
                </a:solidFill>
                <a:latin typeface="Calibri" pitchFamily="34" charset="0"/>
                <a:ea typeface="Calibri" pitchFamily="34" charset="-122"/>
                <a:cs typeface="Calibri" pitchFamily="34" charset="-120"/>
              </a:rPr>
              <a:t>TODAY</a:t>
            </a:r>
            <a:endParaRPr lang="en-US" sz="950" dirty="0"/>
          </a:p>
        </p:txBody>
      </p:sp>
      <p:sp>
        <p:nvSpPr>
          <p:cNvPr id="8" name="Text 6"/>
          <p:cNvSpPr/>
          <p:nvPr/>
        </p:nvSpPr>
        <p:spPr>
          <a:xfrm>
            <a:off x="457200" y="2542032"/>
            <a:ext cx="1719072"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Platform Live</a:t>
            </a:r>
            <a:endParaRPr lang="en-US" sz="1300" dirty="0"/>
          </a:p>
        </p:txBody>
      </p:sp>
      <p:sp>
        <p:nvSpPr>
          <p:cNvPr id="9" name="Text 7"/>
          <p:cNvSpPr/>
          <p:nvPr/>
        </p:nvSpPr>
        <p:spPr>
          <a:xfrm>
            <a:off x="457200" y="2834640"/>
            <a:ext cx="1719072" cy="201168"/>
          </a:xfrm>
          <a:prstGeom prst="rect">
            <a:avLst/>
          </a:prstGeom>
          <a:noFill/>
          <a:ln/>
        </p:spPr>
        <p:txBody>
          <a:bodyPr wrap="square" lIns="0" tIns="0" rIns="0" bIns="0" rtlCol="0" anchor="ctr"/>
          <a:lstStyle/>
          <a:p>
            <a:pPr algn="ctr" indent="0" marL="0">
              <a:buNone/>
            </a:pPr>
            <a:r>
              <a:rPr lang="en-US" sz="950" dirty="0">
                <a:solidFill>
                  <a:srgbClr val="0D9488"/>
                </a:solidFill>
                <a:latin typeface="Calibri" pitchFamily="34" charset="0"/>
                <a:ea typeface="Calibri" pitchFamily="34" charset="-122"/>
                <a:cs typeface="Calibri" pitchFamily="34" charset="-120"/>
              </a:rPr>
              <a:t>Phases 1-3 Complete</a:t>
            </a:r>
            <a:endParaRPr lang="en-US" sz="950" dirty="0"/>
          </a:p>
        </p:txBody>
      </p:sp>
      <p:sp>
        <p:nvSpPr>
          <p:cNvPr id="10" name="Shape 8"/>
          <p:cNvSpPr/>
          <p:nvPr/>
        </p:nvSpPr>
        <p:spPr>
          <a:xfrm>
            <a:off x="457200" y="3090672"/>
            <a:ext cx="1719072" cy="170078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11" name="Shape 9"/>
          <p:cNvSpPr/>
          <p:nvPr/>
        </p:nvSpPr>
        <p:spPr>
          <a:xfrm>
            <a:off x="457200" y="3090672"/>
            <a:ext cx="1719072" cy="45720"/>
          </a:xfrm>
          <a:prstGeom prst="rect">
            <a:avLst/>
          </a:prstGeom>
          <a:solidFill>
            <a:srgbClr val="0D9488"/>
          </a:solidFill>
          <a:ln/>
        </p:spPr>
      </p:sp>
      <p:sp>
        <p:nvSpPr>
          <p:cNvPr id="12" name="Text 10"/>
          <p:cNvSpPr/>
          <p:nvPr/>
        </p:nvSpPr>
        <p:spPr>
          <a:xfrm>
            <a:off x="548640" y="3182112"/>
            <a:ext cx="1554480" cy="457200"/>
          </a:xfrm>
          <a:prstGeom prst="rect">
            <a:avLst/>
          </a:prstGeom>
          <a:noFill/>
          <a:ln/>
        </p:spPr>
        <p:txBody>
          <a:bodyPr wrap="square" lIns="0" tIns="0" rIns="0" bIns="0" rtlCol="0" anchor="t"/>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All features demonstrated today are live</a:t>
            </a:r>
            <a:endParaRPr lang="en-US" sz="950" dirty="0"/>
          </a:p>
        </p:txBody>
      </p:sp>
      <p:sp>
        <p:nvSpPr>
          <p:cNvPr id="13" name="Text 11"/>
          <p:cNvSpPr/>
          <p:nvPr/>
        </p:nvSpPr>
        <p:spPr>
          <a:xfrm>
            <a:off x="548640" y="3675888"/>
            <a:ext cx="1554480" cy="457200"/>
          </a:xfrm>
          <a:prstGeom prst="rect">
            <a:avLst/>
          </a:prstGeom>
          <a:noFill/>
          <a:ln/>
        </p:spPr>
        <p:txBody>
          <a:bodyPr wrap="square" lIns="0" tIns="0" rIns="0" bIns="0" rtlCol="0" anchor="t"/>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Zero additional build required to start using</a:t>
            </a:r>
            <a:endParaRPr lang="en-US" sz="950" dirty="0"/>
          </a:p>
        </p:txBody>
      </p:sp>
      <p:sp>
        <p:nvSpPr>
          <p:cNvPr id="14" name="Text 12"/>
          <p:cNvSpPr/>
          <p:nvPr/>
        </p:nvSpPr>
        <p:spPr>
          <a:xfrm>
            <a:off x="548640" y="4169664"/>
            <a:ext cx="1554480" cy="457200"/>
          </a:xfrm>
          <a:prstGeom prst="rect">
            <a:avLst/>
          </a:prstGeom>
          <a:noFill/>
          <a:ln/>
        </p:spPr>
        <p:txBody>
          <a:bodyPr wrap="square" lIns="0" tIns="0" rIns="0" bIns="0" rtlCol="0" anchor="t"/>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Deployed to browser — no installation</a:t>
            </a:r>
            <a:endParaRPr lang="en-US" sz="950" dirty="0"/>
          </a:p>
        </p:txBody>
      </p:sp>
      <p:sp>
        <p:nvSpPr>
          <p:cNvPr id="15" name="Shape 13"/>
          <p:cNvSpPr/>
          <p:nvPr/>
        </p:nvSpPr>
        <p:spPr>
          <a:xfrm>
            <a:off x="3182112" y="2157984"/>
            <a:ext cx="347472" cy="347472"/>
          </a:xfrm>
          <a:prstGeom prst="ellipse">
            <a:avLst/>
          </a:prstGeom>
          <a:solidFill>
            <a:srgbClr val="0D9488"/>
          </a:solidFill>
          <a:ln/>
        </p:spPr>
      </p:sp>
      <p:sp>
        <p:nvSpPr>
          <p:cNvPr id="16" name="Text 14"/>
          <p:cNvSpPr/>
          <p:nvPr/>
        </p:nvSpPr>
        <p:spPr>
          <a:xfrm>
            <a:off x="2596896" y="1664208"/>
            <a:ext cx="1719072" cy="219456"/>
          </a:xfrm>
          <a:prstGeom prst="rect">
            <a:avLst/>
          </a:prstGeom>
          <a:noFill/>
          <a:ln/>
        </p:spPr>
        <p:txBody>
          <a:bodyPr wrap="square" lIns="0" tIns="0" rIns="0" bIns="0" rtlCol="0" anchor="ctr"/>
          <a:lstStyle/>
          <a:p>
            <a:pPr algn="ctr" indent="0" marL="0">
              <a:buNone/>
            </a:pPr>
            <a:r>
              <a:rPr lang="en-US" sz="950" b="1" spc="100" kern="0" dirty="0">
                <a:solidFill>
                  <a:srgbClr val="0D9488"/>
                </a:solidFill>
                <a:latin typeface="Calibri" pitchFamily="34" charset="0"/>
                <a:ea typeface="Calibri" pitchFamily="34" charset="-122"/>
                <a:cs typeface="Calibri" pitchFamily="34" charset="-120"/>
              </a:rPr>
              <a:t>2-3 WKS</a:t>
            </a:r>
            <a:endParaRPr lang="en-US" sz="950" dirty="0"/>
          </a:p>
        </p:txBody>
      </p:sp>
      <p:sp>
        <p:nvSpPr>
          <p:cNvPr id="17" name="Text 15"/>
          <p:cNvSpPr/>
          <p:nvPr/>
        </p:nvSpPr>
        <p:spPr>
          <a:xfrm>
            <a:off x="2596896" y="2542032"/>
            <a:ext cx="1719072"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Production Deploy</a:t>
            </a:r>
            <a:endParaRPr lang="en-US" sz="1300" dirty="0"/>
          </a:p>
        </p:txBody>
      </p:sp>
      <p:sp>
        <p:nvSpPr>
          <p:cNvPr id="18" name="Text 16"/>
          <p:cNvSpPr/>
          <p:nvPr/>
        </p:nvSpPr>
        <p:spPr>
          <a:xfrm>
            <a:off x="2596896" y="2834640"/>
            <a:ext cx="1719072" cy="201168"/>
          </a:xfrm>
          <a:prstGeom prst="rect">
            <a:avLst/>
          </a:prstGeom>
          <a:noFill/>
          <a:ln/>
        </p:spPr>
        <p:txBody>
          <a:bodyPr wrap="square" lIns="0" tIns="0" rIns="0" bIns="0" rtlCol="0" anchor="ctr"/>
          <a:lstStyle/>
          <a:p>
            <a:pPr algn="ctr" indent="0" marL="0">
              <a:buNone/>
            </a:pPr>
            <a:r>
              <a:rPr lang="en-US" sz="950" dirty="0">
                <a:solidFill>
                  <a:srgbClr val="0D9488"/>
                </a:solidFill>
                <a:latin typeface="Calibri" pitchFamily="34" charset="0"/>
                <a:ea typeface="Calibri" pitchFamily="34" charset="-122"/>
                <a:cs typeface="Calibri" pitchFamily="34" charset="-120"/>
              </a:rPr>
              <a:t>Team Access Begins</a:t>
            </a:r>
            <a:endParaRPr lang="en-US" sz="950" dirty="0"/>
          </a:p>
        </p:txBody>
      </p:sp>
      <p:sp>
        <p:nvSpPr>
          <p:cNvPr id="19" name="Shape 17"/>
          <p:cNvSpPr/>
          <p:nvPr/>
        </p:nvSpPr>
        <p:spPr>
          <a:xfrm>
            <a:off x="2596896" y="3090672"/>
            <a:ext cx="1719072" cy="170078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20" name="Shape 18"/>
          <p:cNvSpPr/>
          <p:nvPr/>
        </p:nvSpPr>
        <p:spPr>
          <a:xfrm>
            <a:off x="2596896" y="3090672"/>
            <a:ext cx="1719072" cy="45720"/>
          </a:xfrm>
          <a:prstGeom prst="rect">
            <a:avLst/>
          </a:prstGeom>
          <a:solidFill>
            <a:srgbClr val="0D9488"/>
          </a:solidFill>
          <a:ln/>
        </p:spPr>
      </p:sp>
      <p:sp>
        <p:nvSpPr>
          <p:cNvPr id="21" name="Text 19"/>
          <p:cNvSpPr/>
          <p:nvPr/>
        </p:nvSpPr>
        <p:spPr>
          <a:xfrm>
            <a:off x="2688336" y="3182112"/>
            <a:ext cx="1554480" cy="457200"/>
          </a:xfrm>
          <a:prstGeom prst="rect">
            <a:avLst/>
          </a:prstGeom>
          <a:noFill/>
          <a:ln/>
        </p:spPr>
        <p:txBody>
          <a:bodyPr wrap="square" lIns="0" tIns="0" rIns="0" bIns="0" rtlCol="0" anchor="t"/>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Supabase auth (Google / email login)</a:t>
            </a:r>
            <a:endParaRPr lang="en-US" sz="950" dirty="0"/>
          </a:p>
        </p:txBody>
      </p:sp>
      <p:sp>
        <p:nvSpPr>
          <p:cNvPr id="22" name="Text 20"/>
          <p:cNvSpPr/>
          <p:nvPr/>
        </p:nvSpPr>
        <p:spPr>
          <a:xfrm>
            <a:off x="2688336" y="3675888"/>
            <a:ext cx="1554480" cy="457200"/>
          </a:xfrm>
          <a:prstGeom prst="rect">
            <a:avLst/>
          </a:prstGeom>
          <a:noFill/>
          <a:ln/>
        </p:spPr>
        <p:txBody>
          <a:bodyPr wrap="square" lIns="0" tIns="0" rIns="0" bIns="0" rtlCol="0" anchor="t"/>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Vercel deployment with custom domain</a:t>
            </a:r>
            <a:endParaRPr lang="en-US" sz="950" dirty="0"/>
          </a:p>
        </p:txBody>
      </p:sp>
      <p:sp>
        <p:nvSpPr>
          <p:cNvPr id="23" name="Text 21"/>
          <p:cNvSpPr/>
          <p:nvPr/>
        </p:nvSpPr>
        <p:spPr>
          <a:xfrm>
            <a:off x="2688336" y="4169664"/>
            <a:ext cx="1554480" cy="457200"/>
          </a:xfrm>
          <a:prstGeom prst="rect">
            <a:avLst/>
          </a:prstGeom>
          <a:noFill/>
          <a:ln/>
        </p:spPr>
        <p:txBody>
          <a:bodyPr wrap="square" lIns="0" tIns="0" rIns="0" bIns="0" rtlCol="0" anchor="t"/>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Team-shared saved collections enabled</a:t>
            </a:r>
            <a:endParaRPr lang="en-US" sz="950" dirty="0"/>
          </a:p>
        </p:txBody>
      </p:sp>
      <p:sp>
        <p:nvSpPr>
          <p:cNvPr id="24" name="Shape 22"/>
          <p:cNvSpPr/>
          <p:nvPr/>
        </p:nvSpPr>
        <p:spPr>
          <a:xfrm>
            <a:off x="5321808" y="2157984"/>
            <a:ext cx="347472" cy="347472"/>
          </a:xfrm>
          <a:prstGeom prst="ellipse">
            <a:avLst/>
          </a:prstGeom>
          <a:solidFill>
            <a:srgbClr val="7C3AED"/>
          </a:solidFill>
          <a:ln/>
        </p:spPr>
      </p:sp>
      <p:sp>
        <p:nvSpPr>
          <p:cNvPr id="25" name="Text 23"/>
          <p:cNvSpPr/>
          <p:nvPr/>
        </p:nvSpPr>
        <p:spPr>
          <a:xfrm>
            <a:off x="4736592" y="1664208"/>
            <a:ext cx="1719072" cy="219456"/>
          </a:xfrm>
          <a:prstGeom prst="rect">
            <a:avLst/>
          </a:prstGeom>
          <a:noFill/>
          <a:ln/>
        </p:spPr>
        <p:txBody>
          <a:bodyPr wrap="square" lIns="0" tIns="0" rIns="0" bIns="0" rtlCol="0" anchor="ctr"/>
          <a:lstStyle/>
          <a:p>
            <a:pPr algn="ctr" indent="0" marL="0">
              <a:buNone/>
            </a:pPr>
            <a:r>
              <a:rPr lang="en-US" sz="950" b="1" spc="100" kern="0" dirty="0">
                <a:solidFill>
                  <a:srgbClr val="7C3AED"/>
                </a:solidFill>
                <a:latin typeface="Calibri" pitchFamily="34" charset="0"/>
                <a:ea typeface="Calibri" pitchFamily="34" charset="-122"/>
                <a:cs typeface="Calibri" pitchFamily="34" charset="-120"/>
              </a:rPr>
              <a:t>4-6 WKS</a:t>
            </a:r>
            <a:endParaRPr lang="en-US" sz="950" dirty="0"/>
          </a:p>
        </p:txBody>
      </p:sp>
      <p:sp>
        <p:nvSpPr>
          <p:cNvPr id="26" name="Text 24"/>
          <p:cNvSpPr/>
          <p:nvPr/>
        </p:nvSpPr>
        <p:spPr>
          <a:xfrm>
            <a:off x="4736592" y="2542032"/>
            <a:ext cx="1719072"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Expand Coverage</a:t>
            </a:r>
            <a:endParaRPr lang="en-US" sz="1300" dirty="0"/>
          </a:p>
        </p:txBody>
      </p:sp>
      <p:sp>
        <p:nvSpPr>
          <p:cNvPr id="27" name="Text 25"/>
          <p:cNvSpPr/>
          <p:nvPr/>
        </p:nvSpPr>
        <p:spPr>
          <a:xfrm>
            <a:off x="4736592" y="2834640"/>
            <a:ext cx="1719072" cy="201168"/>
          </a:xfrm>
          <a:prstGeom prst="rect">
            <a:avLst/>
          </a:prstGeom>
          <a:noFill/>
          <a:ln/>
        </p:spPr>
        <p:txBody>
          <a:bodyPr wrap="square" lIns="0" tIns="0" rIns="0" bIns="0" rtlCol="0" anchor="ctr"/>
          <a:lstStyle/>
          <a:p>
            <a:pPr algn="ctr" indent="0" marL="0">
              <a:buNone/>
            </a:pPr>
            <a:r>
              <a:rPr lang="en-US" sz="950" dirty="0">
                <a:solidFill>
                  <a:srgbClr val="7C3AED"/>
                </a:solidFill>
                <a:latin typeface="Calibri" pitchFamily="34" charset="0"/>
                <a:ea typeface="Calibri" pitchFamily="34" charset="-122"/>
                <a:cs typeface="Calibri" pitchFamily="34" charset="-120"/>
              </a:rPr>
              <a:t>Full Metro Atlanta</a:t>
            </a:r>
            <a:endParaRPr lang="en-US" sz="950" dirty="0"/>
          </a:p>
        </p:txBody>
      </p:sp>
      <p:sp>
        <p:nvSpPr>
          <p:cNvPr id="28" name="Shape 26"/>
          <p:cNvSpPr/>
          <p:nvPr/>
        </p:nvSpPr>
        <p:spPr>
          <a:xfrm>
            <a:off x="4736592" y="3090672"/>
            <a:ext cx="1719072" cy="170078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29" name="Shape 27"/>
          <p:cNvSpPr/>
          <p:nvPr/>
        </p:nvSpPr>
        <p:spPr>
          <a:xfrm>
            <a:off x="4736592" y="3090672"/>
            <a:ext cx="1719072" cy="45720"/>
          </a:xfrm>
          <a:prstGeom prst="rect">
            <a:avLst/>
          </a:prstGeom>
          <a:solidFill>
            <a:srgbClr val="7C3AED"/>
          </a:solidFill>
          <a:ln/>
        </p:spPr>
      </p:sp>
      <p:sp>
        <p:nvSpPr>
          <p:cNvPr id="30" name="Text 28"/>
          <p:cNvSpPr/>
          <p:nvPr/>
        </p:nvSpPr>
        <p:spPr>
          <a:xfrm>
            <a:off x="4828032" y="3182112"/>
            <a:ext cx="1554480" cy="457200"/>
          </a:xfrm>
          <a:prstGeom prst="rect">
            <a:avLst/>
          </a:prstGeom>
          <a:noFill/>
          <a:ln/>
        </p:spPr>
        <p:txBody>
          <a:bodyPr wrap="square" lIns="0" tIns="0" rIns="0" bIns="0" rtlCol="0" anchor="t"/>
          <a:lstStyle/>
          <a:p>
            <a:pPr indent="0" marL="0">
              <a:buNone/>
            </a:pPr>
            <a:r>
              <a:rPr lang="en-US" sz="950" b="1" dirty="0">
                <a:solidFill>
                  <a:srgbClr val="7C3AED"/>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Hall, Cherokee, Forsyth, Barrow counties</a:t>
            </a:r>
            <a:endParaRPr lang="en-US" sz="950" dirty="0"/>
          </a:p>
        </p:txBody>
      </p:sp>
      <p:sp>
        <p:nvSpPr>
          <p:cNvPr id="31" name="Text 29"/>
          <p:cNvSpPr/>
          <p:nvPr/>
        </p:nvSpPr>
        <p:spPr>
          <a:xfrm>
            <a:off x="4828032" y="3675888"/>
            <a:ext cx="1554480" cy="457200"/>
          </a:xfrm>
          <a:prstGeom prst="rect">
            <a:avLst/>
          </a:prstGeom>
          <a:noFill/>
          <a:ln/>
        </p:spPr>
        <p:txBody>
          <a:bodyPr wrap="square" lIns="0" tIns="0" rIns="0" bIns="0" rtlCol="0" anchor="t"/>
          <a:lstStyle/>
          <a:p>
            <a:pPr indent="0" marL="0">
              <a:buNone/>
            </a:pPr>
            <a:r>
              <a:rPr lang="en-US" sz="950" b="1" dirty="0">
                <a:solidFill>
                  <a:srgbClr val="7C3AED"/>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Fulton County (Atlanta proper)</a:t>
            </a:r>
            <a:endParaRPr lang="en-US" sz="950" dirty="0"/>
          </a:p>
        </p:txBody>
      </p:sp>
      <p:sp>
        <p:nvSpPr>
          <p:cNvPr id="32" name="Text 30"/>
          <p:cNvSpPr/>
          <p:nvPr/>
        </p:nvSpPr>
        <p:spPr>
          <a:xfrm>
            <a:off x="4828032" y="4169664"/>
            <a:ext cx="1554480" cy="457200"/>
          </a:xfrm>
          <a:prstGeom prst="rect">
            <a:avLst/>
          </a:prstGeom>
          <a:noFill/>
          <a:ln/>
        </p:spPr>
        <p:txBody>
          <a:bodyPr wrap="square" lIns="0" tIns="0" rIns="0" bIns="0" rtlCol="0" anchor="t"/>
          <a:lstStyle/>
          <a:p>
            <a:pPr indent="0" marL="0">
              <a:buNone/>
            </a:pPr>
            <a:r>
              <a:rPr lang="en-US" sz="950" b="1" dirty="0">
                <a:solidFill>
                  <a:srgbClr val="7C3AED"/>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PDF export for briefs and comparison</a:t>
            </a:r>
            <a:endParaRPr lang="en-US" sz="950" dirty="0"/>
          </a:p>
        </p:txBody>
      </p:sp>
      <p:sp>
        <p:nvSpPr>
          <p:cNvPr id="33" name="Shape 31"/>
          <p:cNvSpPr/>
          <p:nvPr/>
        </p:nvSpPr>
        <p:spPr>
          <a:xfrm>
            <a:off x="7461504" y="2157984"/>
            <a:ext cx="347472" cy="347472"/>
          </a:xfrm>
          <a:prstGeom prst="ellipse">
            <a:avLst/>
          </a:prstGeom>
          <a:solidFill>
            <a:srgbClr val="EA580C"/>
          </a:solidFill>
          <a:ln/>
        </p:spPr>
      </p:sp>
      <p:sp>
        <p:nvSpPr>
          <p:cNvPr id="34" name="Text 32"/>
          <p:cNvSpPr/>
          <p:nvPr/>
        </p:nvSpPr>
        <p:spPr>
          <a:xfrm>
            <a:off x="6876288" y="1664208"/>
            <a:ext cx="1719072" cy="219456"/>
          </a:xfrm>
          <a:prstGeom prst="rect">
            <a:avLst/>
          </a:prstGeom>
          <a:noFill/>
          <a:ln/>
        </p:spPr>
        <p:txBody>
          <a:bodyPr wrap="square" lIns="0" tIns="0" rIns="0" bIns="0" rtlCol="0" anchor="ctr"/>
          <a:lstStyle/>
          <a:p>
            <a:pPr algn="ctr" indent="0" marL="0">
              <a:buNone/>
            </a:pPr>
            <a:r>
              <a:rPr lang="en-US" sz="950" b="1" spc="100" kern="0" dirty="0">
                <a:solidFill>
                  <a:srgbClr val="EA580C"/>
                </a:solidFill>
                <a:latin typeface="Calibri" pitchFamily="34" charset="0"/>
                <a:ea typeface="Calibri" pitchFamily="34" charset="-122"/>
                <a:cs typeface="Calibri" pitchFamily="34" charset="-120"/>
              </a:rPr>
              <a:t>6 MONTHS</a:t>
            </a:r>
            <a:endParaRPr lang="en-US" sz="950" dirty="0"/>
          </a:p>
        </p:txBody>
      </p:sp>
      <p:sp>
        <p:nvSpPr>
          <p:cNvPr id="35" name="Text 33"/>
          <p:cNvSpPr/>
          <p:nvPr/>
        </p:nvSpPr>
        <p:spPr>
          <a:xfrm>
            <a:off x="6876288" y="2542032"/>
            <a:ext cx="1719072"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Phase 4 Scoping</a:t>
            </a:r>
            <a:endParaRPr lang="en-US" sz="1300" dirty="0"/>
          </a:p>
        </p:txBody>
      </p:sp>
      <p:sp>
        <p:nvSpPr>
          <p:cNvPr id="36" name="Text 34"/>
          <p:cNvSpPr/>
          <p:nvPr/>
        </p:nvSpPr>
        <p:spPr>
          <a:xfrm>
            <a:off x="6876288" y="2834640"/>
            <a:ext cx="1719072" cy="201168"/>
          </a:xfrm>
          <a:prstGeom prst="rect">
            <a:avLst/>
          </a:prstGeom>
          <a:noFill/>
          <a:ln/>
        </p:spPr>
        <p:txBody>
          <a:bodyPr wrap="square" lIns="0" tIns="0" rIns="0" bIns="0" rtlCol="0" anchor="ctr"/>
          <a:lstStyle/>
          <a:p>
            <a:pPr algn="ctr" indent="0" marL="0">
              <a:buNone/>
            </a:pPr>
            <a:r>
              <a:rPr lang="en-US" sz="950" dirty="0">
                <a:solidFill>
                  <a:srgbClr val="EA580C"/>
                </a:solidFill>
                <a:latin typeface="Calibri" pitchFamily="34" charset="0"/>
                <a:ea typeface="Calibri" pitchFamily="34" charset="-122"/>
                <a:cs typeface="Calibri" pitchFamily="34" charset="-120"/>
              </a:rPr>
              <a:t>Proprietary Intelligence</a:t>
            </a:r>
            <a:endParaRPr lang="en-US" sz="950" dirty="0"/>
          </a:p>
        </p:txBody>
      </p:sp>
      <p:sp>
        <p:nvSpPr>
          <p:cNvPr id="37" name="Shape 35"/>
          <p:cNvSpPr/>
          <p:nvPr/>
        </p:nvSpPr>
        <p:spPr>
          <a:xfrm>
            <a:off x="6876288" y="3090672"/>
            <a:ext cx="1719072" cy="1700784"/>
          </a:xfrm>
          <a:prstGeom prst="rect">
            <a:avLst/>
          </a:prstGeom>
          <a:solidFill>
            <a:srgbClr val="FFFFFF"/>
          </a:solidFill>
          <a:ln/>
          <a:effectLst>
            <a:outerShdw sx="100000" sy="100000" kx="0" ky="0" algn="bl" rotWithShape="0" blurRad="101600" dist="25400" dir="8100000">
              <a:srgbClr val="000000">
                <a:alpha val="12000"/>
              </a:srgbClr>
            </a:outerShdw>
          </a:effectLst>
        </p:spPr>
      </p:sp>
      <p:sp>
        <p:nvSpPr>
          <p:cNvPr id="38" name="Shape 36"/>
          <p:cNvSpPr/>
          <p:nvPr/>
        </p:nvSpPr>
        <p:spPr>
          <a:xfrm>
            <a:off x="6876288" y="3090672"/>
            <a:ext cx="1719072" cy="45720"/>
          </a:xfrm>
          <a:prstGeom prst="rect">
            <a:avLst/>
          </a:prstGeom>
          <a:solidFill>
            <a:srgbClr val="EA580C"/>
          </a:solidFill>
          <a:ln/>
        </p:spPr>
      </p:sp>
      <p:sp>
        <p:nvSpPr>
          <p:cNvPr id="39" name="Text 37"/>
          <p:cNvSpPr/>
          <p:nvPr/>
        </p:nvSpPr>
        <p:spPr>
          <a:xfrm>
            <a:off x="6967728" y="3182112"/>
            <a:ext cx="1554480" cy="457200"/>
          </a:xfrm>
          <a:prstGeom prst="rect">
            <a:avLst/>
          </a:prstGeom>
          <a:noFill/>
          <a:ln/>
        </p:spPr>
        <p:txBody>
          <a:bodyPr wrap="square" lIns="0" tIns="0" rIns="0" bIns="0" rtlCol="0" anchor="t"/>
          <a:lstStyle/>
          <a:p>
            <a:pPr indent="0" marL="0">
              <a:buNone/>
            </a:pPr>
            <a:r>
              <a:rPr lang="en-US" sz="950" b="1" dirty="0">
                <a:solidFill>
                  <a:srgbClr val="EA580C"/>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Deal history ingestion pipeline begins</a:t>
            </a:r>
            <a:endParaRPr lang="en-US" sz="950" dirty="0"/>
          </a:p>
        </p:txBody>
      </p:sp>
      <p:sp>
        <p:nvSpPr>
          <p:cNvPr id="40" name="Text 38"/>
          <p:cNvSpPr/>
          <p:nvPr/>
        </p:nvSpPr>
        <p:spPr>
          <a:xfrm>
            <a:off x="6967728" y="3675888"/>
            <a:ext cx="1554480" cy="457200"/>
          </a:xfrm>
          <a:prstGeom prst="rect">
            <a:avLst/>
          </a:prstGeom>
          <a:noFill/>
          <a:ln/>
        </p:spPr>
        <p:txBody>
          <a:bodyPr wrap="square" lIns="0" tIns="0" rIns="0" bIns="0" rtlCol="0" anchor="t"/>
          <a:lstStyle/>
          <a:p>
            <a:pPr indent="0" marL="0">
              <a:buNone/>
            </a:pPr>
            <a:r>
              <a:rPr lang="en-US" sz="950" b="1" dirty="0">
                <a:solidFill>
                  <a:srgbClr val="EA580C"/>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RAG retrieval against DeThomas archive</a:t>
            </a:r>
            <a:endParaRPr lang="en-US" sz="950" dirty="0"/>
          </a:p>
        </p:txBody>
      </p:sp>
      <p:sp>
        <p:nvSpPr>
          <p:cNvPr id="41" name="Text 39"/>
          <p:cNvSpPr/>
          <p:nvPr/>
        </p:nvSpPr>
        <p:spPr>
          <a:xfrm>
            <a:off x="6967728" y="4169664"/>
            <a:ext cx="1554480" cy="457200"/>
          </a:xfrm>
          <a:prstGeom prst="rect">
            <a:avLst/>
          </a:prstGeom>
          <a:noFill/>
          <a:ln/>
        </p:spPr>
        <p:txBody>
          <a:bodyPr wrap="square" lIns="0" tIns="0" rIns="0" bIns="0" rtlCol="0" anchor="t"/>
          <a:lstStyle/>
          <a:p>
            <a:pPr indent="0" marL="0">
              <a:buNone/>
            </a:pPr>
            <a:r>
              <a:rPr lang="en-US" sz="950" b="1" dirty="0">
                <a:solidFill>
                  <a:srgbClr val="EA580C"/>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Proprietary ML scoring model (trained on outcomes)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164592"/>
            <a:ext cx="365760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TECHNICAL FOUNDATION</a:t>
            </a:r>
            <a:endParaRPr lang="en-US" sz="900" dirty="0"/>
          </a:p>
        </p:txBody>
      </p:sp>
      <p:sp>
        <p:nvSpPr>
          <p:cNvPr id="4" name="Text 2"/>
          <p:cNvSpPr/>
          <p:nvPr/>
        </p:nvSpPr>
        <p:spPr>
          <a:xfrm>
            <a:off x="457200" y="384048"/>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Built on Production-Grade Infrastructure</a:t>
            </a:r>
            <a:endParaRPr lang="en-US" sz="2600" dirty="0"/>
          </a:p>
        </p:txBody>
      </p:sp>
      <p:sp>
        <p:nvSpPr>
          <p:cNvPr id="5" name="Shape 3"/>
          <p:cNvSpPr/>
          <p:nvPr/>
        </p:nvSpPr>
        <p:spPr>
          <a:xfrm>
            <a:off x="457200" y="1097280"/>
            <a:ext cx="2743200" cy="347472"/>
          </a:xfrm>
          <a:prstGeom prst="rect">
            <a:avLst/>
          </a:prstGeom>
          <a:solidFill>
            <a:srgbClr val="0D9488"/>
          </a:solidFill>
          <a:ln/>
        </p:spPr>
      </p:sp>
      <p:sp>
        <p:nvSpPr>
          <p:cNvPr id="6" name="Text 4"/>
          <p:cNvSpPr/>
          <p:nvPr/>
        </p:nvSpPr>
        <p:spPr>
          <a:xfrm>
            <a:off x="457200" y="1097280"/>
            <a:ext cx="27432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Application Stack</a:t>
            </a:r>
            <a:endParaRPr lang="en-US" sz="1200" dirty="0"/>
          </a:p>
        </p:txBody>
      </p:sp>
      <p:sp>
        <p:nvSpPr>
          <p:cNvPr id="7" name="Shape 5"/>
          <p:cNvSpPr/>
          <p:nvPr/>
        </p:nvSpPr>
        <p:spPr>
          <a:xfrm>
            <a:off x="457200" y="1481328"/>
            <a:ext cx="2743200" cy="658368"/>
          </a:xfrm>
          <a:prstGeom prst="rect">
            <a:avLst/>
          </a:prstGeom>
          <a:solidFill>
            <a:srgbClr val="FFFFFF"/>
          </a:solidFill>
          <a:ln/>
        </p:spPr>
      </p:sp>
      <p:sp>
        <p:nvSpPr>
          <p:cNvPr id="8" name="Text 6"/>
          <p:cNvSpPr/>
          <p:nvPr/>
        </p:nvSpPr>
        <p:spPr>
          <a:xfrm>
            <a:off x="566928" y="1554480"/>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Next.js 16</a:t>
            </a:r>
            <a:endParaRPr lang="en-US" sz="1200" dirty="0"/>
          </a:p>
        </p:txBody>
      </p:sp>
      <p:sp>
        <p:nvSpPr>
          <p:cNvPr id="9" name="Text 7"/>
          <p:cNvSpPr/>
          <p:nvPr/>
        </p:nvSpPr>
        <p:spPr>
          <a:xfrm>
            <a:off x="566928" y="1792224"/>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App Router, Turbopack, TypeScript</a:t>
            </a:r>
            <a:endParaRPr lang="en-US" sz="1000" dirty="0"/>
          </a:p>
        </p:txBody>
      </p:sp>
      <p:sp>
        <p:nvSpPr>
          <p:cNvPr id="10" name="Shape 8"/>
          <p:cNvSpPr/>
          <p:nvPr/>
        </p:nvSpPr>
        <p:spPr>
          <a:xfrm>
            <a:off x="457200" y="2194560"/>
            <a:ext cx="2743200" cy="658368"/>
          </a:xfrm>
          <a:prstGeom prst="rect">
            <a:avLst/>
          </a:prstGeom>
          <a:solidFill>
            <a:srgbClr val="F8FAFC"/>
          </a:solidFill>
          <a:ln/>
        </p:spPr>
      </p:sp>
      <p:sp>
        <p:nvSpPr>
          <p:cNvPr id="11" name="Text 9"/>
          <p:cNvSpPr/>
          <p:nvPr/>
        </p:nvSpPr>
        <p:spPr>
          <a:xfrm>
            <a:off x="566928" y="2267712"/>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Mapbox GL JS</a:t>
            </a:r>
            <a:endParaRPr lang="en-US" sz="1200" dirty="0"/>
          </a:p>
        </p:txBody>
      </p:sp>
      <p:sp>
        <p:nvSpPr>
          <p:cNvPr id="12" name="Text 10"/>
          <p:cNvSpPr/>
          <p:nvPr/>
        </p:nvSpPr>
        <p:spPr>
          <a:xfrm>
            <a:off x="566928" y="2505456"/>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react-map-gl — 307K parcel polygons, live layers</a:t>
            </a:r>
            <a:endParaRPr lang="en-US" sz="1000" dirty="0"/>
          </a:p>
        </p:txBody>
      </p:sp>
      <p:sp>
        <p:nvSpPr>
          <p:cNvPr id="13" name="Shape 11"/>
          <p:cNvSpPr/>
          <p:nvPr/>
        </p:nvSpPr>
        <p:spPr>
          <a:xfrm>
            <a:off x="457200" y="2907792"/>
            <a:ext cx="2743200" cy="658368"/>
          </a:xfrm>
          <a:prstGeom prst="rect">
            <a:avLst/>
          </a:prstGeom>
          <a:solidFill>
            <a:srgbClr val="FFFFFF"/>
          </a:solidFill>
          <a:ln/>
        </p:spPr>
      </p:sp>
      <p:sp>
        <p:nvSpPr>
          <p:cNvPr id="14" name="Text 12"/>
          <p:cNvSpPr/>
          <p:nvPr/>
        </p:nvSpPr>
        <p:spPr>
          <a:xfrm>
            <a:off x="566928" y="2980944"/>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Zustand</a:t>
            </a:r>
            <a:endParaRPr lang="en-US" sz="1200" dirty="0"/>
          </a:p>
        </p:txBody>
      </p:sp>
      <p:sp>
        <p:nvSpPr>
          <p:cNvPr id="15" name="Text 13"/>
          <p:cNvSpPr/>
          <p:nvPr/>
        </p:nvSpPr>
        <p:spPr>
          <a:xfrm>
            <a:off x="566928" y="3218688"/>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Single-store state management, persisted</a:t>
            </a:r>
            <a:endParaRPr lang="en-US" sz="1000" dirty="0"/>
          </a:p>
        </p:txBody>
      </p:sp>
      <p:sp>
        <p:nvSpPr>
          <p:cNvPr id="16" name="Shape 14"/>
          <p:cNvSpPr/>
          <p:nvPr/>
        </p:nvSpPr>
        <p:spPr>
          <a:xfrm>
            <a:off x="457200" y="3621024"/>
            <a:ext cx="2743200" cy="658368"/>
          </a:xfrm>
          <a:prstGeom prst="rect">
            <a:avLst/>
          </a:prstGeom>
          <a:solidFill>
            <a:srgbClr val="F8FAFC"/>
          </a:solidFill>
          <a:ln/>
        </p:spPr>
      </p:sp>
      <p:sp>
        <p:nvSpPr>
          <p:cNvPr id="17" name="Text 15"/>
          <p:cNvSpPr/>
          <p:nvPr/>
        </p:nvSpPr>
        <p:spPr>
          <a:xfrm>
            <a:off x="566928" y="3694176"/>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Tailwind CSS 4</a:t>
            </a:r>
            <a:endParaRPr lang="en-US" sz="1200" dirty="0"/>
          </a:p>
        </p:txBody>
      </p:sp>
      <p:sp>
        <p:nvSpPr>
          <p:cNvPr id="18" name="Text 16"/>
          <p:cNvSpPr/>
          <p:nvPr/>
        </p:nvSpPr>
        <p:spPr>
          <a:xfrm>
            <a:off x="566928" y="3931920"/>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Dark-mode design system, custom variables</a:t>
            </a:r>
            <a:endParaRPr lang="en-US" sz="1000" dirty="0"/>
          </a:p>
        </p:txBody>
      </p:sp>
      <p:sp>
        <p:nvSpPr>
          <p:cNvPr id="19" name="Shape 17"/>
          <p:cNvSpPr/>
          <p:nvPr/>
        </p:nvSpPr>
        <p:spPr>
          <a:xfrm>
            <a:off x="457200" y="4334256"/>
            <a:ext cx="2743200" cy="658368"/>
          </a:xfrm>
          <a:prstGeom prst="rect">
            <a:avLst/>
          </a:prstGeom>
          <a:solidFill>
            <a:srgbClr val="FFFFFF"/>
          </a:solidFill>
          <a:ln/>
        </p:spPr>
      </p:sp>
      <p:sp>
        <p:nvSpPr>
          <p:cNvPr id="20" name="Text 18"/>
          <p:cNvSpPr/>
          <p:nvPr/>
        </p:nvSpPr>
        <p:spPr>
          <a:xfrm>
            <a:off x="566928" y="4407408"/>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Vaul</a:t>
            </a:r>
            <a:endParaRPr lang="en-US" sz="1200" dirty="0"/>
          </a:p>
        </p:txBody>
      </p:sp>
      <p:sp>
        <p:nvSpPr>
          <p:cNvPr id="21" name="Text 19"/>
          <p:cNvSpPr/>
          <p:nvPr/>
        </p:nvSpPr>
        <p:spPr>
          <a:xfrm>
            <a:off x="566928" y="4645152"/>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Mobile drawer for parcel detail on iOS/Android</a:t>
            </a:r>
            <a:endParaRPr lang="en-US" sz="1000" dirty="0"/>
          </a:p>
        </p:txBody>
      </p:sp>
      <p:sp>
        <p:nvSpPr>
          <p:cNvPr id="22" name="Shape 20"/>
          <p:cNvSpPr/>
          <p:nvPr/>
        </p:nvSpPr>
        <p:spPr>
          <a:xfrm>
            <a:off x="3364992" y="1097280"/>
            <a:ext cx="2743200" cy="347472"/>
          </a:xfrm>
          <a:prstGeom prst="rect">
            <a:avLst/>
          </a:prstGeom>
          <a:solidFill>
            <a:srgbClr val="7C3AED"/>
          </a:solidFill>
          <a:ln/>
        </p:spPr>
      </p:sp>
      <p:sp>
        <p:nvSpPr>
          <p:cNvPr id="23" name="Text 21"/>
          <p:cNvSpPr/>
          <p:nvPr/>
        </p:nvSpPr>
        <p:spPr>
          <a:xfrm>
            <a:off x="3364992" y="1097280"/>
            <a:ext cx="27432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Sources</a:t>
            </a:r>
            <a:endParaRPr lang="en-US" sz="1200" dirty="0"/>
          </a:p>
        </p:txBody>
      </p:sp>
      <p:sp>
        <p:nvSpPr>
          <p:cNvPr id="24" name="Shape 22"/>
          <p:cNvSpPr/>
          <p:nvPr/>
        </p:nvSpPr>
        <p:spPr>
          <a:xfrm>
            <a:off x="3364992" y="1481328"/>
            <a:ext cx="2743200" cy="658368"/>
          </a:xfrm>
          <a:prstGeom prst="rect">
            <a:avLst/>
          </a:prstGeom>
          <a:solidFill>
            <a:srgbClr val="FFFFFF"/>
          </a:solidFill>
          <a:ln/>
        </p:spPr>
      </p:sp>
      <p:sp>
        <p:nvSpPr>
          <p:cNvPr id="25" name="Text 23"/>
          <p:cNvSpPr/>
          <p:nvPr/>
        </p:nvSpPr>
        <p:spPr>
          <a:xfrm>
            <a:off x="3474720" y="1554480"/>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Gwinnett ArcGIS</a:t>
            </a:r>
            <a:endParaRPr lang="en-US" sz="1200" dirty="0"/>
          </a:p>
        </p:txBody>
      </p:sp>
      <p:sp>
        <p:nvSpPr>
          <p:cNvPr id="26" name="Text 24"/>
          <p:cNvSpPr/>
          <p:nvPr/>
        </p:nvSpPr>
        <p:spPr>
          <a:xfrm>
            <a:off x="3474720" y="1792224"/>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Parcels, zoning, tax table — free, live, public</a:t>
            </a:r>
            <a:endParaRPr lang="en-US" sz="1000" dirty="0"/>
          </a:p>
        </p:txBody>
      </p:sp>
      <p:sp>
        <p:nvSpPr>
          <p:cNvPr id="27" name="Shape 25"/>
          <p:cNvSpPr/>
          <p:nvPr/>
        </p:nvSpPr>
        <p:spPr>
          <a:xfrm>
            <a:off x="3364992" y="2194560"/>
            <a:ext cx="2743200" cy="658368"/>
          </a:xfrm>
          <a:prstGeom prst="rect">
            <a:avLst/>
          </a:prstGeom>
          <a:solidFill>
            <a:srgbClr val="F8FAFC"/>
          </a:solidFill>
          <a:ln/>
        </p:spPr>
      </p:sp>
      <p:sp>
        <p:nvSpPr>
          <p:cNvPr id="28" name="Text 26"/>
          <p:cNvSpPr/>
          <p:nvPr/>
        </p:nvSpPr>
        <p:spPr>
          <a:xfrm>
            <a:off x="3474720" y="2267712"/>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HIFLD Federal</a:t>
            </a:r>
            <a:endParaRPr lang="en-US" sz="1200" dirty="0"/>
          </a:p>
        </p:txBody>
      </p:sp>
      <p:sp>
        <p:nvSpPr>
          <p:cNvPr id="29" name="Text 27"/>
          <p:cNvSpPr/>
          <p:nvPr/>
        </p:nvSpPr>
        <p:spPr>
          <a:xfrm>
            <a:off x="3474720" y="2505456"/>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Substations, TX lines — DHS infrastructure data</a:t>
            </a:r>
            <a:endParaRPr lang="en-US" sz="1000" dirty="0"/>
          </a:p>
        </p:txBody>
      </p:sp>
      <p:sp>
        <p:nvSpPr>
          <p:cNvPr id="30" name="Shape 28"/>
          <p:cNvSpPr/>
          <p:nvPr/>
        </p:nvSpPr>
        <p:spPr>
          <a:xfrm>
            <a:off x="3364992" y="2907792"/>
            <a:ext cx="2743200" cy="658368"/>
          </a:xfrm>
          <a:prstGeom prst="rect">
            <a:avLst/>
          </a:prstGeom>
          <a:solidFill>
            <a:srgbClr val="FFFFFF"/>
          </a:solidFill>
          <a:ln/>
        </p:spPr>
      </p:sp>
      <p:sp>
        <p:nvSpPr>
          <p:cNvPr id="31" name="Text 29"/>
          <p:cNvSpPr/>
          <p:nvPr/>
        </p:nvSpPr>
        <p:spPr>
          <a:xfrm>
            <a:off x="3474720" y="2980944"/>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FCC BDC</a:t>
            </a:r>
            <a:endParaRPr lang="en-US" sz="1200" dirty="0"/>
          </a:p>
        </p:txBody>
      </p:sp>
      <p:sp>
        <p:nvSpPr>
          <p:cNvPr id="32" name="Text 30"/>
          <p:cNvSpPr/>
          <p:nvPr/>
        </p:nvSpPr>
        <p:spPr>
          <a:xfrm>
            <a:off x="3474720" y="3218688"/>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Fiber carrier coverage by census block</a:t>
            </a:r>
            <a:endParaRPr lang="en-US" sz="1000" dirty="0"/>
          </a:p>
        </p:txBody>
      </p:sp>
      <p:sp>
        <p:nvSpPr>
          <p:cNvPr id="33" name="Shape 31"/>
          <p:cNvSpPr/>
          <p:nvPr/>
        </p:nvSpPr>
        <p:spPr>
          <a:xfrm>
            <a:off x="3364992" y="3621024"/>
            <a:ext cx="2743200" cy="658368"/>
          </a:xfrm>
          <a:prstGeom prst="rect">
            <a:avLst/>
          </a:prstGeom>
          <a:solidFill>
            <a:srgbClr val="F8FAFC"/>
          </a:solidFill>
          <a:ln/>
        </p:spPr>
      </p:sp>
      <p:sp>
        <p:nvSpPr>
          <p:cNvPr id="34" name="Text 32"/>
          <p:cNvSpPr/>
          <p:nvPr/>
        </p:nvSpPr>
        <p:spPr>
          <a:xfrm>
            <a:off x="3474720" y="3694176"/>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FEMA NFHL</a:t>
            </a:r>
            <a:endParaRPr lang="en-US" sz="1200" dirty="0"/>
          </a:p>
        </p:txBody>
      </p:sp>
      <p:sp>
        <p:nvSpPr>
          <p:cNvPr id="35" name="Text 33"/>
          <p:cNvSpPr/>
          <p:nvPr/>
        </p:nvSpPr>
        <p:spPr>
          <a:xfrm>
            <a:off x="3474720" y="3931920"/>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Flood zone designations by parcel</a:t>
            </a:r>
            <a:endParaRPr lang="en-US" sz="1000" dirty="0"/>
          </a:p>
        </p:txBody>
      </p:sp>
      <p:sp>
        <p:nvSpPr>
          <p:cNvPr id="36" name="Shape 34"/>
          <p:cNvSpPr/>
          <p:nvPr/>
        </p:nvSpPr>
        <p:spPr>
          <a:xfrm>
            <a:off x="3364992" y="4334256"/>
            <a:ext cx="2743200" cy="658368"/>
          </a:xfrm>
          <a:prstGeom prst="rect">
            <a:avLst/>
          </a:prstGeom>
          <a:solidFill>
            <a:srgbClr val="FFFFFF"/>
          </a:solidFill>
          <a:ln/>
        </p:spPr>
      </p:sp>
      <p:sp>
        <p:nvSpPr>
          <p:cNvPr id="37" name="Text 35"/>
          <p:cNvSpPr/>
          <p:nvPr/>
        </p:nvSpPr>
        <p:spPr>
          <a:xfrm>
            <a:off x="3474720" y="4407408"/>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Mapbox Geocoding</a:t>
            </a:r>
            <a:endParaRPr lang="en-US" sz="1200" dirty="0"/>
          </a:p>
        </p:txBody>
      </p:sp>
      <p:sp>
        <p:nvSpPr>
          <p:cNvPr id="38" name="Text 36"/>
          <p:cNvSpPr/>
          <p:nvPr/>
        </p:nvSpPr>
        <p:spPr>
          <a:xfrm>
            <a:off x="3474720" y="4645152"/>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Address search and place-based navigation</a:t>
            </a:r>
            <a:endParaRPr lang="en-US" sz="1000" dirty="0"/>
          </a:p>
        </p:txBody>
      </p:sp>
      <p:sp>
        <p:nvSpPr>
          <p:cNvPr id="39" name="Shape 37"/>
          <p:cNvSpPr/>
          <p:nvPr/>
        </p:nvSpPr>
        <p:spPr>
          <a:xfrm>
            <a:off x="6272784" y="1097280"/>
            <a:ext cx="2743200" cy="347472"/>
          </a:xfrm>
          <a:prstGeom prst="rect">
            <a:avLst/>
          </a:prstGeom>
          <a:solidFill>
            <a:srgbClr val="EA580C"/>
          </a:solidFill>
          <a:ln/>
        </p:spPr>
      </p:sp>
      <p:sp>
        <p:nvSpPr>
          <p:cNvPr id="40" name="Text 38"/>
          <p:cNvSpPr/>
          <p:nvPr/>
        </p:nvSpPr>
        <p:spPr>
          <a:xfrm>
            <a:off x="6272784" y="1097280"/>
            <a:ext cx="27432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&amp; Backend</a:t>
            </a:r>
            <a:endParaRPr lang="en-US" sz="1200" dirty="0"/>
          </a:p>
        </p:txBody>
      </p:sp>
      <p:sp>
        <p:nvSpPr>
          <p:cNvPr id="41" name="Shape 39"/>
          <p:cNvSpPr/>
          <p:nvPr/>
        </p:nvSpPr>
        <p:spPr>
          <a:xfrm>
            <a:off x="6272784" y="1481328"/>
            <a:ext cx="2743200" cy="658368"/>
          </a:xfrm>
          <a:prstGeom prst="rect">
            <a:avLst/>
          </a:prstGeom>
          <a:solidFill>
            <a:srgbClr val="FFFFFF"/>
          </a:solidFill>
          <a:ln/>
        </p:spPr>
      </p:sp>
      <p:sp>
        <p:nvSpPr>
          <p:cNvPr id="42" name="Text 40"/>
          <p:cNvSpPr/>
          <p:nvPr/>
        </p:nvSpPr>
        <p:spPr>
          <a:xfrm>
            <a:off x="6382512" y="1554480"/>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Anthropic Claude</a:t>
            </a:r>
            <a:endParaRPr lang="en-US" sz="1200" dirty="0"/>
          </a:p>
        </p:txBody>
      </p:sp>
      <p:sp>
        <p:nvSpPr>
          <p:cNvPr id="43" name="Text 41"/>
          <p:cNvSpPr/>
          <p:nvPr/>
        </p:nvSpPr>
        <p:spPr>
          <a:xfrm>
            <a:off x="6382512" y="1792224"/>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Haiku (parsing) + Sonnet (analysis, streaming)</a:t>
            </a:r>
            <a:endParaRPr lang="en-US" sz="1000" dirty="0"/>
          </a:p>
        </p:txBody>
      </p:sp>
      <p:sp>
        <p:nvSpPr>
          <p:cNvPr id="44" name="Shape 42"/>
          <p:cNvSpPr/>
          <p:nvPr/>
        </p:nvSpPr>
        <p:spPr>
          <a:xfrm>
            <a:off x="6272784" y="2194560"/>
            <a:ext cx="2743200" cy="658368"/>
          </a:xfrm>
          <a:prstGeom prst="rect">
            <a:avLst/>
          </a:prstGeom>
          <a:solidFill>
            <a:srgbClr val="F8FAFC"/>
          </a:solidFill>
          <a:ln/>
        </p:spPr>
      </p:sp>
      <p:sp>
        <p:nvSpPr>
          <p:cNvPr id="45" name="Text 43"/>
          <p:cNvSpPr/>
          <p:nvPr/>
        </p:nvSpPr>
        <p:spPr>
          <a:xfrm>
            <a:off x="6382512" y="2267712"/>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Supabase</a:t>
            </a:r>
            <a:endParaRPr lang="en-US" sz="1200" dirty="0"/>
          </a:p>
        </p:txBody>
      </p:sp>
      <p:sp>
        <p:nvSpPr>
          <p:cNvPr id="46" name="Text 44"/>
          <p:cNvSpPr/>
          <p:nvPr/>
        </p:nvSpPr>
        <p:spPr>
          <a:xfrm>
            <a:off x="6382512" y="2505456"/>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PostgreSQL + PostGIS + RLS policies ready</a:t>
            </a:r>
            <a:endParaRPr lang="en-US" sz="1000" dirty="0"/>
          </a:p>
        </p:txBody>
      </p:sp>
      <p:sp>
        <p:nvSpPr>
          <p:cNvPr id="47" name="Shape 45"/>
          <p:cNvSpPr/>
          <p:nvPr/>
        </p:nvSpPr>
        <p:spPr>
          <a:xfrm>
            <a:off x="6272784" y="2907792"/>
            <a:ext cx="2743200" cy="658368"/>
          </a:xfrm>
          <a:prstGeom prst="rect">
            <a:avLst/>
          </a:prstGeom>
          <a:solidFill>
            <a:srgbClr val="FFFFFF"/>
          </a:solidFill>
          <a:ln/>
        </p:spPr>
      </p:sp>
      <p:sp>
        <p:nvSpPr>
          <p:cNvPr id="48" name="Text 46"/>
          <p:cNvSpPr/>
          <p:nvPr/>
        </p:nvSpPr>
        <p:spPr>
          <a:xfrm>
            <a:off x="6382512" y="2980944"/>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Vercel</a:t>
            </a:r>
            <a:endParaRPr lang="en-US" sz="1200" dirty="0"/>
          </a:p>
        </p:txBody>
      </p:sp>
      <p:sp>
        <p:nvSpPr>
          <p:cNvPr id="49" name="Text 47"/>
          <p:cNvSpPr/>
          <p:nvPr/>
        </p:nvSpPr>
        <p:spPr>
          <a:xfrm>
            <a:off x="6382512" y="3218688"/>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Serverless deployment, API routes</a:t>
            </a:r>
            <a:endParaRPr lang="en-US" sz="1000" dirty="0"/>
          </a:p>
        </p:txBody>
      </p:sp>
      <p:sp>
        <p:nvSpPr>
          <p:cNvPr id="50" name="Shape 48"/>
          <p:cNvSpPr/>
          <p:nvPr/>
        </p:nvSpPr>
        <p:spPr>
          <a:xfrm>
            <a:off x="6272784" y="3621024"/>
            <a:ext cx="2743200" cy="658368"/>
          </a:xfrm>
          <a:prstGeom prst="rect">
            <a:avLst/>
          </a:prstGeom>
          <a:solidFill>
            <a:srgbClr val="F8FAFC"/>
          </a:solidFill>
          <a:ln/>
        </p:spPr>
      </p:sp>
      <p:sp>
        <p:nvSpPr>
          <p:cNvPr id="51" name="Text 49"/>
          <p:cNvSpPr/>
          <p:nvPr/>
        </p:nvSpPr>
        <p:spPr>
          <a:xfrm>
            <a:off x="6382512" y="3694176"/>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SSE Streaming</a:t>
            </a:r>
            <a:endParaRPr lang="en-US" sz="1200" dirty="0"/>
          </a:p>
        </p:txBody>
      </p:sp>
      <p:sp>
        <p:nvSpPr>
          <p:cNvPr id="52" name="Text 50"/>
          <p:cNvSpPr/>
          <p:nvPr/>
        </p:nvSpPr>
        <p:spPr>
          <a:xfrm>
            <a:off x="6382512" y="3931920"/>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All AI responses stream token-by-token</a:t>
            </a:r>
            <a:endParaRPr lang="en-US" sz="1000" dirty="0"/>
          </a:p>
        </p:txBody>
      </p:sp>
      <p:sp>
        <p:nvSpPr>
          <p:cNvPr id="53" name="Shape 51"/>
          <p:cNvSpPr/>
          <p:nvPr/>
        </p:nvSpPr>
        <p:spPr>
          <a:xfrm>
            <a:off x="6272784" y="4334256"/>
            <a:ext cx="2743200" cy="658368"/>
          </a:xfrm>
          <a:prstGeom prst="rect">
            <a:avLst/>
          </a:prstGeom>
          <a:solidFill>
            <a:srgbClr val="FFFFFF"/>
          </a:solidFill>
          <a:ln/>
        </p:spPr>
      </p:sp>
      <p:sp>
        <p:nvSpPr>
          <p:cNvPr id="54" name="Text 52"/>
          <p:cNvSpPr/>
          <p:nvPr/>
        </p:nvSpPr>
        <p:spPr>
          <a:xfrm>
            <a:off x="6382512" y="4407408"/>
            <a:ext cx="2523744"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~$0.015/brief</a:t>
            </a:r>
            <a:endParaRPr lang="en-US" sz="1200" dirty="0"/>
          </a:p>
        </p:txBody>
      </p:sp>
      <p:sp>
        <p:nvSpPr>
          <p:cNvPr id="55" name="Text 53"/>
          <p:cNvSpPr/>
          <p:nvPr/>
        </p:nvSpPr>
        <p:spPr>
          <a:xfrm>
            <a:off x="6382512" y="4645152"/>
            <a:ext cx="2523744"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Estimated API cost per AI output generated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D9488"/>
          </a:solidFill>
          <a:ln/>
        </p:spPr>
      </p:sp>
      <p:sp>
        <p:nvSpPr>
          <p:cNvPr id="3" name="Text 1"/>
          <p:cNvSpPr/>
          <p:nvPr/>
        </p:nvSpPr>
        <p:spPr>
          <a:xfrm>
            <a:off x="457200" y="548640"/>
            <a:ext cx="8229600" cy="658368"/>
          </a:xfrm>
          <a:prstGeom prst="rect">
            <a:avLst/>
          </a:prstGeom>
          <a:noFill/>
          <a:ln/>
        </p:spPr>
        <p:txBody>
          <a:bodyPr wrap="square" lIns="0" tIns="0" rIns="0" bIns="0" rtlCol="0" anchor="ctr"/>
          <a:lstStyle/>
          <a:p>
            <a:pPr indent="0" marL="0">
              <a:buNone/>
            </a:pPr>
            <a:r>
              <a:rPr lang="en-US" sz="3600" b="1" dirty="0">
                <a:solidFill>
                  <a:srgbClr val="F1F5F9"/>
                </a:solidFill>
                <a:latin typeface="Georgia" pitchFamily="34" charset="0"/>
                <a:ea typeface="Georgia" pitchFamily="34" charset="-122"/>
                <a:cs typeface="Georgia" pitchFamily="34" charset="-120"/>
              </a:rPr>
              <a:t>What Happens Next</a:t>
            </a:r>
            <a:endParaRPr lang="en-US" sz="3600" dirty="0"/>
          </a:p>
        </p:txBody>
      </p:sp>
      <p:sp>
        <p:nvSpPr>
          <p:cNvPr id="4" name="Text 2"/>
          <p:cNvSpPr/>
          <p:nvPr/>
        </p:nvSpPr>
        <p:spPr>
          <a:xfrm>
            <a:off x="457200" y="1243584"/>
            <a:ext cx="8229600" cy="329184"/>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Two decisions. Both are straightforward.</a:t>
            </a:r>
            <a:endParaRPr lang="en-US" sz="1600" dirty="0"/>
          </a:p>
        </p:txBody>
      </p:sp>
      <p:sp>
        <p:nvSpPr>
          <p:cNvPr id="5" name="Shape 3"/>
          <p:cNvSpPr/>
          <p:nvPr/>
        </p:nvSpPr>
        <p:spPr>
          <a:xfrm>
            <a:off x="457200" y="1828800"/>
            <a:ext cx="4206240" cy="2633472"/>
          </a:xfrm>
          <a:prstGeom prst="rect">
            <a:avLst/>
          </a:prstGeom>
          <a:solidFill>
            <a:srgbClr val="1E293B"/>
          </a:solidFill>
          <a:ln/>
          <a:effectLst>
            <a:outerShdw sx="100000" sy="100000" kx="0" ky="0" algn="bl" rotWithShape="0" blurRad="177800" dist="38100" dir="8100000">
              <a:srgbClr val="000000">
                <a:alpha val="20000"/>
              </a:srgbClr>
            </a:outerShdw>
          </a:effectLst>
        </p:spPr>
      </p:sp>
      <p:sp>
        <p:nvSpPr>
          <p:cNvPr id="6" name="Shape 4"/>
          <p:cNvSpPr/>
          <p:nvPr/>
        </p:nvSpPr>
        <p:spPr>
          <a:xfrm>
            <a:off x="457200" y="1828800"/>
            <a:ext cx="4206240" cy="73152"/>
          </a:xfrm>
          <a:prstGeom prst="rect">
            <a:avLst/>
          </a:prstGeom>
          <a:solidFill>
            <a:srgbClr val="0D9488"/>
          </a:solidFill>
          <a:ln/>
        </p:spPr>
      </p:sp>
      <p:sp>
        <p:nvSpPr>
          <p:cNvPr id="7" name="Text 5"/>
          <p:cNvSpPr/>
          <p:nvPr/>
        </p:nvSpPr>
        <p:spPr>
          <a:xfrm>
            <a:off x="621792" y="1956816"/>
            <a:ext cx="3877056" cy="201168"/>
          </a:xfrm>
          <a:prstGeom prst="rect">
            <a:avLst/>
          </a:prstGeom>
          <a:noFill/>
          <a:ln/>
        </p:spPr>
        <p:txBody>
          <a:bodyPr wrap="square" lIns="0" tIns="0" rIns="0" bIns="0" rtlCol="0" anchor="ctr"/>
          <a:lstStyle/>
          <a:p>
            <a:pPr indent="0" marL="0">
              <a:buNone/>
            </a:pPr>
            <a:r>
              <a:rPr lang="en-US" sz="950" b="1" spc="200" kern="0" dirty="0">
                <a:solidFill>
                  <a:srgbClr val="0D9488"/>
                </a:solidFill>
                <a:latin typeface="Calibri" pitchFamily="34" charset="0"/>
                <a:ea typeface="Calibri" pitchFamily="34" charset="-122"/>
                <a:cs typeface="Calibri" pitchFamily="34" charset="-120"/>
              </a:rPr>
              <a:t>DECISION 1</a:t>
            </a:r>
            <a:endParaRPr lang="en-US" sz="950" dirty="0"/>
          </a:p>
        </p:txBody>
      </p:sp>
      <p:sp>
        <p:nvSpPr>
          <p:cNvPr id="8" name="Text 6"/>
          <p:cNvSpPr/>
          <p:nvPr/>
        </p:nvSpPr>
        <p:spPr>
          <a:xfrm>
            <a:off x="621792" y="2176272"/>
            <a:ext cx="3877056" cy="420624"/>
          </a:xfrm>
          <a:prstGeom prst="rect">
            <a:avLst/>
          </a:prstGeom>
          <a:noFill/>
          <a:ln/>
        </p:spPr>
        <p:txBody>
          <a:bodyPr wrap="square" lIns="0" tIns="0" rIns="0" bIns="0" rtlCol="0" anchor="ctr"/>
          <a:lstStyle/>
          <a:p>
            <a:pPr indent="0" marL="0">
              <a:buNone/>
            </a:pPr>
            <a:r>
              <a:rPr lang="en-US" sz="1800" b="1" dirty="0">
                <a:solidFill>
                  <a:srgbClr val="F1F5F9"/>
                </a:solidFill>
                <a:latin typeface="Georgia" pitchFamily="34" charset="0"/>
                <a:ea typeface="Georgia" pitchFamily="34" charset="-122"/>
                <a:cs typeface="Georgia" pitchFamily="34" charset="-120"/>
              </a:rPr>
              <a:t>Schedule the Live Demo</a:t>
            </a:r>
            <a:endParaRPr lang="en-US" sz="1800" dirty="0"/>
          </a:p>
        </p:txBody>
      </p:sp>
      <p:sp>
        <p:nvSpPr>
          <p:cNvPr id="9" name="Text 7"/>
          <p:cNvSpPr/>
          <p:nvPr/>
        </p:nvSpPr>
        <p:spPr>
          <a:xfrm>
            <a:off x="621792" y="2633472"/>
            <a:ext cx="3877056" cy="804672"/>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15-20 minutes. Browser, parcel map, AI features. Let your team interact with real Gwinnett County data. We navigate to parcels you know.</a:t>
            </a:r>
            <a:endParaRPr lang="en-US" sz="1150" dirty="0"/>
          </a:p>
        </p:txBody>
      </p:sp>
      <p:sp>
        <p:nvSpPr>
          <p:cNvPr id="10" name="Shape 8"/>
          <p:cNvSpPr/>
          <p:nvPr/>
        </p:nvSpPr>
        <p:spPr>
          <a:xfrm>
            <a:off x="621792" y="3474720"/>
            <a:ext cx="3877056" cy="18288"/>
          </a:xfrm>
          <a:prstGeom prst="rect">
            <a:avLst/>
          </a:prstGeom>
          <a:solidFill>
            <a:srgbClr val="0D9488">
              <a:alpha val="50000"/>
            </a:srgbClr>
          </a:solidFill>
          <a:ln/>
        </p:spPr>
      </p:sp>
      <p:sp>
        <p:nvSpPr>
          <p:cNvPr id="11" name="Text 9"/>
          <p:cNvSpPr/>
          <p:nvPr/>
        </p:nvSpPr>
        <p:spPr>
          <a:xfrm>
            <a:off x="621792" y="3529584"/>
            <a:ext cx="3877056" cy="804672"/>
          </a:xfrm>
          <a:prstGeom prst="rect">
            <a:avLst/>
          </a:prstGeom>
          <a:noFill/>
          <a:ln/>
        </p:spPr>
        <p:txBody>
          <a:bodyPr wrap="square" lIns="0" tIns="0" rIns="0" bIns="0" rtlCol="0" anchor="t"/>
          <a:lstStyle/>
          <a:p>
            <a:pPr indent="0" marL="0">
              <a:buNone/>
            </a:pPr>
            <a:r>
              <a:rPr lang="en-US" sz="1200" b="1" dirty="0">
                <a:solidFill>
                  <a:srgbClr val="0D9488"/>
                </a:solidFill>
                <a:latin typeface="Calibri" pitchFamily="34" charset="0"/>
                <a:ea typeface="Calibri" pitchFamily="34" charset="-122"/>
                <a:cs typeface="Calibri" pitchFamily="34" charset="-120"/>
              </a:rPr>
              <a:t>→ Schedule a 20-minute session with the full team present.</a:t>
            </a:r>
            <a:endParaRPr lang="en-US" sz="1200" dirty="0"/>
          </a:p>
        </p:txBody>
      </p:sp>
      <p:sp>
        <p:nvSpPr>
          <p:cNvPr id="12" name="Shape 10"/>
          <p:cNvSpPr/>
          <p:nvPr/>
        </p:nvSpPr>
        <p:spPr>
          <a:xfrm>
            <a:off x="5029200" y="1828800"/>
            <a:ext cx="4206240" cy="2633472"/>
          </a:xfrm>
          <a:prstGeom prst="rect">
            <a:avLst/>
          </a:prstGeom>
          <a:solidFill>
            <a:srgbClr val="1E293B"/>
          </a:solidFill>
          <a:ln/>
          <a:effectLst>
            <a:outerShdw sx="100000" sy="100000" kx="0" ky="0" algn="bl" rotWithShape="0" blurRad="177800" dist="38100" dir="8100000">
              <a:srgbClr val="000000">
                <a:alpha val="20000"/>
              </a:srgbClr>
            </a:outerShdw>
          </a:effectLst>
        </p:spPr>
      </p:sp>
      <p:sp>
        <p:nvSpPr>
          <p:cNvPr id="13" name="Shape 11"/>
          <p:cNvSpPr/>
          <p:nvPr/>
        </p:nvSpPr>
        <p:spPr>
          <a:xfrm>
            <a:off x="5029200" y="1828800"/>
            <a:ext cx="4206240" cy="73152"/>
          </a:xfrm>
          <a:prstGeom prst="rect">
            <a:avLst/>
          </a:prstGeom>
          <a:solidFill>
            <a:srgbClr val="EA580C"/>
          </a:solidFill>
          <a:ln/>
        </p:spPr>
      </p:sp>
      <p:sp>
        <p:nvSpPr>
          <p:cNvPr id="14" name="Text 12"/>
          <p:cNvSpPr/>
          <p:nvPr/>
        </p:nvSpPr>
        <p:spPr>
          <a:xfrm>
            <a:off x="5193792" y="1956816"/>
            <a:ext cx="3877056" cy="201168"/>
          </a:xfrm>
          <a:prstGeom prst="rect">
            <a:avLst/>
          </a:prstGeom>
          <a:noFill/>
          <a:ln/>
        </p:spPr>
        <p:txBody>
          <a:bodyPr wrap="square" lIns="0" tIns="0" rIns="0" bIns="0" rtlCol="0" anchor="ctr"/>
          <a:lstStyle/>
          <a:p>
            <a:pPr indent="0" marL="0">
              <a:buNone/>
            </a:pPr>
            <a:r>
              <a:rPr lang="en-US" sz="950" b="1" spc="200" kern="0" dirty="0">
                <a:solidFill>
                  <a:srgbClr val="EA580C"/>
                </a:solidFill>
                <a:latin typeface="Calibri" pitchFamily="34" charset="0"/>
                <a:ea typeface="Calibri" pitchFamily="34" charset="-122"/>
                <a:cs typeface="Calibri" pitchFamily="34" charset="-120"/>
              </a:rPr>
              <a:t>DECISION 2</a:t>
            </a:r>
            <a:endParaRPr lang="en-US" sz="950" dirty="0"/>
          </a:p>
        </p:txBody>
      </p:sp>
      <p:sp>
        <p:nvSpPr>
          <p:cNvPr id="15" name="Text 13"/>
          <p:cNvSpPr/>
          <p:nvPr/>
        </p:nvSpPr>
        <p:spPr>
          <a:xfrm>
            <a:off x="5193792" y="2176272"/>
            <a:ext cx="3877056" cy="420624"/>
          </a:xfrm>
          <a:prstGeom prst="rect">
            <a:avLst/>
          </a:prstGeom>
          <a:noFill/>
          <a:ln/>
        </p:spPr>
        <p:txBody>
          <a:bodyPr wrap="square" lIns="0" tIns="0" rIns="0" bIns="0" rtlCol="0" anchor="ctr"/>
          <a:lstStyle/>
          <a:p>
            <a:pPr indent="0" marL="0">
              <a:buNone/>
            </a:pPr>
            <a:r>
              <a:rPr lang="en-US" sz="1800" b="1" dirty="0">
                <a:solidFill>
                  <a:srgbClr val="F1F5F9"/>
                </a:solidFill>
                <a:latin typeface="Georgia" pitchFamily="34" charset="0"/>
                <a:ea typeface="Georgia" pitchFamily="34" charset="-122"/>
                <a:cs typeface="Georgia" pitchFamily="34" charset="-120"/>
              </a:rPr>
              <a:t>Begin Deployment</a:t>
            </a:r>
            <a:endParaRPr lang="en-US" sz="1800" dirty="0"/>
          </a:p>
        </p:txBody>
      </p:sp>
      <p:sp>
        <p:nvSpPr>
          <p:cNvPr id="16" name="Text 14"/>
          <p:cNvSpPr/>
          <p:nvPr/>
        </p:nvSpPr>
        <p:spPr>
          <a:xfrm>
            <a:off x="5193792" y="2633472"/>
            <a:ext cx="3877056" cy="804672"/>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2-3 weeks to production. Supabase auth, Vercel deployment, custom domain. Your team has real accounts and saved collections from day one.</a:t>
            </a:r>
            <a:endParaRPr lang="en-US" sz="1150" dirty="0"/>
          </a:p>
        </p:txBody>
      </p:sp>
      <p:sp>
        <p:nvSpPr>
          <p:cNvPr id="17" name="Shape 15"/>
          <p:cNvSpPr/>
          <p:nvPr/>
        </p:nvSpPr>
        <p:spPr>
          <a:xfrm>
            <a:off x="5193792" y="3474720"/>
            <a:ext cx="3877056" cy="18288"/>
          </a:xfrm>
          <a:prstGeom prst="rect">
            <a:avLst/>
          </a:prstGeom>
          <a:solidFill>
            <a:srgbClr val="EA580C">
              <a:alpha val="50000"/>
            </a:srgbClr>
          </a:solidFill>
          <a:ln/>
        </p:spPr>
      </p:sp>
      <p:sp>
        <p:nvSpPr>
          <p:cNvPr id="18" name="Text 16"/>
          <p:cNvSpPr/>
          <p:nvPr/>
        </p:nvSpPr>
        <p:spPr>
          <a:xfrm>
            <a:off x="5193792" y="3529584"/>
            <a:ext cx="3877056" cy="804672"/>
          </a:xfrm>
          <a:prstGeom prst="rect">
            <a:avLst/>
          </a:prstGeom>
          <a:noFill/>
          <a:ln/>
        </p:spPr>
        <p:txBody>
          <a:bodyPr wrap="square" lIns="0" tIns="0" rIns="0" bIns="0" rtlCol="0" anchor="t"/>
          <a:lstStyle/>
          <a:p>
            <a:pPr indent="0" marL="0">
              <a:buNone/>
            </a:pPr>
            <a:r>
              <a:rPr lang="en-US" sz="1200" b="1" dirty="0">
                <a:solidFill>
                  <a:srgbClr val="EA580C"/>
                </a:solidFill>
                <a:latin typeface="Calibri" pitchFamily="34" charset="0"/>
                <a:ea typeface="Calibri" pitchFamily="34" charset="-122"/>
                <a:cs typeface="Calibri" pitchFamily="34" charset="-120"/>
              </a:rPr>
              <a:t>→ Green-light the deployment sprint. Platform live for your team in 3 weeks.</a:t>
            </a:r>
            <a:endParaRPr lang="en-US" sz="1200" dirty="0"/>
          </a:p>
        </p:txBody>
      </p:sp>
      <p:sp>
        <p:nvSpPr>
          <p:cNvPr id="19" name="Text 17"/>
          <p:cNvSpPr/>
          <p:nvPr/>
        </p:nvSpPr>
        <p:spPr>
          <a:xfrm>
            <a:off x="457200" y="4828032"/>
            <a:ext cx="8229600" cy="201168"/>
          </a:xfrm>
          <a:prstGeom prst="rect">
            <a:avLst/>
          </a:prstGeom>
          <a:noFill/>
          <a:ln/>
        </p:spPr>
        <p:txBody>
          <a:bodyPr wrap="square" lIns="0" tIns="0" rIns="0" bIns="0" rtlCol="0" anchor="ctr"/>
          <a:lstStyle/>
          <a:p>
            <a:pPr algn="ctr" indent="0" marL="0">
              <a:buNone/>
            </a:pPr>
            <a:r>
              <a:rPr lang="en-US" sz="900" spc="100" kern="0" dirty="0">
                <a:solidFill>
                  <a:srgbClr val="94A3B8"/>
                </a:solidFill>
                <a:latin typeface="Calibri" pitchFamily="34" charset="0"/>
                <a:ea typeface="Calibri" pitchFamily="34" charset="-122"/>
                <a:cs typeface="Calibri" pitchFamily="34" charset="-120"/>
              </a:rPr>
              <a:t>POCKET DEVELOPER  ·  Parcel Intelligence Platform  ·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Pocket Developer — DeThomas Pitch</dc:title>
  <dc:subject>PptxGenJS Presentation</dc:subject>
  <dc:creator>Pocket Developer</dc:creator>
  <cp:lastModifiedBy>Pocket Developer</cp:lastModifiedBy>
  <cp:revision>1</cp:revision>
  <dcterms:created xsi:type="dcterms:W3CDTF">2026-02-22T18:06:17Z</dcterms:created>
  <dcterms:modified xsi:type="dcterms:W3CDTF">2026-02-22T18:06:17Z</dcterms:modified>
</cp:coreProperties>
</file>